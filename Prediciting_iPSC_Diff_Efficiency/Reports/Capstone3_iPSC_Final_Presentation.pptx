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314" r:id="rId3"/>
    <p:sldId id="313" r:id="rId4"/>
    <p:sldId id="315" r:id="rId5"/>
    <p:sldId id="290" r:id="rId6"/>
    <p:sldId id="289" r:id="rId7"/>
    <p:sldId id="287" r:id="rId8"/>
    <p:sldId id="291" r:id="rId9"/>
    <p:sldId id="292" r:id="rId10"/>
    <p:sldId id="295" r:id="rId11"/>
    <p:sldId id="293" r:id="rId12"/>
    <p:sldId id="296" r:id="rId13"/>
    <p:sldId id="298" r:id="rId14"/>
    <p:sldId id="297" r:id="rId15"/>
    <p:sldId id="294" r:id="rId16"/>
    <p:sldId id="282" r:id="rId17"/>
    <p:sldId id="300" r:id="rId18"/>
    <p:sldId id="301" r:id="rId19"/>
    <p:sldId id="303" r:id="rId20"/>
    <p:sldId id="302" r:id="rId21"/>
    <p:sldId id="304" r:id="rId22"/>
    <p:sldId id="305" r:id="rId23"/>
    <p:sldId id="307" r:id="rId24"/>
    <p:sldId id="308" r:id="rId25"/>
    <p:sldId id="309" r:id="rId26"/>
    <p:sldId id="310" r:id="rId27"/>
    <p:sldId id="299" r:id="rId28"/>
    <p:sldId id="311" r:id="rId29"/>
    <p:sldId id="317" r:id="rId30"/>
    <p:sldId id="31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D5C5"/>
    <a:srgbClr val="BBDF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FE796B-FA3E-4197-871E-1443963690D7}" v="1" dt="2026-04-06T21:20:27.374"/>
    <p1510:client id="{F8D0277F-5E06-41A2-9F83-505902FA0744}" v="2895" dt="2026-04-06T19:05:00.2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63" autoAdjust="0"/>
  </p:normalViewPr>
  <p:slideViewPr>
    <p:cSldViewPr snapToGrid="0">
      <p:cViewPr varScale="1">
        <p:scale>
          <a:sx n="98" d="100"/>
          <a:sy n="98" d="100"/>
        </p:scale>
        <p:origin x="107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on Svoboda" userId="e411a559af336678" providerId="LiveId" clId="{13EA51CC-6034-40EF-A544-85B1E969A3CE}"/>
    <pc:docChg chg="addSld delSld modSld">
      <pc:chgData name="Devon Svoboda" userId="e411a559af336678" providerId="LiveId" clId="{13EA51CC-6034-40EF-A544-85B1E969A3CE}" dt="2026-04-06T21:20:31.859" v="13" actId="20577"/>
      <pc:docMkLst>
        <pc:docMk/>
      </pc:docMkLst>
      <pc:sldChg chg="del">
        <pc:chgData name="Devon Svoboda" userId="e411a559af336678" providerId="LiveId" clId="{13EA51CC-6034-40EF-A544-85B1E969A3CE}" dt="2026-04-06T21:20:16.318" v="0" actId="47"/>
        <pc:sldMkLst>
          <pc:docMk/>
          <pc:sldMk cId="2397673423" sldId="269"/>
        </pc:sldMkLst>
      </pc:sldChg>
      <pc:sldChg chg="modSp add mod">
        <pc:chgData name="Devon Svoboda" userId="e411a559af336678" providerId="LiveId" clId="{13EA51CC-6034-40EF-A544-85B1E969A3CE}" dt="2026-04-06T21:20:31.859" v="13" actId="20577"/>
        <pc:sldMkLst>
          <pc:docMk/>
          <pc:sldMk cId="3511448987" sldId="317"/>
        </pc:sldMkLst>
        <pc:spChg chg="mod">
          <ac:chgData name="Devon Svoboda" userId="e411a559af336678" providerId="LiveId" clId="{13EA51CC-6034-40EF-A544-85B1E969A3CE}" dt="2026-04-06T21:20:31.859" v="13" actId="20577"/>
          <ac:spMkLst>
            <pc:docMk/>
            <pc:sldMk cId="3511448987" sldId="317"/>
            <ac:spMk id="4" creationId="{C96D9A5C-45D1-F81A-AAD8-E5D62AB34857}"/>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9D2F9B3-4BEF-4A31-9981-FBDB932D4727}"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47A1C67-324A-42F4-964E-0239CE7396F0}">
      <dgm:prSet/>
      <dgm:spPr/>
      <dgm:t>
        <a:bodyPr/>
        <a:lstStyle/>
        <a:p>
          <a:pPr>
            <a:defRPr cap="all"/>
          </a:pPr>
          <a:r>
            <a:rPr lang="en-US"/>
            <a:t>Data Wrangling</a:t>
          </a:r>
        </a:p>
      </dgm:t>
    </dgm:pt>
    <dgm:pt modelId="{15FDC97C-81A0-4815-8464-3A59F6E21E62}" type="parTrans" cxnId="{B212B07F-B59D-435E-8AA4-A3C8DC5C084F}">
      <dgm:prSet/>
      <dgm:spPr/>
      <dgm:t>
        <a:bodyPr/>
        <a:lstStyle/>
        <a:p>
          <a:endParaRPr lang="en-US" sz="2800"/>
        </a:p>
      </dgm:t>
    </dgm:pt>
    <dgm:pt modelId="{E9217A82-0496-4877-930B-7F3707D1968E}" type="sibTrans" cxnId="{B212B07F-B59D-435E-8AA4-A3C8DC5C084F}">
      <dgm:prSet/>
      <dgm:spPr/>
      <dgm:t>
        <a:bodyPr/>
        <a:lstStyle/>
        <a:p>
          <a:endParaRPr lang="en-US"/>
        </a:p>
      </dgm:t>
    </dgm:pt>
    <dgm:pt modelId="{5E4CC2B8-DD19-45F0-A534-C83355426438}">
      <dgm:prSet/>
      <dgm:spPr/>
      <dgm:t>
        <a:bodyPr/>
        <a:lstStyle/>
        <a:p>
          <a:pPr>
            <a:defRPr cap="all"/>
          </a:pPr>
          <a:r>
            <a:rPr lang="en-US" dirty="0"/>
            <a:t>Exploratory Data Analysis</a:t>
          </a:r>
        </a:p>
      </dgm:t>
    </dgm:pt>
    <dgm:pt modelId="{5A7631D8-277F-4546-8AC3-444F1C279A79}" type="parTrans" cxnId="{FF299AAF-D00A-441C-9EAD-7B3EE0C28895}">
      <dgm:prSet/>
      <dgm:spPr/>
      <dgm:t>
        <a:bodyPr/>
        <a:lstStyle/>
        <a:p>
          <a:endParaRPr lang="en-US" sz="2800"/>
        </a:p>
      </dgm:t>
    </dgm:pt>
    <dgm:pt modelId="{632DA675-EE4A-4325-A787-F8C760850EC4}" type="sibTrans" cxnId="{FF299AAF-D00A-441C-9EAD-7B3EE0C28895}">
      <dgm:prSet/>
      <dgm:spPr/>
      <dgm:t>
        <a:bodyPr/>
        <a:lstStyle/>
        <a:p>
          <a:endParaRPr lang="en-US"/>
        </a:p>
      </dgm:t>
    </dgm:pt>
    <dgm:pt modelId="{9EDD5CC4-54FA-4CF2-9CE0-389937D7CC7E}">
      <dgm:prSet/>
      <dgm:spPr/>
      <dgm:t>
        <a:bodyPr/>
        <a:lstStyle/>
        <a:p>
          <a:pPr>
            <a:defRPr cap="all"/>
          </a:pPr>
          <a:r>
            <a:rPr lang="en-US"/>
            <a:t>Data Preprocessing</a:t>
          </a:r>
        </a:p>
      </dgm:t>
    </dgm:pt>
    <dgm:pt modelId="{7DCF22E3-4DB6-4890-A4AD-883610014F1F}" type="parTrans" cxnId="{1ED445FB-C4D2-4150-8035-4400794D802D}">
      <dgm:prSet/>
      <dgm:spPr/>
      <dgm:t>
        <a:bodyPr/>
        <a:lstStyle/>
        <a:p>
          <a:endParaRPr lang="en-US" sz="2800"/>
        </a:p>
      </dgm:t>
    </dgm:pt>
    <dgm:pt modelId="{258BAAEB-6C8C-4E2F-B5AF-F88A4374E235}" type="sibTrans" cxnId="{1ED445FB-C4D2-4150-8035-4400794D802D}">
      <dgm:prSet/>
      <dgm:spPr/>
      <dgm:t>
        <a:bodyPr/>
        <a:lstStyle/>
        <a:p>
          <a:endParaRPr lang="en-US"/>
        </a:p>
      </dgm:t>
    </dgm:pt>
    <dgm:pt modelId="{DFF52565-51BD-44D9-BB7E-8DD188DC487D}">
      <dgm:prSet/>
      <dgm:spPr/>
      <dgm:t>
        <a:bodyPr/>
        <a:lstStyle/>
        <a:p>
          <a:pPr>
            <a:defRPr cap="all"/>
          </a:pPr>
          <a:r>
            <a:rPr lang="en-US"/>
            <a:t>Dimension Reduction</a:t>
          </a:r>
        </a:p>
      </dgm:t>
    </dgm:pt>
    <dgm:pt modelId="{34A5EB9F-CB59-418F-A929-98C52BB9B80A}" type="parTrans" cxnId="{44423EA3-49E7-4E15-9844-ECE7E32DBE27}">
      <dgm:prSet/>
      <dgm:spPr/>
      <dgm:t>
        <a:bodyPr/>
        <a:lstStyle/>
        <a:p>
          <a:endParaRPr lang="en-US" sz="2800"/>
        </a:p>
      </dgm:t>
    </dgm:pt>
    <dgm:pt modelId="{D81E56F3-F3AA-4325-8D42-271D8B865675}" type="sibTrans" cxnId="{44423EA3-49E7-4E15-9844-ECE7E32DBE27}">
      <dgm:prSet/>
      <dgm:spPr/>
      <dgm:t>
        <a:bodyPr/>
        <a:lstStyle/>
        <a:p>
          <a:endParaRPr lang="en-US"/>
        </a:p>
      </dgm:t>
    </dgm:pt>
    <dgm:pt modelId="{1F17CE6F-40E6-4F9F-A636-4E8E8C5B5A1F}">
      <dgm:prSet/>
      <dgm:spPr/>
      <dgm:t>
        <a:bodyPr/>
        <a:lstStyle/>
        <a:p>
          <a:pPr>
            <a:defRPr cap="all"/>
          </a:pPr>
          <a:r>
            <a:rPr lang="en-US"/>
            <a:t>Screening Learners</a:t>
          </a:r>
        </a:p>
      </dgm:t>
    </dgm:pt>
    <dgm:pt modelId="{7EEC3E8D-D754-4AB4-BB63-4397F21820A2}" type="parTrans" cxnId="{820115C9-B795-465F-835F-975FB38B999D}">
      <dgm:prSet/>
      <dgm:spPr/>
      <dgm:t>
        <a:bodyPr/>
        <a:lstStyle/>
        <a:p>
          <a:endParaRPr lang="en-US" sz="2800"/>
        </a:p>
      </dgm:t>
    </dgm:pt>
    <dgm:pt modelId="{89544384-022D-4952-9749-DFD131A5FCEE}" type="sibTrans" cxnId="{820115C9-B795-465F-835F-975FB38B999D}">
      <dgm:prSet/>
      <dgm:spPr/>
      <dgm:t>
        <a:bodyPr/>
        <a:lstStyle/>
        <a:p>
          <a:endParaRPr lang="en-US"/>
        </a:p>
      </dgm:t>
    </dgm:pt>
    <dgm:pt modelId="{A516CC1C-DD8A-4EF2-AE6E-3B2E803C96FC}">
      <dgm:prSet/>
      <dgm:spPr/>
      <dgm:t>
        <a:bodyPr/>
        <a:lstStyle/>
        <a:p>
          <a:pPr>
            <a:defRPr cap="all"/>
          </a:pPr>
          <a:r>
            <a:rPr lang="en-US"/>
            <a:t>Optimizing Feature Selection</a:t>
          </a:r>
        </a:p>
      </dgm:t>
    </dgm:pt>
    <dgm:pt modelId="{0B175422-2981-47D1-9B9A-4EBB2BF1F440}" type="parTrans" cxnId="{59982EDF-CEBF-4ED9-963A-9E7999D5641B}">
      <dgm:prSet/>
      <dgm:spPr/>
      <dgm:t>
        <a:bodyPr/>
        <a:lstStyle/>
        <a:p>
          <a:endParaRPr lang="en-US" sz="2800"/>
        </a:p>
      </dgm:t>
    </dgm:pt>
    <dgm:pt modelId="{3DDA2F5A-7F1E-4A50-B70D-93BA1BCD073B}" type="sibTrans" cxnId="{59982EDF-CEBF-4ED9-963A-9E7999D5641B}">
      <dgm:prSet/>
      <dgm:spPr/>
      <dgm:t>
        <a:bodyPr/>
        <a:lstStyle/>
        <a:p>
          <a:endParaRPr lang="en-US"/>
        </a:p>
      </dgm:t>
    </dgm:pt>
    <dgm:pt modelId="{6C3C902E-4B0F-4CFE-9EA5-FDF09D668096}">
      <dgm:prSet/>
      <dgm:spPr/>
      <dgm:t>
        <a:bodyPr/>
        <a:lstStyle/>
        <a:p>
          <a:pPr>
            <a:defRPr cap="all"/>
          </a:pPr>
          <a:r>
            <a:rPr lang="en-US" dirty="0"/>
            <a:t>Target Design</a:t>
          </a:r>
        </a:p>
      </dgm:t>
    </dgm:pt>
    <dgm:pt modelId="{1B2EC414-EA1F-4ED6-9B36-BEDD60DDB286}" type="parTrans" cxnId="{9FD5DD14-6390-4E13-84FA-65AF43DA1390}">
      <dgm:prSet/>
      <dgm:spPr/>
      <dgm:t>
        <a:bodyPr/>
        <a:lstStyle/>
        <a:p>
          <a:endParaRPr lang="en-US"/>
        </a:p>
      </dgm:t>
    </dgm:pt>
    <dgm:pt modelId="{BCE1CAC9-C668-420C-B533-D94A09C8981E}" type="sibTrans" cxnId="{9FD5DD14-6390-4E13-84FA-65AF43DA1390}">
      <dgm:prSet/>
      <dgm:spPr/>
      <dgm:t>
        <a:bodyPr/>
        <a:lstStyle/>
        <a:p>
          <a:endParaRPr lang="en-US"/>
        </a:p>
      </dgm:t>
    </dgm:pt>
    <dgm:pt modelId="{A1B1463A-518D-47DA-9886-98AFF3F8F3CA}" type="pres">
      <dgm:prSet presAssocID="{99D2F9B3-4BEF-4A31-9981-FBDB932D4727}" presName="linear" presStyleCnt="0">
        <dgm:presLayoutVars>
          <dgm:animLvl val="lvl"/>
          <dgm:resizeHandles val="exact"/>
        </dgm:presLayoutVars>
      </dgm:prSet>
      <dgm:spPr/>
    </dgm:pt>
    <dgm:pt modelId="{7AD2C93B-7769-4E5D-A933-0F182F23F50B}" type="pres">
      <dgm:prSet presAssocID="{A47A1C67-324A-42F4-964E-0239CE7396F0}" presName="parentText" presStyleLbl="node1" presStyleIdx="0" presStyleCnt="7">
        <dgm:presLayoutVars>
          <dgm:chMax val="0"/>
          <dgm:bulletEnabled val="1"/>
        </dgm:presLayoutVars>
      </dgm:prSet>
      <dgm:spPr/>
    </dgm:pt>
    <dgm:pt modelId="{E764F336-1FA1-41BB-A130-F74C21D02B85}" type="pres">
      <dgm:prSet presAssocID="{E9217A82-0496-4877-930B-7F3707D1968E}" presName="spacer" presStyleCnt="0"/>
      <dgm:spPr/>
    </dgm:pt>
    <dgm:pt modelId="{E8583ACB-7232-4564-A269-0DD464A51F65}" type="pres">
      <dgm:prSet presAssocID="{5E4CC2B8-DD19-45F0-A534-C83355426438}" presName="parentText" presStyleLbl="node1" presStyleIdx="1" presStyleCnt="7">
        <dgm:presLayoutVars>
          <dgm:chMax val="0"/>
          <dgm:bulletEnabled val="1"/>
        </dgm:presLayoutVars>
      </dgm:prSet>
      <dgm:spPr/>
    </dgm:pt>
    <dgm:pt modelId="{1979A5FA-8889-49BF-8966-0F7E0EC5D9FF}" type="pres">
      <dgm:prSet presAssocID="{632DA675-EE4A-4325-A787-F8C760850EC4}" presName="spacer" presStyleCnt="0"/>
      <dgm:spPr/>
    </dgm:pt>
    <dgm:pt modelId="{AA0012C3-3A1A-45D3-A742-AF33199967C3}" type="pres">
      <dgm:prSet presAssocID="{6C3C902E-4B0F-4CFE-9EA5-FDF09D668096}" presName="parentText" presStyleLbl="node1" presStyleIdx="2" presStyleCnt="7">
        <dgm:presLayoutVars>
          <dgm:chMax val="0"/>
          <dgm:bulletEnabled val="1"/>
        </dgm:presLayoutVars>
      </dgm:prSet>
      <dgm:spPr/>
    </dgm:pt>
    <dgm:pt modelId="{07A87E26-F69C-434A-ADAB-C2AFED07302E}" type="pres">
      <dgm:prSet presAssocID="{BCE1CAC9-C668-420C-B533-D94A09C8981E}" presName="spacer" presStyleCnt="0"/>
      <dgm:spPr/>
    </dgm:pt>
    <dgm:pt modelId="{7BB6230F-F1ED-47F2-90ED-D64E182D6CDC}" type="pres">
      <dgm:prSet presAssocID="{9EDD5CC4-54FA-4CF2-9CE0-389937D7CC7E}" presName="parentText" presStyleLbl="node1" presStyleIdx="3" presStyleCnt="7">
        <dgm:presLayoutVars>
          <dgm:chMax val="0"/>
          <dgm:bulletEnabled val="1"/>
        </dgm:presLayoutVars>
      </dgm:prSet>
      <dgm:spPr/>
    </dgm:pt>
    <dgm:pt modelId="{B644C94C-E214-4861-AAF2-C25FF0E738A1}" type="pres">
      <dgm:prSet presAssocID="{258BAAEB-6C8C-4E2F-B5AF-F88A4374E235}" presName="spacer" presStyleCnt="0"/>
      <dgm:spPr/>
    </dgm:pt>
    <dgm:pt modelId="{1055448A-8D9E-40B4-8614-94D8E452F345}" type="pres">
      <dgm:prSet presAssocID="{DFF52565-51BD-44D9-BB7E-8DD188DC487D}" presName="parentText" presStyleLbl="node1" presStyleIdx="4" presStyleCnt="7">
        <dgm:presLayoutVars>
          <dgm:chMax val="0"/>
          <dgm:bulletEnabled val="1"/>
        </dgm:presLayoutVars>
      </dgm:prSet>
      <dgm:spPr/>
    </dgm:pt>
    <dgm:pt modelId="{F188E621-0CF8-4A33-BB1A-FFD449580613}" type="pres">
      <dgm:prSet presAssocID="{D81E56F3-F3AA-4325-8D42-271D8B865675}" presName="spacer" presStyleCnt="0"/>
      <dgm:spPr/>
    </dgm:pt>
    <dgm:pt modelId="{85BD8AAF-31CA-440D-9A0C-D493B9C998C8}" type="pres">
      <dgm:prSet presAssocID="{1F17CE6F-40E6-4F9F-A636-4E8E8C5B5A1F}" presName="parentText" presStyleLbl="node1" presStyleIdx="5" presStyleCnt="7">
        <dgm:presLayoutVars>
          <dgm:chMax val="0"/>
          <dgm:bulletEnabled val="1"/>
        </dgm:presLayoutVars>
      </dgm:prSet>
      <dgm:spPr/>
    </dgm:pt>
    <dgm:pt modelId="{4C76A24B-561D-4CC0-9DF2-3ED715BB3F9C}" type="pres">
      <dgm:prSet presAssocID="{89544384-022D-4952-9749-DFD131A5FCEE}" presName="spacer" presStyleCnt="0"/>
      <dgm:spPr/>
    </dgm:pt>
    <dgm:pt modelId="{BD1DDAC0-FB7B-44C3-9E69-78C055237A17}" type="pres">
      <dgm:prSet presAssocID="{A516CC1C-DD8A-4EF2-AE6E-3B2E803C96FC}" presName="parentText" presStyleLbl="node1" presStyleIdx="6" presStyleCnt="7">
        <dgm:presLayoutVars>
          <dgm:chMax val="0"/>
          <dgm:bulletEnabled val="1"/>
        </dgm:presLayoutVars>
      </dgm:prSet>
      <dgm:spPr/>
    </dgm:pt>
  </dgm:ptLst>
  <dgm:cxnLst>
    <dgm:cxn modelId="{810B5E05-BB1F-4C72-BD81-E393C3F0E956}" type="presOf" srcId="{6C3C902E-4B0F-4CFE-9EA5-FDF09D668096}" destId="{AA0012C3-3A1A-45D3-A742-AF33199967C3}" srcOrd="0" destOrd="0" presId="urn:microsoft.com/office/officeart/2005/8/layout/vList2"/>
    <dgm:cxn modelId="{E6910814-CB52-4812-97D2-529C274C39FD}" type="presOf" srcId="{A47A1C67-324A-42F4-964E-0239CE7396F0}" destId="{7AD2C93B-7769-4E5D-A933-0F182F23F50B}" srcOrd="0" destOrd="0" presId="urn:microsoft.com/office/officeart/2005/8/layout/vList2"/>
    <dgm:cxn modelId="{9FD5DD14-6390-4E13-84FA-65AF43DA1390}" srcId="{99D2F9B3-4BEF-4A31-9981-FBDB932D4727}" destId="{6C3C902E-4B0F-4CFE-9EA5-FDF09D668096}" srcOrd="2" destOrd="0" parTransId="{1B2EC414-EA1F-4ED6-9B36-BEDD60DDB286}" sibTransId="{BCE1CAC9-C668-420C-B533-D94A09C8981E}"/>
    <dgm:cxn modelId="{6B221135-A04E-4A07-A1C2-E2757CCD479F}" type="presOf" srcId="{9EDD5CC4-54FA-4CF2-9CE0-389937D7CC7E}" destId="{7BB6230F-F1ED-47F2-90ED-D64E182D6CDC}" srcOrd="0" destOrd="0" presId="urn:microsoft.com/office/officeart/2005/8/layout/vList2"/>
    <dgm:cxn modelId="{B212B07F-B59D-435E-8AA4-A3C8DC5C084F}" srcId="{99D2F9B3-4BEF-4A31-9981-FBDB932D4727}" destId="{A47A1C67-324A-42F4-964E-0239CE7396F0}" srcOrd="0" destOrd="0" parTransId="{15FDC97C-81A0-4815-8464-3A59F6E21E62}" sibTransId="{E9217A82-0496-4877-930B-7F3707D1968E}"/>
    <dgm:cxn modelId="{EC047595-2946-4CAB-9B29-BED1C696DDFF}" type="presOf" srcId="{DFF52565-51BD-44D9-BB7E-8DD188DC487D}" destId="{1055448A-8D9E-40B4-8614-94D8E452F345}" srcOrd="0" destOrd="0" presId="urn:microsoft.com/office/officeart/2005/8/layout/vList2"/>
    <dgm:cxn modelId="{44423EA3-49E7-4E15-9844-ECE7E32DBE27}" srcId="{99D2F9B3-4BEF-4A31-9981-FBDB932D4727}" destId="{DFF52565-51BD-44D9-BB7E-8DD188DC487D}" srcOrd="4" destOrd="0" parTransId="{34A5EB9F-CB59-418F-A929-98C52BB9B80A}" sibTransId="{D81E56F3-F3AA-4325-8D42-271D8B865675}"/>
    <dgm:cxn modelId="{FF299AAF-D00A-441C-9EAD-7B3EE0C28895}" srcId="{99D2F9B3-4BEF-4A31-9981-FBDB932D4727}" destId="{5E4CC2B8-DD19-45F0-A534-C83355426438}" srcOrd="1" destOrd="0" parTransId="{5A7631D8-277F-4546-8AC3-444F1C279A79}" sibTransId="{632DA675-EE4A-4325-A787-F8C760850EC4}"/>
    <dgm:cxn modelId="{161BD9C3-6C12-49A6-AA0D-D38A11D46A1C}" type="presOf" srcId="{5E4CC2B8-DD19-45F0-A534-C83355426438}" destId="{E8583ACB-7232-4564-A269-0DD464A51F65}" srcOrd="0" destOrd="0" presId="urn:microsoft.com/office/officeart/2005/8/layout/vList2"/>
    <dgm:cxn modelId="{820115C9-B795-465F-835F-975FB38B999D}" srcId="{99D2F9B3-4BEF-4A31-9981-FBDB932D4727}" destId="{1F17CE6F-40E6-4F9F-A636-4E8E8C5B5A1F}" srcOrd="5" destOrd="0" parTransId="{7EEC3E8D-D754-4AB4-BB63-4397F21820A2}" sibTransId="{89544384-022D-4952-9749-DFD131A5FCEE}"/>
    <dgm:cxn modelId="{7CBECAD1-EB2B-4240-BAAF-CEC0D5876D07}" type="presOf" srcId="{A516CC1C-DD8A-4EF2-AE6E-3B2E803C96FC}" destId="{BD1DDAC0-FB7B-44C3-9E69-78C055237A17}" srcOrd="0" destOrd="0" presId="urn:microsoft.com/office/officeart/2005/8/layout/vList2"/>
    <dgm:cxn modelId="{59982EDF-CEBF-4ED9-963A-9E7999D5641B}" srcId="{99D2F9B3-4BEF-4A31-9981-FBDB932D4727}" destId="{A516CC1C-DD8A-4EF2-AE6E-3B2E803C96FC}" srcOrd="6" destOrd="0" parTransId="{0B175422-2981-47D1-9B9A-4EBB2BF1F440}" sibTransId="{3DDA2F5A-7F1E-4A50-B70D-93BA1BCD073B}"/>
    <dgm:cxn modelId="{F25334E5-7F3F-42B0-8FAE-01EE1F0DB85A}" type="presOf" srcId="{1F17CE6F-40E6-4F9F-A636-4E8E8C5B5A1F}" destId="{85BD8AAF-31CA-440D-9A0C-D493B9C998C8}" srcOrd="0" destOrd="0" presId="urn:microsoft.com/office/officeart/2005/8/layout/vList2"/>
    <dgm:cxn modelId="{9536CDF1-8A35-40F3-9450-2E279BD28937}" type="presOf" srcId="{99D2F9B3-4BEF-4A31-9981-FBDB932D4727}" destId="{A1B1463A-518D-47DA-9886-98AFF3F8F3CA}" srcOrd="0" destOrd="0" presId="urn:microsoft.com/office/officeart/2005/8/layout/vList2"/>
    <dgm:cxn modelId="{1ED445FB-C4D2-4150-8035-4400794D802D}" srcId="{99D2F9B3-4BEF-4A31-9981-FBDB932D4727}" destId="{9EDD5CC4-54FA-4CF2-9CE0-389937D7CC7E}" srcOrd="3" destOrd="0" parTransId="{7DCF22E3-4DB6-4890-A4AD-883610014F1F}" sibTransId="{258BAAEB-6C8C-4E2F-B5AF-F88A4374E235}"/>
    <dgm:cxn modelId="{347EAF6B-000F-4833-A7D6-D6B8A917DF8D}" type="presParOf" srcId="{A1B1463A-518D-47DA-9886-98AFF3F8F3CA}" destId="{7AD2C93B-7769-4E5D-A933-0F182F23F50B}" srcOrd="0" destOrd="0" presId="urn:microsoft.com/office/officeart/2005/8/layout/vList2"/>
    <dgm:cxn modelId="{60A852C8-FEDA-4BD2-8FB2-9BE0B12C9221}" type="presParOf" srcId="{A1B1463A-518D-47DA-9886-98AFF3F8F3CA}" destId="{E764F336-1FA1-41BB-A130-F74C21D02B85}" srcOrd="1" destOrd="0" presId="urn:microsoft.com/office/officeart/2005/8/layout/vList2"/>
    <dgm:cxn modelId="{E7B88B4A-A758-4C60-94E7-4DB1F04B89DF}" type="presParOf" srcId="{A1B1463A-518D-47DA-9886-98AFF3F8F3CA}" destId="{E8583ACB-7232-4564-A269-0DD464A51F65}" srcOrd="2" destOrd="0" presId="urn:microsoft.com/office/officeart/2005/8/layout/vList2"/>
    <dgm:cxn modelId="{B63F6E12-895F-4CB3-B49E-3D09E1F2D84D}" type="presParOf" srcId="{A1B1463A-518D-47DA-9886-98AFF3F8F3CA}" destId="{1979A5FA-8889-49BF-8966-0F7E0EC5D9FF}" srcOrd="3" destOrd="0" presId="urn:microsoft.com/office/officeart/2005/8/layout/vList2"/>
    <dgm:cxn modelId="{711C5923-D95C-4C3F-A61C-60A5F2B56A06}" type="presParOf" srcId="{A1B1463A-518D-47DA-9886-98AFF3F8F3CA}" destId="{AA0012C3-3A1A-45D3-A742-AF33199967C3}" srcOrd="4" destOrd="0" presId="urn:microsoft.com/office/officeart/2005/8/layout/vList2"/>
    <dgm:cxn modelId="{766E2D7E-F94A-4770-80D4-C83C9F18D10D}" type="presParOf" srcId="{A1B1463A-518D-47DA-9886-98AFF3F8F3CA}" destId="{07A87E26-F69C-434A-ADAB-C2AFED07302E}" srcOrd="5" destOrd="0" presId="urn:microsoft.com/office/officeart/2005/8/layout/vList2"/>
    <dgm:cxn modelId="{A76F84DA-7231-48F1-BC79-0A27E8727B3E}" type="presParOf" srcId="{A1B1463A-518D-47DA-9886-98AFF3F8F3CA}" destId="{7BB6230F-F1ED-47F2-90ED-D64E182D6CDC}" srcOrd="6" destOrd="0" presId="urn:microsoft.com/office/officeart/2005/8/layout/vList2"/>
    <dgm:cxn modelId="{DEDB1F3E-1B5E-466C-8E00-43B0AD73F81B}" type="presParOf" srcId="{A1B1463A-518D-47DA-9886-98AFF3F8F3CA}" destId="{B644C94C-E214-4861-AAF2-C25FF0E738A1}" srcOrd="7" destOrd="0" presId="urn:microsoft.com/office/officeart/2005/8/layout/vList2"/>
    <dgm:cxn modelId="{4D518563-438B-4CF9-B71A-EEE5A7ACE2D0}" type="presParOf" srcId="{A1B1463A-518D-47DA-9886-98AFF3F8F3CA}" destId="{1055448A-8D9E-40B4-8614-94D8E452F345}" srcOrd="8" destOrd="0" presId="urn:microsoft.com/office/officeart/2005/8/layout/vList2"/>
    <dgm:cxn modelId="{01D03113-E7AD-4BEF-BCEA-35418417D61D}" type="presParOf" srcId="{A1B1463A-518D-47DA-9886-98AFF3F8F3CA}" destId="{F188E621-0CF8-4A33-BB1A-FFD449580613}" srcOrd="9" destOrd="0" presId="urn:microsoft.com/office/officeart/2005/8/layout/vList2"/>
    <dgm:cxn modelId="{662C41F4-48C7-41C6-B59D-25CBAF0F320D}" type="presParOf" srcId="{A1B1463A-518D-47DA-9886-98AFF3F8F3CA}" destId="{85BD8AAF-31CA-440D-9A0C-D493B9C998C8}" srcOrd="10" destOrd="0" presId="urn:microsoft.com/office/officeart/2005/8/layout/vList2"/>
    <dgm:cxn modelId="{EB675EB5-9814-4BF6-8019-50671D8B0F65}" type="presParOf" srcId="{A1B1463A-518D-47DA-9886-98AFF3F8F3CA}" destId="{4C76A24B-561D-4CC0-9DF2-3ED715BB3F9C}" srcOrd="11" destOrd="0" presId="urn:microsoft.com/office/officeart/2005/8/layout/vList2"/>
    <dgm:cxn modelId="{EE1114C6-02D0-404A-99EC-3F86771578CE}" type="presParOf" srcId="{A1B1463A-518D-47DA-9886-98AFF3F8F3CA}" destId="{BD1DDAC0-FB7B-44C3-9E69-78C055237A1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a:t>Downloaded as raw counts</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a:t>Quality control performed prior to publication</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a:t>Removed dead cells</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7FE60D51-0E20-477B-8440-CF0AF912AB8B}">
      <dgm:prSet/>
      <dgm:spPr/>
      <dgm:t>
        <a:bodyPr/>
        <a:lstStyle/>
        <a:p>
          <a:r>
            <a:rPr lang="en-US"/>
            <a:t>Removed cells with insufficient depth</a:t>
          </a:r>
        </a:p>
      </dgm:t>
    </dgm:pt>
    <dgm:pt modelId="{E95CA06C-A487-4FFC-8A30-56CB4CFFD1C4}" type="parTrans" cxnId="{2DD36D56-A48B-4E00-BF37-9557777B0E29}">
      <dgm:prSet/>
      <dgm:spPr/>
      <dgm:t>
        <a:bodyPr/>
        <a:lstStyle/>
        <a:p>
          <a:endParaRPr lang="en-US"/>
        </a:p>
      </dgm:t>
    </dgm:pt>
    <dgm:pt modelId="{CB37FF50-BE5C-4D27-BD55-7B87CD13F5E8}" type="sibTrans" cxnId="{2DD36D56-A48B-4E00-BF37-9557777B0E29}">
      <dgm:prSet/>
      <dgm:spPr/>
      <dgm:t>
        <a:bodyPr/>
        <a:lstStyle/>
        <a:p>
          <a:endParaRPr lang="en-US"/>
        </a:p>
      </dgm:t>
    </dgm:pt>
    <dgm:pt modelId="{D06B0AB7-E3AF-432E-8540-B397EEC16A1B}">
      <dgm:prSet/>
      <dgm:spPr/>
      <dgm:t>
        <a:bodyPr/>
        <a:lstStyle/>
        <a:p>
          <a:r>
            <a:rPr lang="en-US"/>
            <a:t>Removed genes with 0 counts</a:t>
          </a:r>
        </a:p>
      </dgm:t>
    </dgm:pt>
    <dgm:pt modelId="{23BDB315-04FE-4CD0-887B-4FB58E34096E}" type="parTrans" cxnId="{44D8A4AA-9DE0-4F3E-9C0F-7E8A2EBE1D68}">
      <dgm:prSet/>
      <dgm:spPr/>
      <dgm:t>
        <a:bodyPr/>
        <a:lstStyle/>
        <a:p>
          <a:endParaRPr lang="en-US"/>
        </a:p>
      </dgm:t>
    </dgm:pt>
    <dgm:pt modelId="{808B3C4F-2D8A-4357-A6DD-6C33221A0944}" type="sibTrans" cxnId="{44D8A4AA-9DE0-4F3E-9C0F-7E8A2EBE1D68}">
      <dgm:prSet/>
      <dgm:spPr/>
      <dgm:t>
        <a:bodyPr/>
        <a:lstStyle/>
        <a:p>
          <a:endParaRPr lang="en-US"/>
        </a:p>
      </dgm:t>
    </dgm:pt>
    <dgm:pt modelId="{8D6A0FC9-D096-42ED-AC90-1C58747EFF01}">
      <dgm:prSet/>
      <dgm:spPr/>
      <dgm:t>
        <a:bodyPr/>
        <a:lstStyle/>
        <a:p>
          <a:r>
            <a:rPr lang="en-US"/>
            <a:t>Converted to ScanPy object called adata</a:t>
          </a:r>
        </a:p>
      </dgm:t>
    </dgm:pt>
    <dgm:pt modelId="{F812861F-83DD-4657-97FB-9130A2A2C866}" type="parTrans" cxnId="{A1769195-9ACB-40B5-BE31-EC01FC6BC239}">
      <dgm:prSet/>
      <dgm:spPr/>
      <dgm:t>
        <a:bodyPr/>
        <a:lstStyle/>
        <a:p>
          <a:endParaRPr lang="en-US"/>
        </a:p>
      </dgm:t>
    </dgm:pt>
    <dgm:pt modelId="{D650817D-DF82-43A6-8778-96A9B54CB4B6}" type="sibTrans" cxnId="{A1769195-9ACB-40B5-BE31-EC01FC6BC239}">
      <dgm:prSet/>
      <dgm:spPr/>
      <dgm:t>
        <a:bodyPr/>
        <a:lstStyle/>
        <a:p>
          <a:endParaRPr lang="en-US"/>
        </a:p>
      </dgm:t>
    </dgm:pt>
    <dgm:pt modelId="{4BD535F4-C58C-4994-9D59-CAF78261BEDA}">
      <dgm:prSet/>
      <dgm:spPr/>
      <dgm:t>
        <a:bodyPr/>
        <a:lstStyle/>
        <a:p>
          <a:r>
            <a:rPr lang="en-US" dirty="0"/>
            <a:t>Standard library for handling single cell RNAseq data in Python</a:t>
          </a:r>
        </a:p>
      </dgm:t>
    </dgm:pt>
    <dgm:pt modelId="{D03B669D-8428-4201-882A-F4166CF42B9C}" type="parTrans" cxnId="{A3291A96-CCD7-432D-8A52-86177BF6A5A2}">
      <dgm:prSet/>
      <dgm:spPr/>
      <dgm:t>
        <a:bodyPr/>
        <a:lstStyle/>
        <a:p>
          <a:endParaRPr lang="en-US"/>
        </a:p>
      </dgm:t>
    </dgm:pt>
    <dgm:pt modelId="{96B5A05F-B3FC-4FD0-B8F9-09BD7421DF38}" type="sibTrans" cxnId="{A3291A96-CCD7-432D-8A52-86177BF6A5A2}">
      <dgm:prSet/>
      <dgm:spPr/>
      <dgm:t>
        <a:bodyPr/>
        <a:lstStyle/>
        <a:p>
          <a:endParaRPr lang="en-US"/>
        </a:p>
      </dgm:t>
    </dgm:pt>
    <dgm:pt modelId="{EA031F4F-7F32-42B9-8F72-B37B21136E22}">
      <dgm:prSet/>
      <dgm:spPr/>
      <dgm:t>
        <a:bodyPr/>
        <a:lstStyle/>
        <a:p>
          <a:r>
            <a:rPr lang="en-US" dirty="0" err="1"/>
            <a:t>adata</a:t>
          </a:r>
          <a:r>
            <a:rPr lang="en-US" dirty="0"/>
            <a:t> objects have three matrices</a:t>
          </a:r>
        </a:p>
      </dgm:t>
    </dgm:pt>
    <dgm:pt modelId="{68026499-5ED0-4EF2-AAA2-E86B6BBFAFEB}" type="parTrans" cxnId="{9C815F3E-CA9A-4EF3-BA79-1DF05FDD7CCC}">
      <dgm:prSet/>
      <dgm:spPr/>
      <dgm:t>
        <a:bodyPr/>
        <a:lstStyle/>
        <a:p>
          <a:endParaRPr lang="en-US"/>
        </a:p>
      </dgm:t>
    </dgm:pt>
    <dgm:pt modelId="{617281C3-E4B9-4E0E-B5B8-1457976C0C81}" type="sibTrans" cxnId="{9C815F3E-CA9A-4EF3-BA79-1DF05FDD7CCC}">
      <dgm:prSet/>
      <dgm:spPr/>
      <dgm:t>
        <a:bodyPr/>
        <a:lstStyle/>
        <a:p>
          <a:endParaRPr lang="en-US"/>
        </a:p>
      </dgm:t>
    </dgm:pt>
    <dgm:pt modelId="{8D15CCAA-AFC9-4A68-B5EC-74E3048264C8}">
      <dgm:prSet/>
      <dgm:spPr/>
      <dgm:t>
        <a:bodyPr/>
        <a:lstStyle/>
        <a:p>
          <a:r>
            <a:rPr lang="en-US"/>
            <a:t>adata.X hold counts data</a:t>
          </a:r>
        </a:p>
      </dgm:t>
    </dgm:pt>
    <dgm:pt modelId="{3B85F441-3D8B-4958-8706-AA1CB459887E}" type="parTrans" cxnId="{9264601A-C47F-4640-8EFC-B9E03198FC12}">
      <dgm:prSet/>
      <dgm:spPr/>
      <dgm:t>
        <a:bodyPr/>
        <a:lstStyle/>
        <a:p>
          <a:endParaRPr lang="en-US"/>
        </a:p>
      </dgm:t>
    </dgm:pt>
    <dgm:pt modelId="{1C325375-3CA3-472D-BCF0-0E82C08D139F}" type="sibTrans" cxnId="{9264601A-C47F-4640-8EFC-B9E03198FC12}">
      <dgm:prSet/>
      <dgm:spPr/>
      <dgm:t>
        <a:bodyPr/>
        <a:lstStyle/>
        <a:p>
          <a:endParaRPr lang="en-US"/>
        </a:p>
      </dgm:t>
    </dgm:pt>
    <dgm:pt modelId="{263F33AF-B45D-4593-ADB3-63C974A90B8F}">
      <dgm:prSet/>
      <dgm:spPr/>
      <dgm:t>
        <a:bodyPr/>
        <a:lstStyle/>
        <a:p>
          <a:r>
            <a:rPr lang="en-US"/>
            <a:t>adata.obs holds metadata including cell IDs</a:t>
          </a:r>
        </a:p>
      </dgm:t>
    </dgm:pt>
    <dgm:pt modelId="{A5BA28BA-6B19-4A5D-B85D-4BF527809086}" type="parTrans" cxnId="{207FA03B-DF26-4DE8-BD84-793CCD0B1CE9}">
      <dgm:prSet/>
      <dgm:spPr/>
      <dgm:t>
        <a:bodyPr/>
        <a:lstStyle/>
        <a:p>
          <a:endParaRPr lang="en-US"/>
        </a:p>
      </dgm:t>
    </dgm:pt>
    <dgm:pt modelId="{CA5E5AF8-F0C2-402F-9563-E19AF3E1B931}" type="sibTrans" cxnId="{207FA03B-DF26-4DE8-BD84-793CCD0B1CE9}">
      <dgm:prSet/>
      <dgm:spPr/>
      <dgm:t>
        <a:bodyPr/>
        <a:lstStyle/>
        <a:p>
          <a:endParaRPr lang="en-US"/>
        </a:p>
      </dgm:t>
    </dgm:pt>
    <dgm:pt modelId="{008F384F-6B71-44AF-A367-2D1110FED87E}">
      <dgm:prSet/>
      <dgm:spPr/>
      <dgm:t>
        <a:bodyPr/>
        <a:lstStyle/>
        <a:p>
          <a:r>
            <a:rPr lang="en-US" dirty="0" err="1"/>
            <a:t>adata.var</a:t>
          </a:r>
          <a:r>
            <a:rPr lang="en-US" dirty="0"/>
            <a:t> hold gene names (aka column names)</a:t>
          </a:r>
        </a:p>
      </dgm:t>
    </dgm:pt>
    <dgm:pt modelId="{458EB215-0078-45E9-985A-5BE10419F8D7}" type="parTrans" cxnId="{88DA50C6-E562-48B3-9EA2-5C6656B149EF}">
      <dgm:prSet/>
      <dgm:spPr/>
      <dgm:t>
        <a:bodyPr/>
        <a:lstStyle/>
        <a:p>
          <a:endParaRPr lang="en-US"/>
        </a:p>
      </dgm:t>
    </dgm:pt>
    <dgm:pt modelId="{5D01E7B2-525A-49BD-9468-054926636E73}" type="sibTrans" cxnId="{88DA50C6-E562-48B3-9EA2-5C6656B149EF}">
      <dgm:prSet/>
      <dgm:spPr/>
      <dgm:t>
        <a:bodyPr/>
        <a:lstStyle/>
        <a:p>
          <a:endParaRPr lang="en-US"/>
        </a:p>
      </dgm:t>
    </dgm:pt>
    <dgm:pt modelId="{2E30E7CB-F104-4345-A74D-8FF5F8CDCE8F}">
      <dgm:prSet/>
      <dgm:spPr/>
      <dgm:t>
        <a:bodyPr/>
        <a:lstStyle/>
        <a:p>
          <a:r>
            <a:rPr lang="en-US"/>
            <a:t>Normalize</a:t>
          </a:r>
          <a:endParaRPr lang="en-US" dirty="0"/>
        </a:p>
      </dgm:t>
    </dgm:pt>
    <dgm:pt modelId="{9CBF3CDB-B707-4054-9C87-E7EA8B0746D8}" type="parTrans" cxnId="{752FC911-BC3F-43F1-99A2-DDB8F0C61163}">
      <dgm:prSet/>
      <dgm:spPr/>
    </dgm:pt>
    <dgm:pt modelId="{B538B7E4-0EC3-49E5-8F52-E9D22AA2FC27}" type="sibTrans" cxnId="{752FC911-BC3F-43F1-99A2-DDB8F0C61163}">
      <dgm:prSet/>
      <dgm:spPr/>
    </dgm:pt>
    <dgm:pt modelId="{17661852-D3AC-4E3D-885C-7C7F716C0753}">
      <dgm:prSet/>
      <dgm:spPr/>
      <dgm:t>
        <a:bodyPr/>
        <a:lstStyle/>
        <a:p>
          <a:r>
            <a:rPr lang="en-US"/>
            <a:t>Scale data (Standard Scaler equivalent in ScanPy)</a:t>
          </a:r>
          <a:endParaRPr lang="en-US" dirty="0"/>
        </a:p>
      </dgm:t>
    </dgm:pt>
    <dgm:pt modelId="{DD05BF43-9D7D-47C4-BA85-C6BCF0AEE6C1}" type="parTrans" cxnId="{3C930818-D37A-44F7-9E4B-4A550CAB73C9}">
      <dgm:prSet/>
      <dgm:spPr/>
    </dgm:pt>
    <dgm:pt modelId="{D46FB76E-0B48-42D0-88BB-D7D3A0ACEF87}" type="sibTrans" cxnId="{3C930818-D37A-44F7-9E4B-4A550CAB73C9}">
      <dgm:prSet/>
      <dgm:spPr/>
    </dgm:pt>
    <dgm:pt modelId="{B18B8C53-7E1D-47F1-A65E-F1531671555E}">
      <dgm:prSet/>
      <dgm:spPr/>
      <dgm:t>
        <a:bodyPr/>
        <a:lstStyle/>
        <a:p>
          <a:r>
            <a:rPr lang="en-US"/>
            <a:t>Log Transform</a:t>
          </a:r>
          <a:endParaRPr lang="en-US" dirty="0"/>
        </a:p>
      </dgm:t>
    </dgm:pt>
    <dgm:pt modelId="{57054A12-D911-46FE-8F39-3B91739C1976}" type="parTrans" cxnId="{02EAA988-3C74-4FFC-B085-3A155B5CD3B6}">
      <dgm:prSet/>
      <dgm:spPr/>
    </dgm:pt>
    <dgm:pt modelId="{CB7E8484-D40C-4D5D-94F4-1EBF5FCB1B9D}" type="sibTrans" cxnId="{02EAA988-3C74-4FFC-B085-3A155B5CD3B6}">
      <dgm:prSet/>
      <dgm:spPr/>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4">
        <dgm:presLayoutVars>
          <dgm:chMax val="0"/>
          <dgm:bulletEnabled val="1"/>
        </dgm:presLayoutVars>
      </dgm:prSet>
      <dgm:spPr/>
    </dgm:pt>
    <dgm:pt modelId="{1B4A2622-FA51-42CD-85CE-E1A4A56A8087}" type="pres">
      <dgm:prSet presAssocID="{4C74786D-BB2C-46A4-9CE8-6773DB48FAB5}" presName="spacer" presStyleCnt="0"/>
      <dgm:spPr/>
    </dgm:pt>
    <dgm:pt modelId="{92EECA0C-D5C9-4DC3-8506-3271A5AD366D}" type="pres">
      <dgm:prSet presAssocID="{DC9D2DAE-B54C-454A-BED7-AA13FC46EBA7}" presName="parentText" presStyleLbl="node1" presStyleIdx="1" presStyleCnt="4">
        <dgm:presLayoutVars>
          <dgm:chMax val="0"/>
          <dgm:bulletEnabled val="1"/>
        </dgm:presLayoutVars>
      </dgm:prSet>
      <dgm:spPr/>
    </dgm:pt>
    <dgm:pt modelId="{F419D63E-1F6F-4CB1-9004-4C47EB258D84}" type="pres">
      <dgm:prSet presAssocID="{DC9D2DAE-B54C-454A-BED7-AA13FC46EBA7}" presName="childText" presStyleLbl="revTx" presStyleIdx="0" presStyleCnt="3">
        <dgm:presLayoutVars>
          <dgm:bulletEnabled val="1"/>
        </dgm:presLayoutVars>
      </dgm:prSet>
      <dgm:spPr/>
    </dgm:pt>
    <dgm:pt modelId="{A008A461-4EAC-4B09-90E0-49EC9282854F}" type="pres">
      <dgm:prSet presAssocID="{8D6A0FC9-D096-42ED-AC90-1C58747EFF01}" presName="parentText" presStyleLbl="node1" presStyleIdx="2" presStyleCnt="4">
        <dgm:presLayoutVars>
          <dgm:chMax val="0"/>
          <dgm:bulletEnabled val="1"/>
        </dgm:presLayoutVars>
      </dgm:prSet>
      <dgm:spPr/>
    </dgm:pt>
    <dgm:pt modelId="{1E11903A-788D-4F8E-94FB-6E8499843257}" type="pres">
      <dgm:prSet presAssocID="{8D6A0FC9-D096-42ED-AC90-1C58747EFF01}" presName="childText" presStyleLbl="revTx" presStyleIdx="1" presStyleCnt="3">
        <dgm:presLayoutVars>
          <dgm:bulletEnabled val="1"/>
        </dgm:presLayoutVars>
      </dgm:prSet>
      <dgm:spPr/>
    </dgm:pt>
    <dgm:pt modelId="{52B0E5FD-CC11-4EE4-8181-914946DAB15A}" type="pres">
      <dgm:prSet presAssocID="{2E30E7CB-F104-4345-A74D-8FF5F8CDCE8F}" presName="parentText" presStyleLbl="node1" presStyleIdx="3" presStyleCnt="4">
        <dgm:presLayoutVars>
          <dgm:chMax val="0"/>
          <dgm:bulletEnabled val="1"/>
        </dgm:presLayoutVars>
      </dgm:prSet>
      <dgm:spPr/>
    </dgm:pt>
    <dgm:pt modelId="{E0E71B88-D1F6-4CD5-9748-3B4AF3FC9570}" type="pres">
      <dgm:prSet presAssocID="{2E30E7CB-F104-4345-A74D-8FF5F8CDCE8F}" presName="childText" presStyleLbl="revTx" presStyleIdx="2" presStyleCnt="3">
        <dgm:presLayoutVars>
          <dgm:bulletEnabled val="1"/>
        </dgm:presLayoutVars>
      </dgm:prSet>
      <dgm:spPr/>
    </dgm:pt>
  </dgm:ptLst>
  <dgm:cxnLst>
    <dgm:cxn modelId="{17BDD40D-73AA-4FB8-B039-6DD666B6B10A}" type="presOf" srcId="{0D92C3CE-E075-457A-94F8-8F06D5A722CE}" destId="{109111CC-9235-41B8-B581-1B79ED9C122F}" srcOrd="0" destOrd="0" presId="urn:microsoft.com/office/officeart/2005/8/layout/vList2"/>
    <dgm:cxn modelId="{B5B92E11-21B6-44CB-A934-5B75BA83A5B9}" type="presOf" srcId="{4BD535F4-C58C-4994-9D59-CAF78261BEDA}" destId="{1E11903A-788D-4F8E-94FB-6E8499843257}" srcOrd="0" destOrd="0" presId="urn:microsoft.com/office/officeart/2005/8/layout/vList2"/>
    <dgm:cxn modelId="{752FC911-BC3F-43F1-99A2-DDB8F0C61163}" srcId="{7CC5621D-7729-45E2-A481-EFFD81352E17}" destId="{2E30E7CB-F104-4345-A74D-8FF5F8CDCE8F}" srcOrd="3" destOrd="0" parTransId="{9CBF3CDB-B707-4054-9C87-E7EA8B0746D8}" sibTransId="{B538B7E4-0EC3-49E5-8F52-E9D22AA2FC27}"/>
    <dgm:cxn modelId="{E0530717-C169-40A4-896D-824D8E6D34C7}" type="presOf" srcId="{8D15CCAA-AFC9-4A68-B5EC-74E3048264C8}" destId="{1E11903A-788D-4F8E-94FB-6E8499843257}" srcOrd="0" destOrd="2" presId="urn:microsoft.com/office/officeart/2005/8/layout/vList2"/>
    <dgm:cxn modelId="{3C930818-D37A-44F7-9E4B-4A550CAB73C9}" srcId="{2E30E7CB-F104-4345-A74D-8FF5F8CDCE8F}" destId="{17661852-D3AC-4E3D-885C-7C7F716C0753}" srcOrd="0" destOrd="0" parTransId="{DD05BF43-9D7D-47C4-BA85-C6BCF0AEE6C1}" sibTransId="{D46FB76E-0B48-42D0-88BB-D7D3A0ACEF87}"/>
    <dgm:cxn modelId="{9264601A-C47F-4640-8EFC-B9E03198FC12}" srcId="{EA031F4F-7F32-42B9-8F72-B37B21136E22}" destId="{8D15CCAA-AFC9-4A68-B5EC-74E3048264C8}" srcOrd="0" destOrd="0" parTransId="{3B85F441-3D8B-4958-8706-AA1CB459887E}" sibTransId="{1C325375-3CA3-472D-BCF0-0E82C08D139F}"/>
    <dgm:cxn modelId="{048B7C24-D79E-4A87-AEE2-7F8FB01C4C9B}" type="presOf" srcId="{008F384F-6B71-44AF-A367-2D1110FED87E}" destId="{1E11903A-788D-4F8E-94FB-6E8499843257}" srcOrd="0" destOrd="4" presId="urn:microsoft.com/office/officeart/2005/8/layout/vList2"/>
    <dgm:cxn modelId="{89C0CC2B-CBE7-4A44-88DD-2BA4676F731B}" type="presOf" srcId="{B18B8C53-7E1D-47F1-A65E-F1531671555E}" destId="{E0E71B88-D1F6-4CD5-9748-3B4AF3FC9570}" srcOrd="0" destOrd="1" presId="urn:microsoft.com/office/officeart/2005/8/layout/vList2"/>
    <dgm:cxn modelId="{4530832D-6059-48FB-9465-B7F94ECB19B1}" type="presOf" srcId="{263F33AF-B45D-4593-ADB3-63C974A90B8F}" destId="{1E11903A-788D-4F8E-94FB-6E8499843257}" srcOrd="0" destOrd="3" presId="urn:microsoft.com/office/officeart/2005/8/layout/vList2"/>
    <dgm:cxn modelId="{488D9D3B-80DA-42B0-9EB1-628341184000}" type="presOf" srcId="{D06B0AB7-E3AF-432E-8540-B397EEC16A1B}" destId="{F419D63E-1F6F-4CB1-9004-4C47EB258D84}" srcOrd="0" destOrd="2" presId="urn:microsoft.com/office/officeart/2005/8/layout/vList2"/>
    <dgm:cxn modelId="{207FA03B-DF26-4DE8-BD84-793CCD0B1CE9}" srcId="{EA031F4F-7F32-42B9-8F72-B37B21136E22}" destId="{263F33AF-B45D-4593-ADB3-63C974A90B8F}" srcOrd="1" destOrd="0" parTransId="{A5BA28BA-6B19-4A5D-B85D-4BF527809086}" sibTransId="{CA5E5AF8-F0C2-402F-9563-E19AF3E1B931}"/>
    <dgm:cxn modelId="{9C815F3E-CA9A-4EF3-BA79-1DF05FDD7CCC}" srcId="{8D6A0FC9-D096-42ED-AC90-1C58747EFF01}" destId="{EA031F4F-7F32-42B9-8F72-B37B21136E22}" srcOrd="1" destOrd="0" parTransId="{68026499-5ED0-4EF2-AAA2-E86B6BBFAFEB}" sibTransId="{617281C3-E4B9-4E0E-B5B8-1457976C0C81}"/>
    <dgm:cxn modelId="{33BE515C-1D81-4AC6-A65D-3D994EC1DD1C}" type="presOf" srcId="{2E30E7CB-F104-4345-A74D-8FF5F8CDCE8F}" destId="{52B0E5FD-CC11-4EE4-8181-914946DAB15A}" srcOrd="0" destOrd="0"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2DD36D56-A48B-4E00-BF37-9557777B0E29}" srcId="{DC9D2DAE-B54C-454A-BED7-AA13FC46EBA7}" destId="{7FE60D51-0E20-477B-8440-CF0AF912AB8B}" srcOrd="1" destOrd="0" parTransId="{E95CA06C-A487-4FFC-8A30-56CB4CFFD1C4}" sibTransId="{CB37FF50-BE5C-4D27-BD55-7B87CD13F5E8}"/>
    <dgm:cxn modelId="{772DAB81-C392-4AB3-A460-1B88F3D5D025}" type="presOf" srcId="{7CC5621D-7729-45E2-A481-EFFD81352E17}" destId="{DC5E7578-4DE5-4111-80B4-CCE5E4A4A60F}" srcOrd="0" destOrd="0" presId="urn:microsoft.com/office/officeart/2005/8/layout/vList2"/>
    <dgm:cxn modelId="{02EAA988-3C74-4FFC-B085-3A155B5CD3B6}" srcId="{2E30E7CB-F104-4345-A74D-8FF5F8CDCE8F}" destId="{B18B8C53-7E1D-47F1-A65E-F1531671555E}" srcOrd="1" destOrd="0" parTransId="{57054A12-D911-46FE-8F39-3B91739C1976}" sibTransId="{CB7E8484-D40C-4D5D-94F4-1EBF5FCB1B9D}"/>
    <dgm:cxn modelId="{45A51B89-66A1-49AB-97FA-930A148DBD79}" srcId="{7CC5621D-7729-45E2-A481-EFFD81352E17}" destId="{DC9D2DAE-B54C-454A-BED7-AA13FC46EBA7}" srcOrd="1" destOrd="0" parTransId="{41F283FA-DF99-460C-9294-79C19BEF26F4}" sibTransId="{881CBE3C-2DBF-456E-83A7-172A26149372}"/>
    <dgm:cxn modelId="{A1769195-9ACB-40B5-BE31-EC01FC6BC239}" srcId="{7CC5621D-7729-45E2-A481-EFFD81352E17}" destId="{8D6A0FC9-D096-42ED-AC90-1C58747EFF01}" srcOrd="2" destOrd="0" parTransId="{F812861F-83DD-4657-97FB-9130A2A2C866}" sibTransId="{D650817D-DF82-43A6-8778-96A9B54CB4B6}"/>
    <dgm:cxn modelId="{A3291A96-CCD7-432D-8A52-86177BF6A5A2}" srcId="{8D6A0FC9-D096-42ED-AC90-1C58747EFF01}" destId="{4BD535F4-C58C-4994-9D59-CAF78261BEDA}" srcOrd="0" destOrd="0" parTransId="{D03B669D-8428-4201-882A-F4166CF42B9C}" sibTransId="{96B5A05F-B3FC-4FD0-B8F9-09BD7421DF38}"/>
    <dgm:cxn modelId="{555F48A3-7E57-4009-8E10-818B8F4FB3D1}" type="presOf" srcId="{AA3E3B24-0C9D-4BD8-AFE6-81D67A7D9071}" destId="{F419D63E-1F6F-4CB1-9004-4C47EB258D84}" srcOrd="0" destOrd="0" presId="urn:microsoft.com/office/officeart/2005/8/layout/vList2"/>
    <dgm:cxn modelId="{44D8A4AA-9DE0-4F3E-9C0F-7E8A2EBE1D68}" srcId="{DC9D2DAE-B54C-454A-BED7-AA13FC46EBA7}" destId="{D06B0AB7-E3AF-432E-8540-B397EEC16A1B}" srcOrd="2" destOrd="0" parTransId="{23BDB315-04FE-4CD0-887B-4FB58E34096E}" sibTransId="{808B3C4F-2D8A-4357-A6DD-6C33221A0944}"/>
    <dgm:cxn modelId="{F32E16AC-EB31-42FB-81D4-03306E0D817E}" srcId="{DC9D2DAE-B54C-454A-BED7-AA13FC46EBA7}" destId="{AA3E3B24-0C9D-4BD8-AFE6-81D67A7D9071}" srcOrd="0" destOrd="0" parTransId="{8BD96E91-EFD3-4E63-8D97-AB2FA4909BFE}" sibTransId="{88931243-ACD7-456F-BF22-83B6C9632572}"/>
    <dgm:cxn modelId="{81D725B6-B9A6-4DE4-8BE5-E71D64054C5D}" type="presOf" srcId="{7FE60D51-0E20-477B-8440-CF0AF912AB8B}" destId="{F419D63E-1F6F-4CB1-9004-4C47EB258D84}" srcOrd="0" destOrd="1" presId="urn:microsoft.com/office/officeart/2005/8/layout/vList2"/>
    <dgm:cxn modelId="{89C868BF-CA9F-4F4F-81BF-A6E60F389A7F}" type="presOf" srcId="{8D6A0FC9-D096-42ED-AC90-1C58747EFF01}" destId="{A008A461-4EAC-4B09-90E0-49EC9282854F}" srcOrd="0" destOrd="0" presId="urn:microsoft.com/office/officeart/2005/8/layout/vList2"/>
    <dgm:cxn modelId="{88DA50C6-E562-48B3-9EA2-5C6656B149EF}" srcId="{EA031F4F-7F32-42B9-8F72-B37B21136E22}" destId="{008F384F-6B71-44AF-A367-2D1110FED87E}" srcOrd="2" destOrd="0" parTransId="{458EB215-0078-45E9-985A-5BE10419F8D7}" sibTransId="{5D01E7B2-525A-49BD-9468-054926636E73}"/>
    <dgm:cxn modelId="{D12E2AD7-3E45-451E-96B7-49BB87D5EF23}" type="presOf" srcId="{17661852-D3AC-4E3D-885C-7C7F716C0753}" destId="{E0E71B88-D1F6-4CD5-9748-3B4AF3FC9570}" srcOrd="0" destOrd="0" presId="urn:microsoft.com/office/officeart/2005/8/layout/vList2"/>
    <dgm:cxn modelId="{91D522DD-8058-47B4-A0CE-D204E20D2B31}" type="presOf" srcId="{EA031F4F-7F32-42B9-8F72-B37B21136E22}" destId="{1E11903A-788D-4F8E-94FB-6E8499843257}" srcOrd="0" destOrd="1" presId="urn:microsoft.com/office/officeart/2005/8/layout/vList2"/>
    <dgm:cxn modelId="{E54012F3-F350-4608-ADDC-A2E00D4B5CE2}" type="presOf" srcId="{DC9D2DAE-B54C-454A-BED7-AA13FC46EBA7}" destId="{92EECA0C-D5C9-4DC3-8506-3271A5AD366D}" srcOrd="0" destOrd="0" presId="urn:microsoft.com/office/officeart/2005/8/layout/vList2"/>
    <dgm:cxn modelId="{66F1A9BF-B729-4F99-9F8A-76AA0F4379A6}" type="presParOf" srcId="{DC5E7578-4DE5-4111-80B4-CCE5E4A4A60F}" destId="{109111CC-9235-41B8-B581-1B79ED9C122F}" srcOrd="0" destOrd="0" presId="urn:microsoft.com/office/officeart/2005/8/layout/vList2"/>
    <dgm:cxn modelId="{647D84B7-3224-43EB-A0A5-D054B9C5A24F}" type="presParOf" srcId="{DC5E7578-4DE5-4111-80B4-CCE5E4A4A60F}" destId="{1B4A2622-FA51-42CD-85CE-E1A4A56A8087}" srcOrd="1" destOrd="0" presId="urn:microsoft.com/office/officeart/2005/8/layout/vList2"/>
    <dgm:cxn modelId="{A276BCDB-4EF9-4C00-A840-9FC41E7B7077}" type="presParOf" srcId="{DC5E7578-4DE5-4111-80B4-CCE5E4A4A60F}" destId="{92EECA0C-D5C9-4DC3-8506-3271A5AD366D}" srcOrd="2" destOrd="0" presId="urn:microsoft.com/office/officeart/2005/8/layout/vList2"/>
    <dgm:cxn modelId="{D0D95CB9-21FF-458D-B74C-DD290DD878A5}" type="presParOf" srcId="{DC5E7578-4DE5-4111-80B4-CCE5E4A4A60F}" destId="{F419D63E-1F6F-4CB1-9004-4C47EB258D84}" srcOrd="3" destOrd="0" presId="urn:microsoft.com/office/officeart/2005/8/layout/vList2"/>
    <dgm:cxn modelId="{CF730034-1970-4709-B278-FC3CA5291910}" type="presParOf" srcId="{DC5E7578-4DE5-4111-80B4-CCE5E4A4A60F}" destId="{A008A461-4EAC-4B09-90E0-49EC9282854F}" srcOrd="4" destOrd="0" presId="urn:microsoft.com/office/officeart/2005/8/layout/vList2"/>
    <dgm:cxn modelId="{6BA8ED39-713A-4779-AA17-90A351DFCA41}" type="presParOf" srcId="{DC5E7578-4DE5-4111-80B4-CCE5E4A4A60F}" destId="{1E11903A-788D-4F8E-94FB-6E8499843257}" srcOrd="5" destOrd="0" presId="urn:microsoft.com/office/officeart/2005/8/layout/vList2"/>
    <dgm:cxn modelId="{7D83C717-F805-447E-BD1E-56387E6868E9}" type="presParOf" srcId="{DC5E7578-4DE5-4111-80B4-CCE5E4A4A60F}" destId="{52B0E5FD-CC11-4EE4-8181-914946DAB15A}" srcOrd="6" destOrd="0" presId="urn:microsoft.com/office/officeart/2005/8/layout/vList2"/>
    <dgm:cxn modelId="{DCF780CB-D05C-41A3-AF75-3DD09D8E0467}" type="presParOf" srcId="{DC5E7578-4DE5-4111-80B4-CCE5E4A4A60F}" destId="{E0E71B88-D1F6-4CD5-9748-3B4AF3FC957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Pseudorank</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DE Score Short</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3BEFA7CD-A4FC-46F2-AF5C-D178880C7EDA}">
      <dgm:prSet/>
      <dgm:spPr/>
      <dgm:t>
        <a:bodyPr/>
        <a:lstStyle/>
        <a:p>
          <a:r>
            <a:rPr lang="en-US"/>
            <a:t>Calculate pseudotime for each cell</a:t>
          </a:r>
          <a:endParaRPr lang="en-US" dirty="0"/>
        </a:p>
      </dgm:t>
    </dgm:pt>
    <dgm:pt modelId="{9E213682-04F8-4495-9A22-7BD6269D3298}" type="parTrans" cxnId="{F276FF3D-0107-4B83-8A9B-B871F8DE91E7}">
      <dgm:prSet/>
      <dgm:spPr/>
      <dgm:t>
        <a:bodyPr/>
        <a:lstStyle/>
        <a:p>
          <a:endParaRPr lang="en-US"/>
        </a:p>
      </dgm:t>
    </dgm:pt>
    <dgm:pt modelId="{A1B370C5-2940-4066-A9D9-BE4622E34E1E}" type="sibTrans" cxnId="{F276FF3D-0107-4B83-8A9B-B871F8DE91E7}">
      <dgm:prSet/>
      <dgm:spPr/>
      <dgm:t>
        <a:bodyPr/>
        <a:lstStyle/>
        <a:p>
          <a:endParaRPr lang="en-US"/>
        </a:p>
      </dgm:t>
    </dgm:pt>
    <dgm:pt modelId="{93B6FD5C-170E-45F4-81A8-6CC5E75EBBB8}">
      <dgm:prSet/>
      <dgm:spPr/>
      <dgm:t>
        <a:bodyPr/>
        <a:lstStyle/>
        <a:p>
          <a:r>
            <a:rPr lang="en-US" dirty="0"/>
            <a:t>Average day3 cell pseudotime by donor</a:t>
          </a:r>
        </a:p>
      </dgm:t>
    </dgm:pt>
    <dgm:pt modelId="{8B12A17F-0B7C-4E86-97AC-B1DF41C21E32}" type="parTrans" cxnId="{2025C974-AA2F-4D12-BA85-8754B0078859}">
      <dgm:prSet/>
      <dgm:spPr/>
      <dgm:t>
        <a:bodyPr/>
        <a:lstStyle/>
        <a:p>
          <a:endParaRPr lang="en-US"/>
        </a:p>
      </dgm:t>
    </dgm:pt>
    <dgm:pt modelId="{5B53BFC3-D179-42FF-A48F-5F9852DAF248}" type="sibTrans" cxnId="{2025C974-AA2F-4D12-BA85-8754B0078859}">
      <dgm:prSet/>
      <dgm:spPr/>
      <dgm:t>
        <a:bodyPr/>
        <a:lstStyle/>
        <a:p>
          <a:endParaRPr lang="en-US"/>
        </a:p>
      </dgm:t>
    </dgm:pt>
    <dgm:pt modelId="{42260CE6-4572-4C15-9EC4-E38E7E5A62CC}">
      <dgm:prSet/>
      <dgm:spPr/>
      <dgm:t>
        <a:bodyPr/>
        <a:lstStyle/>
        <a:p>
          <a:r>
            <a:rPr lang="en-US" dirty="0"/>
            <a:t>Map day3 average to all cells (regardless of day) by donor</a:t>
          </a:r>
        </a:p>
      </dgm:t>
    </dgm:pt>
    <dgm:pt modelId="{0B8B7796-A862-4987-BD88-71566769198F}" type="parTrans" cxnId="{2E6E67CF-29FC-4FB4-973E-D6DE2C99871E}">
      <dgm:prSet/>
      <dgm:spPr/>
      <dgm:t>
        <a:bodyPr/>
        <a:lstStyle/>
        <a:p>
          <a:endParaRPr lang="en-US"/>
        </a:p>
      </dgm:t>
    </dgm:pt>
    <dgm:pt modelId="{C407A584-F628-4B1E-990F-9E617950B8B0}" type="sibTrans" cxnId="{2E6E67CF-29FC-4FB4-973E-D6DE2C99871E}">
      <dgm:prSet/>
      <dgm:spPr/>
      <dgm:t>
        <a:bodyPr/>
        <a:lstStyle/>
        <a:p>
          <a:endParaRPr lang="en-US"/>
        </a:p>
      </dgm:t>
    </dgm:pt>
    <dgm:pt modelId="{F0E95260-F887-4F8C-A1E8-01D87DEA039F}">
      <dgm:prSet/>
      <dgm:spPr/>
      <dgm:t>
        <a:bodyPr/>
        <a:lstStyle/>
        <a:p>
          <a:r>
            <a:rPr lang="en-US" dirty="0"/>
            <a:t>DE Score Long</a:t>
          </a:r>
        </a:p>
      </dgm:t>
    </dgm:pt>
    <dgm:pt modelId="{C8BA1862-432D-4703-8B54-7EE71E199980}" type="parTrans" cxnId="{AB6B011D-EB61-4DF0-928C-7EBD1AAE59D8}">
      <dgm:prSet/>
      <dgm:spPr/>
      <dgm:t>
        <a:bodyPr/>
        <a:lstStyle/>
        <a:p>
          <a:endParaRPr lang="en-US"/>
        </a:p>
      </dgm:t>
    </dgm:pt>
    <dgm:pt modelId="{742051FB-B7C9-485F-B4E3-C2FBF3B01722}" type="sibTrans" cxnId="{AB6B011D-EB61-4DF0-928C-7EBD1AAE59D8}">
      <dgm:prSet/>
      <dgm:spPr/>
      <dgm:t>
        <a:bodyPr/>
        <a:lstStyle/>
        <a:p>
          <a:endParaRPr lang="en-US"/>
        </a:p>
      </dgm:t>
    </dgm:pt>
    <dgm:pt modelId="{AF9D2433-C072-4449-8941-E5ADA2FB2D31}">
      <dgm:prSet/>
      <dgm:spPr/>
      <dgm:t>
        <a:bodyPr/>
        <a:lstStyle/>
        <a:p>
          <a:r>
            <a:rPr lang="en-US" dirty="0"/>
            <a:t>Create lists of iPSC markers and endoderm markers</a:t>
          </a:r>
        </a:p>
      </dgm:t>
    </dgm:pt>
    <dgm:pt modelId="{5D8DB81D-6571-4DC7-848A-D9AB5354C037}" type="parTrans" cxnId="{67BEB630-DBC9-478D-BDE6-3877F46D4823}">
      <dgm:prSet/>
      <dgm:spPr/>
      <dgm:t>
        <a:bodyPr/>
        <a:lstStyle/>
        <a:p>
          <a:endParaRPr lang="en-US"/>
        </a:p>
      </dgm:t>
    </dgm:pt>
    <dgm:pt modelId="{C56105AA-5C0B-4082-AD5F-07A402D51917}" type="sibTrans" cxnId="{67BEB630-DBC9-478D-BDE6-3877F46D4823}">
      <dgm:prSet/>
      <dgm:spPr/>
      <dgm:t>
        <a:bodyPr/>
        <a:lstStyle/>
        <a:p>
          <a:endParaRPr lang="en-US"/>
        </a:p>
      </dgm:t>
    </dgm:pt>
    <dgm:pt modelId="{61E5F663-2B56-44A1-A9A8-6661AE16F9B0}">
      <dgm:prSet/>
      <dgm:spPr/>
      <dgm:t>
        <a:bodyPr/>
        <a:lstStyle/>
        <a:p>
          <a:r>
            <a:rPr lang="en-US" dirty="0"/>
            <a:t>Use </a:t>
          </a:r>
          <a:r>
            <a:rPr lang="en-US" dirty="0" err="1"/>
            <a:t>score_genes</a:t>
          </a:r>
          <a:r>
            <a:rPr lang="en-US" dirty="0"/>
            <a:t> to calculate iPSC score and Endoderm score</a:t>
          </a:r>
        </a:p>
      </dgm:t>
    </dgm:pt>
    <dgm:pt modelId="{2B2F53CD-0733-44E9-A6E6-41B510A09A20}" type="parTrans" cxnId="{789674D9-2298-4FDC-A512-36AA502A0E3F}">
      <dgm:prSet/>
      <dgm:spPr/>
      <dgm:t>
        <a:bodyPr/>
        <a:lstStyle/>
        <a:p>
          <a:endParaRPr lang="en-US"/>
        </a:p>
      </dgm:t>
    </dgm:pt>
    <dgm:pt modelId="{3EB1BB20-3AEE-4C07-A4DA-172E26779474}" type="sibTrans" cxnId="{789674D9-2298-4FDC-A512-36AA502A0E3F}">
      <dgm:prSet/>
      <dgm:spPr/>
      <dgm:t>
        <a:bodyPr/>
        <a:lstStyle/>
        <a:p>
          <a:endParaRPr lang="en-US"/>
        </a:p>
      </dgm:t>
    </dgm:pt>
    <dgm:pt modelId="{34E22BBF-545C-4651-8226-2C3D9C2F19AE}">
      <dgm:prSet/>
      <dgm:spPr/>
      <dgm:t>
        <a:bodyPr/>
        <a:lstStyle/>
        <a:p>
          <a:r>
            <a:rPr lang="en-US" dirty="0"/>
            <a:t>DE </a:t>
          </a:r>
          <a:r>
            <a:rPr lang="en-US" dirty="0" err="1"/>
            <a:t>Score_short</a:t>
          </a:r>
          <a:r>
            <a:rPr lang="en-US" dirty="0"/>
            <a:t> = Endoderm score – iPSC score </a:t>
          </a:r>
        </a:p>
      </dgm:t>
    </dgm:pt>
    <dgm:pt modelId="{DDFD85FB-F1F9-4456-9E1C-7D468DB089F8}" type="parTrans" cxnId="{735E1B62-0D8F-4A52-9125-085AEEE9442B}">
      <dgm:prSet/>
      <dgm:spPr/>
      <dgm:t>
        <a:bodyPr/>
        <a:lstStyle/>
        <a:p>
          <a:endParaRPr lang="en-US"/>
        </a:p>
      </dgm:t>
    </dgm:pt>
    <dgm:pt modelId="{45917B80-E1A9-48C9-BA13-1904F07FC72E}" type="sibTrans" cxnId="{735E1B62-0D8F-4A52-9125-085AEEE9442B}">
      <dgm:prSet/>
      <dgm:spPr/>
      <dgm:t>
        <a:bodyPr/>
        <a:lstStyle/>
        <a:p>
          <a:endParaRPr lang="en-US"/>
        </a:p>
      </dgm:t>
    </dgm:pt>
    <dgm:pt modelId="{8224705B-97AC-42D0-BC42-63FE360DA878}">
      <dgm:prSet/>
      <dgm:spPr/>
      <dgm:t>
        <a:bodyPr/>
        <a:lstStyle/>
        <a:p>
          <a:r>
            <a:rPr lang="en-US" dirty="0"/>
            <a:t>Used similar dataset (Chu et al) and found genes 10+ fold change higher in DE samples compared to iPSC samples.</a:t>
          </a:r>
        </a:p>
      </dgm:t>
    </dgm:pt>
    <dgm:pt modelId="{622A7790-EBC5-42EC-B091-53A066ECAD1A}" type="parTrans" cxnId="{872D4975-7B81-460A-9965-90142683FCFB}">
      <dgm:prSet/>
      <dgm:spPr/>
      <dgm:t>
        <a:bodyPr/>
        <a:lstStyle/>
        <a:p>
          <a:endParaRPr lang="en-US"/>
        </a:p>
      </dgm:t>
    </dgm:pt>
    <dgm:pt modelId="{E42D7087-B1F4-4C14-AADE-F584A842CB48}" type="sibTrans" cxnId="{872D4975-7B81-460A-9965-90142683FCFB}">
      <dgm:prSet/>
      <dgm:spPr/>
      <dgm:t>
        <a:bodyPr/>
        <a:lstStyle/>
        <a:p>
          <a:endParaRPr lang="en-US"/>
        </a:p>
      </dgm:t>
    </dgm:pt>
    <dgm:pt modelId="{319AAE81-0B23-41FF-8EC1-73880B2C02B7}">
      <dgm:prSet/>
      <dgm:spPr/>
      <dgm:t>
        <a:bodyPr/>
        <a:lstStyle/>
        <a:p>
          <a:r>
            <a:rPr lang="en-US" dirty="0"/>
            <a:t>Repeat with current dataset (Cuomo et al)</a:t>
          </a:r>
        </a:p>
      </dgm:t>
    </dgm:pt>
    <dgm:pt modelId="{04C693CD-1CE4-4815-BA99-DA3C785AF18D}" type="parTrans" cxnId="{3848450A-0DAB-48AE-B0C8-4E3B07AE4626}">
      <dgm:prSet/>
      <dgm:spPr/>
      <dgm:t>
        <a:bodyPr/>
        <a:lstStyle/>
        <a:p>
          <a:endParaRPr lang="en-US"/>
        </a:p>
      </dgm:t>
    </dgm:pt>
    <dgm:pt modelId="{FA788E9E-FE7C-49E5-8CF4-C878936A9B5D}" type="sibTrans" cxnId="{3848450A-0DAB-48AE-B0C8-4E3B07AE4626}">
      <dgm:prSet/>
      <dgm:spPr/>
      <dgm:t>
        <a:bodyPr/>
        <a:lstStyle/>
        <a:p>
          <a:endParaRPr lang="en-US"/>
        </a:p>
      </dgm:t>
    </dgm:pt>
    <dgm:pt modelId="{9FD94326-F80B-49E9-AF9B-814ABED31789}">
      <dgm:prSet/>
      <dgm:spPr/>
      <dgm:t>
        <a:bodyPr/>
        <a:lstStyle/>
        <a:p>
          <a:r>
            <a:rPr lang="en-US" dirty="0"/>
            <a:t>Use </a:t>
          </a:r>
          <a:r>
            <a:rPr lang="en-US" dirty="0" err="1"/>
            <a:t>score_genes</a:t>
          </a:r>
          <a:r>
            <a:rPr lang="en-US" dirty="0"/>
            <a:t> to calculate iPSC score and Endoderm score</a:t>
          </a:r>
        </a:p>
      </dgm:t>
    </dgm:pt>
    <dgm:pt modelId="{2047DD7C-CE7A-4990-B202-2A3FA25B01BD}" type="parTrans" cxnId="{E1CE5C82-4060-4791-BC93-81ECD3156B67}">
      <dgm:prSet/>
      <dgm:spPr/>
      <dgm:t>
        <a:bodyPr/>
        <a:lstStyle/>
        <a:p>
          <a:endParaRPr lang="en-US"/>
        </a:p>
      </dgm:t>
    </dgm:pt>
    <dgm:pt modelId="{56452F2E-3B07-457E-9B05-2DD86B503749}" type="sibTrans" cxnId="{E1CE5C82-4060-4791-BC93-81ECD3156B67}">
      <dgm:prSet/>
      <dgm:spPr/>
      <dgm:t>
        <a:bodyPr/>
        <a:lstStyle/>
        <a:p>
          <a:endParaRPr lang="en-US"/>
        </a:p>
      </dgm:t>
    </dgm:pt>
    <dgm:pt modelId="{5525F24E-D6C0-4F1F-A439-3F606239EB51}">
      <dgm:prSet/>
      <dgm:spPr/>
      <dgm:t>
        <a:bodyPr/>
        <a:lstStyle/>
        <a:p>
          <a:r>
            <a:rPr lang="en-US" dirty="0"/>
            <a:t>Endoderm Markers = intersection between Chu list and Cuomo list </a:t>
          </a:r>
        </a:p>
      </dgm:t>
    </dgm:pt>
    <dgm:pt modelId="{20DE6720-B5CD-43D6-A4A8-AF2F93167764}" type="parTrans" cxnId="{4D23B529-CE35-4EC2-8A91-87ADF6234274}">
      <dgm:prSet/>
      <dgm:spPr/>
      <dgm:t>
        <a:bodyPr/>
        <a:lstStyle/>
        <a:p>
          <a:endParaRPr lang="en-US"/>
        </a:p>
      </dgm:t>
    </dgm:pt>
    <dgm:pt modelId="{A3B8C248-052C-4C5E-ABE9-C3CC8697BB43}" type="sibTrans" cxnId="{4D23B529-CE35-4EC2-8A91-87ADF6234274}">
      <dgm:prSet/>
      <dgm:spPr/>
      <dgm:t>
        <a:bodyPr/>
        <a:lstStyle/>
        <a:p>
          <a:endParaRPr lang="en-US"/>
        </a:p>
      </dgm:t>
    </dgm:pt>
    <dgm:pt modelId="{ACB9F1C8-698E-43F8-9F69-8DE651E07571}">
      <dgm:prSet/>
      <dgm:spPr/>
      <dgm:t>
        <a:bodyPr/>
        <a:lstStyle/>
        <a:p>
          <a:r>
            <a:rPr lang="en-US" dirty="0"/>
            <a:t>Repeat to make iPSC Markers</a:t>
          </a:r>
        </a:p>
      </dgm:t>
    </dgm:pt>
    <dgm:pt modelId="{C045A430-F980-4757-9F1B-1F4B2D0DADD8}" type="parTrans" cxnId="{17CED9D5-1413-4454-83E0-29716F8B73FB}">
      <dgm:prSet/>
      <dgm:spPr/>
      <dgm:t>
        <a:bodyPr/>
        <a:lstStyle/>
        <a:p>
          <a:endParaRPr lang="en-US"/>
        </a:p>
      </dgm:t>
    </dgm:pt>
    <dgm:pt modelId="{DEBABB81-4E70-44FE-B7A2-2FBCA25114F9}" type="sibTrans" cxnId="{17CED9D5-1413-4454-83E0-29716F8B73FB}">
      <dgm:prSet/>
      <dgm:spPr/>
      <dgm:t>
        <a:bodyPr/>
        <a:lstStyle/>
        <a:p>
          <a:endParaRPr lang="en-US"/>
        </a:p>
      </dgm:t>
    </dgm:pt>
    <dgm:pt modelId="{07A3056A-02F0-495E-8302-527BDBBFB69B}">
      <dgm:prSet/>
      <dgm:spPr/>
      <dgm:t>
        <a:bodyPr/>
        <a:lstStyle/>
        <a:p>
          <a:r>
            <a:rPr lang="en-US" dirty="0"/>
            <a:t>DE </a:t>
          </a:r>
          <a:r>
            <a:rPr lang="en-US" dirty="0" err="1"/>
            <a:t>Score_long</a:t>
          </a:r>
          <a:r>
            <a:rPr lang="en-US" dirty="0"/>
            <a:t> = Endoderm score – iPSC score </a:t>
          </a:r>
        </a:p>
      </dgm:t>
    </dgm:pt>
    <dgm:pt modelId="{2C312814-CE34-4A0F-9B27-925CE0920E59}" type="parTrans" cxnId="{F5FB0CCC-2863-442C-B046-C0D8E1F560E1}">
      <dgm:prSet/>
      <dgm:spPr/>
      <dgm:t>
        <a:bodyPr/>
        <a:lstStyle/>
        <a:p>
          <a:endParaRPr lang="en-US"/>
        </a:p>
      </dgm:t>
    </dgm:pt>
    <dgm:pt modelId="{81417987-85CF-4485-940F-C0B7AAF576D0}" type="sibTrans" cxnId="{F5FB0CCC-2863-442C-B046-C0D8E1F560E1}">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79675B36-9E69-4DE6-AAE0-4DE9728ADF0A}" type="pres">
      <dgm:prSet presAssocID="{0D92C3CE-E075-457A-94F8-8F06D5A722CE}" presName="childText" presStyleLbl="revTx" presStyleIdx="0" presStyleCnt="3">
        <dgm:presLayoutVars>
          <dgm:bulletEnabled val="1"/>
        </dgm:presLayoutVars>
      </dgm:prSet>
      <dgm:spPr/>
    </dgm:pt>
    <dgm:pt modelId="{92EECA0C-D5C9-4DC3-8506-3271A5AD366D}" type="pres">
      <dgm:prSet presAssocID="{DC9D2DAE-B54C-454A-BED7-AA13FC46EBA7}" presName="parentText" presStyleLbl="node1" presStyleIdx="1" presStyleCnt="3">
        <dgm:presLayoutVars>
          <dgm:chMax val="0"/>
          <dgm:bulletEnabled val="1"/>
        </dgm:presLayoutVars>
      </dgm:prSet>
      <dgm:spPr/>
    </dgm:pt>
    <dgm:pt modelId="{74C9D2F3-B1DD-4AA4-974E-EF8E29DB99D7}" type="pres">
      <dgm:prSet presAssocID="{DC9D2DAE-B54C-454A-BED7-AA13FC46EBA7}" presName="childText" presStyleLbl="revTx" presStyleIdx="1" presStyleCnt="3">
        <dgm:presLayoutVars>
          <dgm:bulletEnabled val="1"/>
        </dgm:presLayoutVars>
      </dgm:prSet>
      <dgm:spPr/>
    </dgm:pt>
    <dgm:pt modelId="{D862D60E-B937-4C88-8E53-23E8503CBDF6}" type="pres">
      <dgm:prSet presAssocID="{F0E95260-F887-4F8C-A1E8-01D87DEA039F}" presName="parentText" presStyleLbl="node1" presStyleIdx="2" presStyleCnt="3">
        <dgm:presLayoutVars>
          <dgm:chMax val="0"/>
          <dgm:bulletEnabled val="1"/>
        </dgm:presLayoutVars>
      </dgm:prSet>
      <dgm:spPr/>
    </dgm:pt>
    <dgm:pt modelId="{B217D158-A011-46B0-A6E8-E60399A18328}" type="pres">
      <dgm:prSet presAssocID="{F0E95260-F887-4F8C-A1E8-01D87DEA039F}" presName="childText" presStyleLbl="revTx" presStyleIdx="2" presStyleCnt="3">
        <dgm:presLayoutVars>
          <dgm:bulletEnabled val="1"/>
        </dgm:presLayoutVars>
      </dgm:prSet>
      <dgm:spPr/>
    </dgm:pt>
  </dgm:ptLst>
  <dgm:cxnLst>
    <dgm:cxn modelId="{ACCB6204-C5C8-4209-8B33-14832F2B231C}" type="presOf" srcId="{DC9D2DAE-B54C-454A-BED7-AA13FC46EBA7}" destId="{92EECA0C-D5C9-4DC3-8506-3271A5AD366D}" srcOrd="0" destOrd="0" presId="urn:microsoft.com/office/officeart/2005/8/layout/vList2"/>
    <dgm:cxn modelId="{3848450A-0DAB-48AE-B0C8-4E3B07AE4626}" srcId="{F0E95260-F887-4F8C-A1E8-01D87DEA039F}" destId="{319AAE81-0B23-41FF-8EC1-73880B2C02B7}" srcOrd="1" destOrd="0" parTransId="{04C693CD-1CE4-4815-BA99-DA3C785AF18D}" sibTransId="{FA788E9E-FE7C-49E5-8CF4-C878936A9B5D}"/>
    <dgm:cxn modelId="{C9C2450E-D02D-4CB5-A9DC-E780B372AF76}" type="presOf" srcId="{ACB9F1C8-698E-43F8-9F69-8DE651E07571}" destId="{B217D158-A011-46B0-A6E8-E60399A18328}" srcOrd="0" destOrd="3" presId="urn:microsoft.com/office/officeart/2005/8/layout/vList2"/>
    <dgm:cxn modelId="{AB6B011D-EB61-4DF0-928C-7EBD1AAE59D8}" srcId="{7CC5621D-7729-45E2-A481-EFFD81352E17}" destId="{F0E95260-F887-4F8C-A1E8-01D87DEA039F}" srcOrd="2" destOrd="0" parTransId="{C8BA1862-432D-4703-8B54-7EE71E199980}" sibTransId="{742051FB-B7C9-485F-B4E3-C2FBF3B01722}"/>
    <dgm:cxn modelId="{95A7F025-92DF-46D9-A802-515E2EB2623C}" type="presOf" srcId="{5525F24E-D6C0-4F1F-A439-3F606239EB51}" destId="{B217D158-A011-46B0-A6E8-E60399A18328}" srcOrd="0" destOrd="2" presId="urn:microsoft.com/office/officeart/2005/8/layout/vList2"/>
    <dgm:cxn modelId="{4D23B529-CE35-4EC2-8A91-87ADF6234274}" srcId="{F0E95260-F887-4F8C-A1E8-01D87DEA039F}" destId="{5525F24E-D6C0-4F1F-A439-3F606239EB51}" srcOrd="2" destOrd="0" parTransId="{20DE6720-B5CD-43D6-A4A8-AF2F93167764}" sibTransId="{A3B8C248-052C-4C5E-ABE9-C3CC8697BB43}"/>
    <dgm:cxn modelId="{211B892E-D561-4969-8B70-E6D49B480C76}" type="presOf" srcId="{07A3056A-02F0-495E-8302-527BDBBFB69B}" destId="{B217D158-A011-46B0-A6E8-E60399A18328}" srcOrd="0" destOrd="5" presId="urn:microsoft.com/office/officeart/2005/8/layout/vList2"/>
    <dgm:cxn modelId="{67BEB630-DBC9-478D-BDE6-3877F46D4823}" srcId="{DC9D2DAE-B54C-454A-BED7-AA13FC46EBA7}" destId="{AF9D2433-C072-4449-8941-E5ADA2FB2D31}" srcOrd="0" destOrd="0" parTransId="{5D8DB81D-6571-4DC7-848A-D9AB5354C037}" sibTransId="{C56105AA-5C0B-4082-AD5F-07A402D51917}"/>
    <dgm:cxn modelId="{F276FF3D-0107-4B83-8A9B-B871F8DE91E7}" srcId="{0D92C3CE-E075-457A-94F8-8F06D5A722CE}" destId="{3BEFA7CD-A4FC-46F2-AF5C-D178880C7EDA}" srcOrd="0" destOrd="0" parTransId="{9E213682-04F8-4495-9A22-7BD6269D3298}" sibTransId="{A1B370C5-2940-4066-A9D9-BE4622E34E1E}"/>
    <dgm:cxn modelId="{23A78D5D-1ABF-4FE7-8A5F-F646070AF024}" srcId="{7CC5621D-7729-45E2-A481-EFFD81352E17}" destId="{0D92C3CE-E075-457A-94F8-8F06D5A722CE}" srcOrd="0" destOrd="0" parTransId="{0097B45C-B7C2-4B2E-BAEC-1328BA0AE240}" sibTransId="{4C74786D-BB2C-46A4-9CE8-6773DB48FAB5}"/>
    <dgm:cxn modelId="{735E1B62-0D8F-4A52-9125-085AEEE9442B}" srcId="{DC9D2DAE-B54C-454A-BED7-AA13FC46EBA7}" destId="{34E22BBF-545C-4651-8226-2C3D9C2F19AE}" srcOrd="2" destOrd="0" parTransId="{DDFD85FB-F1F9-4456-9E1C-7D468DB089F8}" sibTransId="{45917B80-E1A9-48C9-BA13-1904F07FC72E}"/>
    <dgm:cxn modelId="{2025C974-AA2F-4D12-BA85-8754B0078859}" srcId="{0D92C3CE-E075-457A-94F8-8F06D5A722CE}" destId="{93B6FD5C-170E-45F4-81A8-6CC5E75EBBB8}" srcOrd="1" destOrd="0" parTransId="{8B12A17F-0B7C-4E86-97AC-B1DF41C21E32}" sibTransId="{5B53BFC3-D179-42FF-A48F-5F9852DAF248}"/>
    <dgm:cxn modelId="{872D4975-7B81-460A-9965-90142683FCFB}" srcId="{F0E95260-F887-4F8C-A1E8-01D87DEA039F}" destId="{8224705B-97AC-42D0-BC42-63FE360DA878}" srcOrd="0" destOrd="0" parTransId="{622A7790-EBC5-42EC-B091-53A066ECAD1A}" sibTransId="{E42D7087-B1F4-4C14-AADE-F584A842CB48}"/>
    <dgm:cxn modelId="{3313FB76-4C77-462A-B9A9-0EDBD83597E3}" type="presOf" srcId="{AF9D2433-C072-4449-8941-E5ADA2FB2D31}" destId="{74C9D2F3-B1DD-4AA4-974E-EF8E29DB99D7}" srcOrd="0" destOrd="0" presId="urn:microsoft.com/office/officeart/2005/8/layout/vList2"/>
    <dgm:cxn modelId="{3AEAC077-D678-4FAF-842C-01A5E28A5ED4}" type="presOf" srcId="{93B6FD5C-170E-45F4-81A8-6CC5E75EBBB8}" destId="{79675B36-9E69-4DE6-AAE0-4DE9728ADF0A}" srcOrd="0" destOrd="1" presId="urn:microsoft.com/office/officeart/2005/8/layout/vList2"/>
    <dgm:cxn modelId="{772DAB81-C392-4AB3-A460-1B88F3D5D025}" type="presOf" srcId="{7CC5621D-7729-45E2-A481-EFFD81352E17}" destId="{DC5E7578-4DE5-4111-80B4-CCE5E4A4A60F}" srcOrd="0" destOrd="0" presId="urn:microsoft.com/office/officeart/2005/8/layout/vList2"/>
    <dgm:cxn modelId="{E1CE5C82-4060-4791-BC93-81ECD3156B67}" srcId="{F0E95260-F887-4F8C-A1E8-01D87DEA039F}" destId="{9FD94326-F80B-49E9-AF9B-814ABED31789}" srcOrd="4" destOrd="0" parTransId="{2047DD7C-CE7A-4990-B202-2A3FA25B01BD}" sibTransId="{56452F2E-3B07-457E-9B05-2DD86B503749}"/>
    <dgm:cxn modelId="{45A51B89-66A1-49AB-97FA-930A148DBD79}" srcId="{7CC5621D-7729-45E2-A481-EFFD81352E17}" destId="{DC9D2DAE-B54C-454A-BED7-AA13FC46EBA7}" srcOrd="1" destOrd="0" parTransId="{41F283FA-DF99-460C-9294-79C19BEF26F4}" sibTransId="{881CBE3C-2DBF-456E-83A7-172A26149372}"/>
    <dgm:cxn modelId="{3EA5E9A2-1D54-4035-A7D8-BE9463BC38B0}" type="presOf" srcId="{42260CE6-4572-4C15-9EC4-E38E7E5A62CC}" destId="{79675B36-9E69-4DE6-AAE0-4DE9728ADF0A}" srcOrd="0" destOrd="2" presId="urn:microsoft.com/office/officeart/2005/8/layout/vList2"/>
    <dgm:cxn modelId="{4AD33BA7-C121-4A9C-8984-01F9FC24139E}" type="presOf" srcId="{3BEFA7CD-A4FC-46F2-AF5C-D178880C7EDA}" destId="{79675B36-9E69-4DE6-AAE0-4DE9728ADF0A}" srcOrd="0" destOrd="0" presId="urn:microsoft.com/office/officeart/2005/8/layout/vList2"/>
    <dgm:cxn modelId="{F293CBB3-F074-4E2A-AA1B-51E9B64188DE}" type="presOf" srcId="{F0E95260-F887-4F8C-A1E8-01D87DEA039F}" destId="{D862D60E-B937-4C88-8E53-23E8503CBDF6}" srcOrd="0" destOrd="0" presId="urn:microsoft.com/office/officeart/2005/8/layout/vList2"/>
    <dgm:cxn modelId="{863B32BE-832E-4F09-9A38-947B94800E05}" type="presOf" srcId="{0D92C3CE-E075-457A-94F8-8F06D5A722CE}" destId="{109111CC-9235-41B8-B581-1B79ED9C122F}" srcOrd="0" destOrd="0" presId="urn:microsoft.com/office/officeart/2005/8/layout/vList2"/>
    <dgm:cxn modelId="{3A55C6C5-7B7A-4719-A0DA-2ED2B89E7C4B}" type="presOf" srcId="{34E22BBF-545C-4651-8226-2C3D9C2F19AE}" destId="{74C9D2F3-B1DD-4AA4-974E-EF8E29DB99D7}" srcOrd="0" destOrd="2" presId="urn:microsoft.com/office/officeart/2005/8/layout/vList2"/>
    <dgm:cxn modelId="{F5FB0CCC-2863-442C-B046-C0D8E1F560E1}" srcId="{F0E95260-F887-4F8C-A1E8-01D87DEA039F}" destId="{07A3056A-02F0-495E-8302-527BDBBFB69B}" srcOrd="5" destOrd="0" parTransId="{2C312814-CE34-4A0F-9B27-925CE0920E59}" sibTransId="{81417987-85CF-4485-940F-C0B7AAF576D0}"/>
    <dgm:cxn modelId="{2E6E67CF-29FC-4FB4-973E-D6DE2C99871E}" srcId="{0D92C3CE-E075-457A-94F8-8F06D5A722CE}" destId="{42260CE6-4572-4C15-9EC4-E38E7E5A62CC}" srcOrd="2" destOrd="0" parTransId="{0B8B7796-A862-4987-BD88-71566769198F}" sibTransId="{C407A584-F628-4B1E-990F-9E617950B8B0}"/>
    <dgm:cxn modelId="{17CED9D5-1413-4454-83E0-29716F8B73FB}" srcId="{F0E95260-F887-4F8C-A1E8-01D87DEA039F}" destId="{ACB9F1C8-698E-43F8-9F69-8DE651E07571}" srcOrd="3" destOrd="0" parTransId="{C045A430-F980-4757-9F1B-1F4B2D0DADD8}" sibTransId="{DEBABB81-4E70-44FE-B7A2-2FBCA25114F9}"/>
    <dgm:cxn modelId="{789674D9-2298-4FDC-A512-36AA502A0E3F}" srcId="{DC9D2DAE-B54C-454A-BED7-AA13FC46EBA7}" destId="{61E5F663-2B56-44A1-A9A8-6661AE16F9B0}" srcOrd="1" destOrd="0" parTransId="{2B2F53CD-0733-44E9-A6E6-41B510A09A20}" sibTransId="{3EB1BB20-3AEE-4C07-A4DA-172E26779474}"/>
    <dgm:cxn modelId="{7FD643E0-706D-4AC2-8D1F-DE6CE2267923}" type="presOf" srcId="{9FD94326-F80B-49E9-AF9B-814ABED31789}" destId="{B217D158-A011-46B0-A6E8-E60399A18328}" srcOrd="0" destOrd="4" presId="urn:microsoft.com/office/officeart/2005/8/layout/vList2"/>
    <dgm:cxn modelId="{B14676EC-C25A-4EF7-B6F0-70D013951180}" type="presOf" srcId="{8224705B-97AC-42D0-BC42-63FE360DA878}" destId="{B217D158-A011-46B0-A6E8-E60399A18328}" srcOrd="0" destOrd="0" presId="urn:microsoft.com/office/officeart/2005/8/layout/vList2"/>
    <dgm:cxn modelId="{243E5BF3-6DE9-4903-B396-B4C78D00F6C0}" type="presOf" srcId="{319AAE81-0B23-41FF-8EC1-73880B2C02B7}" destId="{B217D158-A011-46B0-A6E8-E60399A18328}" srcOrd="0" destOrd="1" presId="urn:microsoft.com/office/officeart/2005/8/layout/vList2"/>
    <dgm:cxn modelId="{E672FCFB-0B7A-4863-995B-24B092ABF5A2}" type="presOf" srcId="{61E5F663-2B56-44A1-A9A8-6661AE16F9B0}" destId="{74C9D2F3-B1DD-4AA4-974E-EF8E29DB99D7}" srcOrd="0" destOrd="1" presId="urn:microsoft.com/office/officeart/2005/8/layout/vList2"/>
    <dgm:cxn modelId="{F21A56C2-32AE-429E-AE38-858510700C9A}" type="presParOf" srcId="{DC5E7578-4DE5-4111-80B4-CCE5E4A4A60F}" destId="{109111CC-9235-41B8-B581-1B79ED9C122F}" srcOrd="0" destOrd="0" presId="urn:microsoft.com/office/officeart/2005/8/layout/vList2"/>
    <dgm:cxn modelId="{88AB1611-0D0B-49AF-94D7-E25800DF6800}" type="presParOf" srcId="{DC5E7578-4DE5-4111-80B4-CCE5E4A4A60F}" destId="{79675B36-9E69-4DE6-AAE0-4DE9728ADF0A}" srcOrd="1" destOrd="0" presId="urn:microsoft.com/office/officeart/2005/8/layout/vList2"/>
    <dgm:cxn modelId="{66791A1F-90AB-4552-9EA8-D93877F38D89}" type="presParOf" srcId="{DC5E7578-4DE5-4111-80B4-CCE5E4A4A60F}" destId="{92EECA0C-D5C9-4DC3-8506-3271A5AD366D}" srcOrd="2" destOrd="0" presId="urn:microsoft.com/office/officeart/2005/8/layout/vList2"/>
    <dgm:cxn modelId="{0A08D3DC-33F0-4170-B88B-3B1624E67A88}" type="presParOf" srcId="{DC5E7578-4DE5-4111-80B4-CCE5E4A4A60F}" destId="{74C9D2F3-B1DD-4AA4-974E-EF8E29DB99D7}" srcOrd="3" destOrd="0" presId="urn:microsoft.com/office/officeart/2005/8/layout/vList2"/>
    <dgm:cxn modelId="{DE8903BE-2881-40D3-9601-7E3EA4B83FCD}" type="presParOf" srcId="{DC5E7578-4DE5-4111-80B4-CCE5E4A4A60F}" destId="{D862D60E-B937-4C88-8E53-23E8503CBDF6}" srcOrd="4" destOrd="0" presId="urn:microsoft.com/office/officeart/2005/8/layout/vList2"/>
    <dgm:cxn modelId="{FE5167CE-90EC-4075-B0BA-BA4B167F1E98}" type="presParOf" srcId="{DC5E7578-4DE5-4111-80B4-CCE5E4A4A60F}" destId="{B217D158-A011-46B0-A6E8-E60399A18328}"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Select relevant data from </a:t>
          </a:r>
          <a:r>
            <a:rPr lang="en-US" dirty="0" err="1"/>
            <a:t>adata</a:t>
          </a:r>
          <a:endParaRPr lang="en-US" dirty="0"/>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Dimension Reduction</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Multiple methods of </a:t>
          </a:r>
          <a:r>
            <a:rPr lang="en-US" dirty="0" err="1"/>
            <a:t>diumension</a:t>
          </a:r>
          <a:r>
            <a:rPr lang="en-US" dirty="0"/>
            <a:t> reduction were attempted and will be discussed in the following section.</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FDFB6683-7391-407F-9AA4-06C9FB56A4B1}">
      <dgm:prSet/>
      <dgm:spPr/>
      <dgm:t>
        <a:bodyPr/>
        <a:lstStyle/>
        <a:p>
          <a:r>
            <a:rPr lang="en-US" dirty="0"/>
            <a:t>Single Cell data is too noisy for accurate predictions</a:t>
          </a:r>
        </a:p>
      </dgm:t>
    </dgm:pt>
    <dgm:pt modelId="{9E429C6F-C01B-439B-A315-A910AD3440EB}" type="parTrans" cxnId="{E279FF55-0F35-4EB9-AB2F-3F9CEB4FBEDC}">
      <dgm:prSet/>
      <dgm:spPr/>
      <dgm:t>
        <a:bodyPr/>
        <a:lstStyle/>
        <a:p>
          <a:endParaRPr lang="en-US"/>
        </a:p>
      </dgm:t>
    </dgm:pt>
    <dgm:pt modelId="{38C44ECE-1786-4EA2-AFA9-C752DB178B1E}" type="sibTrans" cxnId="{E279FF55-0F35-4EB9-AB2F-3F9CEB4FBEDC}">
      <dgm:prSet/>
      <dgm:spPr/>
      <dgm:t>
        <a:bodyPr/>
        <a:lstStyle/>
        <a:p>
          <a:endParaRPr lang="en-US"/>
        </a:p>
      </dgm:t>
    </dgm:pt>
    <dgm:pt modelId="{39580B9F-309D-4043-9FAA-15A5DC8EF8EB}">
      <dgm:prSet/>
      <dgm:spPr/>
      <dgm:t>
        <a:bodyPr/>
        <a:lstStyle/>
        <a:p>
          <a:r>
            <a:rPr lang="en-US" dirty="0"/>
            <a:t>Standard Protocol is to sum raw counts for all cells from each donor.</a:t>
          </a:r>
        </a:p>
      </dgm:t>
    </dgm:pt>
    <dgm:pt modelId="{2BB7AF4F-7F0C-4972-8363-A2C2623B9FE4}" type="parTrans" cxnId="{C6181A7C-EA9E-440D-BA22-CF5F32FE160E}">
      <dgm:prSet/>
      <dgm:spPr/>
      <dgm:t>
        <a:bodyPr/>
        <a:lstStyle/>
        <a:p>
          <a:endParaRPr lang="en-US"/>
        </a:p>
      </dgm:t>
    </dgm:pt>
    <dgm:pt modelId="{047243A0-7434-443B-8AB8-D46CE4B68AD5}" type="sibTrans" cxnId="{C6181A7C-EA9E-440D-BA22-CF5F32FE160E}">
      <dgm:prSet/>
      <dgm:spPr/>
      <dgm:t>
        <a:bodyPr/>
        <a:lstStyle/>
        <a:p>
          <a:endParaRPr lang="en-US"/>
        </a:p>
      </dgm:t>
    </dgm:pt>
    <dgm:pt modelId="{4D7D866D-CE22-46AF-A21C-B29EC435F2DA}">
      <dgm:prSet/>
      <dgm:spPr/>
      <dgm:t>
        <a:bodyPr/>
        <a:lstStyle/>
        <a:p>
          <a:r>
            <a:rPr lang="en-US" dirty="0"/>
            <a:t>Split and Normalize</a:t>
          </a:r>
        </a:p>
      </dgm:t>
    </dgm:pt>
    <dgm:pt modelId="{6EBFC232-A900-4CBD-86A2-5F1FC193048B}" type="parTrans" cxnId="{755EAB6B-C1F2-4934-8657-EE8C84BC04A7}">
      <dgm:prSet/>
      <dgm:spPr/>
      <dgm:t>
        <a:bodyPr/>
        <a:lstStyle/>
        <a:p>
          <a:endParaRPr lang="en-US"/>
        </a:p>
      </dgm:t>
    </dgm:pt>
    <dgm:pt modelId="{B8995A72-E557-403A-8A16-EC1193AD0BBA}" type="sibTrans" cxnId="{755EAB6B-C1F2-4934-8657-EE8C84BC04A7}">
      <dgm:prSet/>
      <dgm:spPr/>
      <dgm:t>
        <a:bodyPr/>
        <a:lstStyle/>
        <a:p>
          <a:endParaRPr lang="en-US"/>
        </a:p>
      </dgm:t>
    </dgm:pt>
    <dgm:pt modelId="{5FD8A53A-A096-4400-BD29-0EC44636DB0F}">
      <dgm:prSet/>
      <dgm:spPr/>
      <dgm:t>
        <a:bodyPr/>
        <a:lstStyle/>
        <a:p>
          <a:r>
            <a:rPr lang="en-US" dirty="0"/>
            <a:t>Convert to Bulk counts</a:t>
          </a:r>
        </a:p>
      </dgm:t>
    </dgm:pt>
    <dgm:pt modelId="{56FAA8C3-3260-4775-BD67-3797888AAAEC}" type="parTrans" cxnId="{1697D563-A9EF-4A32-9BD7-3E1EF12A7F18}">
      <dgm:prSet/>
      <dgm:spPr/>
      <dgm:t>
        <a:bodyPr/>
        <a:lstStyle/>
        <a:p>
          <a:endParaRPr lang="en-US"/>
        </a:p>
      </dgm:t>
    </dgm:pt>
    <dgm:pt modelId="{A04E6D48-00D5-4FC0-8839-ABAE5486A5F4}" type="sibTrans" cxnId="{1697D563-A9EF-4A32-9BD7-3E1EF12A7F18}">
      <dgm:prSet/>
      <dgm:spPr/>
      <dgm:t>
        <a:bodyPr/>
        <a:lstStyle/>
        <a:p>
          <a:endParaRPr lang="en-US"/>
        </a:p>
      </dgm:t>
    </dgm:pt>
    <dgm:pt modelId="{693D196D-F6DA-4A8B-ABDF-AD11E2E9DEE2}">
      <dgm:prSet/>
      <dgm:spPr/>
      <dgm:t>
        <a:bodyPr/>
        <a:lstStyle/>
        <a:p>
          <a:r>
            <a:rPr lang="en-US"/>
            <a:t>Separate days into four separate data frames</a:t>
          </a:r>
          <a:endParaRPr lang="en-US" dirty="0"/>
        </a:p>
      </dgm:t>
    </dgm:pt>
    <dgm:pt modelId="{5097487B-96F8-4DA7-88DA-3A42E3C9B4C3}" type="parTrans" cxnId="{F34E5440-43CE-479C-ABA8-E2A8C8E1D73E}">
      <dgm:prSet/>
      <dgm:spPr/>
      <dgm:t>
        <a:bodyPr/>
        <a:lstStyle/>
        <a:p>
          <a:endParaRPr lang="en-US"/>
        </a:p>
      </dgm:t>
    </dgm:pt>
    <dgm:pt modelId="{DEC81198-C8BD-4C0F-9E2A-1CD685957E0E}" type="sibTrans" cxnId="{F34E5440-43CE-479C-ABA8-E2A8C8E1D73E}">
      <dgm:prSet/>
      <dgm:spPr/>
      <dgm:t>
        <a:bodyPr/>
        <a:lstStyle/>
        <a:p>
          <a:endParaRPr lang="en-US"/>
        </a:p>
      </dgm:t>
    </dgm:pt>
    <dgm:pt modelId="{DEB65909-ED7A-44A0-A5DA-452C534A8D45}">
      <dgm:prSet/>
      <dgm:spPr/>
      <dgm:t>
        <a:bodyPr/>
        <a:lstStyle/>
        <a:p>
          <a:r>
            <a:rPr lang="en-US" dirty="0"/>
            <a:t>Remove cells from donors without &gt;=10 cells in both day0 and day3 (92 donors remaining)</a:t>
          </a:r>
        </a:p>
      </dgm:t>
    </dgm:pt>
    <dgm:pt modelId="{DEBBBE62-52B3-470F-BD97-F674238365CB}" type="parTrans" cxnId="{C47CADF5-FF58-41EC-AAC3-C522D06E8773}">
      <dgm:prSet/>
      <dgm:spPr/>
      <dgm:t>
        <a:bodyPr/>
        <a:lstStyle/>
        <a:p>
          <a:endParaRPr lang="en-US"/>
        </a:p>
      </dgm:t>
    </dgm:pt>
    <dgm:pt modelId="{A3CC0147-0E28-4167-8DA9-A70544096ED4}" type="sibTrans" cxnId="{C47CADF5-FF58-41EC-AAC3-C522D06E8773}">
      <dgm:prSet/>
      <dgm:spPr/>
      <dgm:t>
        <a:bodyPr/>
        <a:lstStyle/>
        <a:p>
          <a:endParaRPr lang="en-US"/>
        </a:p>
      </dgm:t>
    </dgm:pt>
    <dgm:pt modelId="{2FE26894-D8C8-46A4-9B31-DC29E17393CE}">
      <dgm:prSet/>
      <dgm:spPr/>
      <dgm:t>
        <a:bodyPr/>
        <a:lstStyle/>
        <a:p>
          <a:r>
            <a:rPr lang="en-US" dirty="0"/>
            <a:t>Model development required multiple iterations of splitting and normalizing data due to high variability within splits.</a:t>
          </a:r>
        </a:p>
      </dgm:t>
    </dgm:pt>
    <dgm:pt modelId="{20AF6216-1713-45DC-B09D-F7B6E1A9FD2D}" type="parTrans" cxnId="{F2A29484-37A7-4897-83CE-BB5F700A5F7C}">
      <dgm:prSet/>
      <dgm:spPr/>
      <dgm:t>
        <a:bodyPr/>
        <a:lstStyle/>
        <a:p>
          <a:endParaRPr lang="en-US"/>
        </a:p>
      </dgm:t>
    </dgm:pt>
    <dgm:pt modelId="{CA7C7B50-59EF-48FC-9FFE-0C1CBB37E1ED}" type="sibTrans" cxnId="{F2A29484-37A7-4897-83CE-BB5F700A5F7C}">
      <dgm:prSet/>
      <dgm:spPr/>
      <dgm:t>
        <a:bodyPr/>
        <a:lstStyle/>
        <a:p>
          <a:endParaRPr lang="en-US"/>
        </a:p>
      </dgm:t>
    </dgm:pt>
    <dgm:pt modelId="{9C97FF70-CCB0-436C-8FE1-55B02D196419}">
      <dgm:prSet/>
      <dgm:spPr/>
      <dgm:t>
        <a:bodyPr/>
        <a:lstStyle/>
        <a:p>
          <a:r>
            <a:rPr lang="en-US" dirty="0"/>
            <a:t>For each iteration, date was reduced, split and then normalized to prevent data leakage</a:t>
          </a:r>
        </a:p>
      </dgm:t>
    </dgm:pt>
    <dgm:pt modelId="{9750338C-DBC9-49CA-B07A-231612813F67}" type="parTrans" cxnId="{B60C68F8-CD09-4838-8A8A-444AB1F402BB}">
      <dgm:prSet/>
      <dgm:spPr/>
      <dgm:t>
        <a:bodyPr/>
        <a:lstStyle/>
        <a:p>
          <a:endParaRPr lang="en-US"/>
        </a:p>
      </dgm:t>
    </dgm:pt>
    <dgm:pt modelId="{EA6B4FC5-CAD6-48C0-9CDE-9FD992875CF5}" type="sibTrans" cxnId="{B60C68F8-CD09-4838-8A8A-444AB1F402BB}">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EED0CB7D-ACDA-44CD-B272-C220E247B552}" type="pres">
      <dgm:prSet presAssocID="{0D92C3CE-E075-457A-94F8-8F06D5A722CE}" presName="childText" presStyleLbl="revTx" presStyleIdx="0" presStyleCnt="3">
        <dgm:presLayoutVars>
          <dgm:bulletEnabled val="1"/>
        </dgm:presLayoutVars>
      </dgm:prSet>
      <dgm:spPr/>
    </dgm:pt>
    <dgm:pt modelId="{C2D2DECB-CB77-4F42-AB67-42310F099861}" type="pres">
      <dgm:prSet presAssocID="{5FD8A53A-A096-4400-BD29-0EC44636DB0F}" presName="parentText" presStyleLbl="node1" presStyleIdx="1" presStyleCnt="3">
        <dgm:presLayoutVars>
          <dgm:chMax val="0"/>
          <dgm:bulletEnabled val="1"/>
        </dgm:presLayoutVars>
      </dgm:prSet>
      <dgm:spPr/>
    </dgm:pt>
    <dgm:pt modelId="{D265ADA7-9C8D-4BFE-ACA7-EBF451E555F5}" type="pres">
      <dgm:prSet presAssocID="{5FD8A53A-A096-4400-BD29-0EC44636DB0F}" presName="childText" presStyleLbl="revTx" presStyleIdx="1" presStyleCnt="3">
        <dgm:presLayoutVars>
          <dgm:bulletEnabled val="1"/>
        </dgm:presLayoutVars>
      </dgm:prSet>
      <dgm:spPr/>
    </dgm:pt>
    <dgm:pt modelId="{92EECA0C-D5C9-4DC3-8506-3271A5AD366D}" type="pres">
      <dgm:prSet presAssocID="{DC9D2DAE-B54C-454A-BED7-AA13FC46EBA7}" presName="parentText" presStyleLbl="node1" presStyleIdx="2" presStyleCnt="3">
        <dgm:presLayoutVars>
          <dgm:chMax val="0"/>
          <dgm:bulletEnabled val="1"/>
        </dgm:presLayoutVars>
      </dgm:prSet>
      <dgm:spPr/>
    </dgm:pt>
    <dgm:pt modelId="{F419D63E-1F6F-4CB1-9004-4C47EB258D84}" type="pres">
      <dgm:prSet presAssocID="{DC9D2DAE-B54C-454A-BED7-AA13FC46EBA7}" presName="childText" presStyleLbl="revTx" presStyleIdx="2" presStyleCnt="3">
        <dgm:presLayoutVars>
          <dgm:bulletEnabled val="1"/>
        </dgm:presLayoutVars>
      </dgm:prSet>
      <dgm:spPr/>
    </dgm:pt>
  </dgm:ptLst>
  <dgm:cxnLst>
    <dgm:cxn modelId="{E4E74C08-24CF-4A3E-B8DE-93568654CA0C}" type="presOf" srcId="{2FE26894-D8C8-46A4-9B31-DC29E17393CE}" destId="{D265ADA7-9C8D-4BFE-ACA7-EBF451E555F5}" srcOrd="0" destOrd="3" presId="urn:microsoft.com/office/officeart/2005/8/layout/vList2"/>
    <dgm:cxn modelId="{FA345D27-A82E-485A-A9FF-CD2C16C22B61}" type="presOf" srcId="{39580B9F-309D-4043-9FAA-15A5DC8EF8EB}" destId="{D265ADA7-9C8D-4BFE-ACA7-EBF451E555F5}" srcOrd="0" destOrd="1" presId="urn:microsoft.com/office/officeart/2005/8/layout/vList2"/>
    <dgm:cxn modelId="{C19CEC2C-300F-4B2E-99BC-C4CFD58A1CAC}" type="presOf" srcId="{DEB65909-ED7A-44A0-A5DA-452C534A8D45}" destId="{EED0CB7D-ACDA-44CD-B272-C220E247B552}" srcOrd="0" destOrd="1"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A3DE065C-AD68-45AA-849A-4AC93504B255}" type="presOf" srcId="{FDFB6683-7391-407F-9AA4-06C9FB56A4B1}" destId="{D265ADA7-9C8D-4BFE-ACA7-EBF451E555F5}" srcOrd="0" destOrd="0"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1697D563-A9EF-4A32-9BD7-3E1EF12A7F18}" srcId="{7CC5621D-7729-45E2-A481-EFFD81352E17}" destId="{5FD8A53A-A096-4400-BD29-0EC44636DB0F}" srcOrd="1" destOrd="0" parTransId="{56FAA8C3-3260-4775-BD67-3797888AAAEC}" sibTransId="{A04E6D48-00D5-4FC0-8839-ABAE5486A5F4}"/>
    <dgm:cxn modelId="{32822945-A01D-4155-9482-D3CF259F12A6}" type="presOf" srcId="{5FD8A53A-A096-4400-BD29-0EC44636DB0F}" destId="{C2D2DECB-CB77-4F42-AB67-42310F099861}" srcOrd="0" destOrd="0" presId="urn:microsoft.com/office/officeart/2005/8/layout/vList2"/>
    <dgm:cxn modelId="{12607C49-727E-40E9-8581-B63E544BB567}" type="presOf" srcId="{9C97FF70-CCB0-436C-8FE1-55B02D196419}" destId="{F419D63E-1F6F-4CB1-9004-4C47EB258D84}" srcOrd="0" destOrd="1" presId="urn:microsoft.com/office/officeart/2005/8/layout/vList2"/>
    <dgm:cxn modelId="{755EAB6B-C1F2-4934-8657-EE8C84BC04A7}" srcId="{5FD8A53A-A096-4400-BD29-0EC44636DB0F}" destId="{4D7D866D-CE22-46AF-A21C-B29EC435F2DA}" srcOrd="2" destOrd="0" parTransId="{6EBFC232-A900-4CBD-86A2-5F1FC193048B}" sibTransId="{B8995A72-E557-403A-8A16-EC1193AD0BBA}"/>
    <dgm:cxn modelId="{E279FF55-0F35-4EB9-AB2F-3F9CEB4FBEDC}" srcId="{5FD8A53A-A096-4400-BD29-0EC44636DB0F}" destId="{FDFB6683-7391-407F-9AA4-06C9FB56A4B1}" srcOrd="0" destOrd="0" parTransId="{9E429C6F-C01B-439B-A315-A910AD3440EB}" sibTransId="{38C44ECE-1786-4EA2-AFA9-C752DB178B1E}"/>
    <dgm:cxn modelId="{1DD3A37B-86C6-46A4-A59B-A6F2C749EF06}" type="presOf" srcId="{4D7D866D-CE22-46AF-A21C-B29EC435F2DA}" destId="{D265ADA7-9C8D-4BFE-ACA7-EBF451E555F5}" srcOrd="0" destOrd="2" presId="urn:microsoft.com/office/officeart/2005/8/layout/vList2"/>
    <dgm:cxn modelId="{C6181A7C-EA9E-440D-BA22-CF5F32FE160E}" srcId="{5FD8A53A-A096-4400-BD29-0EC44636DB0F}" destId="{39580B9F-309D-4043-9FAA-15A5DC8EF8EB}" srcOrd="1" destOrd="0" parTransId="{2BB7AF4F-7F0C-4972-8363-A2C2623B9FE4}" sibTransId="{047243A0-7434-443B-8AB8-D46CE4B68AD5}"/>
    <dgm:cxn modelId="{772DAB81-C392-4AB3-A460-1B88F3D5D025}" type="presOf" srcId="{7CC5621D-7729-45E2-A481-EFFD81352E17}" destId="{DC5E7578-4DE5-4111-80B4-CCE5E4A4A60F}" srcOrd="0" destOrd="0" presId="urn:microsoft.com/office/officeart/2005/8/layout/vList2"/>
    <dgm:cxn modelId="{F2A29484-37A7-4897-83CE-BB5F700A5F7C}" srcId="{4D7D866D-CE22-46AF-A21C-B29EC435F2DA}" destId="{2FE26894-D8C8-46A4-9B31-DC29E17393CE}" srcOrd="0" destOrd="0" parTransId="{20AF6216-1713-45DC-B09D-F7B6E1A9FD2D}" sibTransId="{CA7C7B50-59EF-48FC-9FFE-0C1CBB37E1ED}"/>
    <dgm:cxn modelId="{A1582587-BC0F-4A4F-9AC1-9518CBBE1FE1}" type="presOf" srcId="{AA3E3B24-0C9D-4BD8-AFE6-81D67A7D9071}" destId="{F419D63E-1F6F-4CB1-9004-4C47EB258D84}" srcOrd="0" destOrd="0" presId="urn:microsoft.com/office/officeart/2005/8/layout/vList2"/>
    <dgm:cxn modelId="{45A51B89-66A1-49AB-97FA-930A148DBD79}" srcId="{7CC5621D-7729-45E2-A481-EFFD81352E17}" destId="{DC9D2DAE-B54C-454A-BED7-AA13FC46EBA7}" srcOrd="2" destOrd="0" parTransId="{41F283FA-DF99-460C-9294-79C19BEF26F4}" sibTransId="{881CBE3C-2DBF-456E-83A7-172A26149372}"/>
    <dgm:cxn modelId="{1FFD99A4-2A7E-437E-AB29-C86EA4A9B69B}" type="presOf" srcId="{0D92C3CE-E075-457A-94F8-8F06D5A722CE}" destId="{109111CC-9235-41B8-B581-1B79ED9C122F}" srcOrd="0" destOrd="0"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96EEB9CE-356D-4EEB-9849-E9D7CF71B8F6}" type="presOf" srcId="{693D196D-F6DA-4A8B-ABDF-AD11E2E9DEE2}" destId="{EED0CB7D-ACDA-44CD-B272-C220E247B552}" srcOrd="0" destOrd="0" presId="urn:microsoft.com/office/officeart/2005/8/layout/vList2"/>
    <dgm:cxn modelId="{D447C9DD-B4BB-42E0-8FB3-95BD173640C4}" type="presOf" srcId="{DC9D2DAE-B54C-454A-BED7-AA13FC46EBA7}" destId="{92EECA0C-D5C9-4DC3-8506-3271A5AD366D}" srcOrd="0" destOrd="0" presId="urn:microsoft.com/office/officeart/2005/8/layout/vList2"/>
    <dgm:cxn modelId="{C47CADF5-FF58-41EC-AAC3-C522D06E8773}" srcId="{0D92C3CE-E075-457A-94F8-8F06D5A722CE}" destId="{DEB65909-ED7A-44A0-A5DA-452C534A8D45}" srcOrd="1" destOrd="0" parTransId="{DEBBBE62-52B3-470F-BD97-F674238365CB}" sibTransId="{A3CC0147-0E28-4167-8DA9-A70544096ED4}"/>
    <dgm:cxn modelId="{B60C68F8-CD09-4838-8A8A-444AB1F402BB}" srcId="{DC9D2DAE-B54C-454A-BED7-AA13FC46EBA7}" destId="{9C97FF70-CCB0-436C-8FE1-55B02D196419}" srcOrd="1" destOrd="0" parTransId="{9750338C-DBC9-49CA-B07A-231612813F67}" sibTransId="{EA6B4FC5-CAD6-48C0-9CDE-9FD992875CF5}"/>
    <dgm:cxn modelId="{37CD544F-1983-4684-A481-6ADDDADBAA66}" type="presParOf" srcId="{DC5E7578-4DE5-4111-80B4-CCE5E4A4A60F}" destId="{109111CC-9235-41B8-B581-1B79ED9C122F}" srcOrd="0" destOrd="0" presId="urn:microsoft.com/office/officeart/2005/8/layout/vList2"/>
    <dgm:cxn modelId="{85A216A6-E821-4D2D-B3F6-40364CF42518}" type="presParOf" srcId="{DC5E7578-4DE5-4111-80B4-CCE5E4A4A60F}" destId="{EED0CB7D-ACDA-44CD-B272-C220E247B552}" srcOrd="1" destOrd="0" presId="urn:microsoft.com/office/officeart/2005/8/layout/vList2"/>
    <dgm:cxn modelId="{A6A13F55-D614-4661-8257-A6E6B8908286}" type="presParOf" srcId="{DC5E7578-4DE5-4111-80B4-CCE5E4A4A60F}" destId="{C2D2DECB-CB77-4F42-AB67-42310F099861}" srcOrd="2" destOrd="0" presId="urn:microsoft.com/office/officeart/2005/8/layout/vList2"/>
    <dgm:cxn modelId="{3700DCD1-4B8A-41E3-A235-8D3129045EB0}" type="presParOf" srcId="{DC5E7578-4DE5-4111-80B4-CCE5E4A4A60F}" destId="{D265ADA7-9C8D-4BFE-ACA7-EBF451E555F5}" srcOrd="3" destOrd="0" presId="urn:microsoft.com/office/officeart/2005/8/layout/vList2"/>
    <dgm:cxn modelId="{B1DBDED1-E6BF-4590-BAA8-6C71CF90053B}" type="presParOf" srcId="{DC5E7578-4DE5-4111-80B4-CCE5E4A4A60F}" destId="{92EECA0C-D5C9-4DC3-8506-3271A5AD366D}" srcOrd="4" destOrd="0" presId="urn:microsoft.com/office/officeart/2005/8/layout/vList2"/>
    <dgm:cxn modelId="{4561218E-C2A4-4536-8E7C-A3CA2CEC1057}" type="presParOf" srcId="{DC5E7578-4DE5-4111-80B4-CCE5E4A4A60F}" destId="{F419D63E-1F6F-4CB1-9004-4C47EB258D8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PCA</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Molecular Pathways</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Used curated gene lists from Human </a:t>
          </a:r>
          <a:r>
            <a:rPr lang="en-US" dirty="0" err="1"/>
            <a:t>MSigDB</a:t>
          </a:r>
          <a:r>
            <a:rPr lang="en-US" dirty="0"/>
            <a:t> Collections </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FDFB6683-7391-407F-9AA4-06C9FB56A4B1}">
      <dgm:prSet/>
      <dgm:spPr/>
      <dgm:t>
        <a:bodyPr/>
        <a:lstStyle/>
        <a:p>
          <a:r>
            <a:rPr lang="en-US" dirty="0"/>
            <a:t>Calculated the Spearman Coefficient for each gene relative to Pseudorank or DE Score</a:t>
          </a:r>
        </a:p>
      </dgm:t>
    </dgm:pt>
    <dgm:pt modelId="{9E429C6F-C01B-439B-A315-A910AD3440EB}" type="parTrans" cxnId="{E279FF55-0F35-4EB9-AB2F-3F9CEB4FBEDC}">
      <dgm:prSet/>
      <dgm:spPr/>
      <dgm:t>
        <a:bodyPr/>
        <a:lstStyle/>
        <a:p>
          <a:endParaRPr lang="en-US"/>
        </a:p>
      </dgm:t>
    </dgm:pt>
    <dgm:pt modelId="{38C44ECE-1786-4EA2-AFA9-C752DB178B1E}" type="sibTrans" cxnId="{E279FF55-0F35-4EB9-AB2F-3F9CEB4FBEDC}">
      <dgm:prSet/>
      <dgm:spPr/>
      <dgm:t>
        <a:bodyPr/>
        <a:lstStyle/>
        <a:p>
          <a:endParaRPr lang="en-US"/>
        </a:p>
      </dgm:t>
    </dgm:pt>
    <dgm:pt modelId="{693D196D-F6DA-4A8B-ABDF-AD11E2E9DEE2}">
      <dgm:prSet/>
      <dgm:spPr/>
      <dgm:t>
        <a:bodyPr/>
        <a:lstStyle/>
        <a:p>
          <a:r>
            <a:rPr lang="en-US" dirty="0"/>
            <a:t>Performed PCA on normalized donor counts</a:t>
          </a:r>
        </a:p>
      </dgm:t>
    </dgm:pt>
    <dgm:pt modelId="{5097487B-96F8-4DA7-88DA-3A42E3C9B4C3}" type="parTrans" cxnId="{F34E5440-43CE-479C-ABA8-E2A8C8E1D73E}">
      <dgm:prSet/>
      <dgm:spPr/>
      <dgm:t>
        <a:bodyPr/>
        <a:lstStyle/>
        <a:p>
          <a:endParaRPr lang="en-US"/>
        </a:p>
      </dgm:t>
    </dgm:pt>
    <dgm:pt modelId="{DEC81198-C8BD-4C0F-9E2A-1CD685957E0E}" type="sibTrans" cxnId="{F34E5440-43CE-479C-ABA8-E2A8C8E1D73E}">
      <dgm:prSet/>
      <dgm:spPr/>
      <dgm:t>
        <a:bodyPr/>
        <a:lstStyle/>
        <a:p>
          <a:endParaRPr lang="en-US"/>
        </a:p>
      </dgm:t>
    </dgm:pt>
    <dgm:pt modelId="{DEB65909-ED7A-44A0-A5DA-452C534A8D45}">
      <dgm:prSet/>
      <dgm:spPr/>
      <dgm:t>
        <a:bodyPr/>
        <a:lstStyle/>
        <a:p>
          <a:r>
            <a:rPr lang="en-US" dirty="0"/>
            <a:t>Collected top 10 PCs for features</a:t>
          </a:r>
        </a:p>
      </dgm:t>
    </dgm:pt>
    <dgm:pt modelId="{DEBBBE62-52B3-470F-BD97-F674238365CB}" type="parTrans" cxnId="{C47CADF5-FF58-41EC-AAC3-C522D06E8773}">
      <dgm:prSet/>
      <dgm:spPr/>
      <dgm:t>
        <a:bodyPr/>
        <a:lstStyle/>
        <a:p>
          <a:endParaRPr lang="en-US"/>
        </a:p>
      </dgm:t>
    </dgm:pt>
    <dgm:pt modelId="{A3CC0147-0E28-4167-8DA9-A70544096ED4}" type="sibTrans" cxnId="{C47CADF5-FF58-41EC-AAC3-C522D06E8773}">
      <dgm:prSet/>
      <dgm:spPr/>
      <dgm:t>
        <a:bodyPr/>
        <a:lstStyle/>
        <a:p>
          <a:endParaRPr lang="en-US"/>
        </a:p>
      </dgm:t>
    </dgm:pt>
    <dgm:pt modelId="{9C97FF70-CCB0-436C-8FE1-55B02D196419}">
      <dgm:prSet/>
      <dgm:spPr/>
      <dgm:t>
        <a:bodyPr/>
        <a:lstStyle/>
        <a:p>
          <a:r>
            <a:rPr lang="en-US" dirty="0"/>
            <a:t>For each pathways, calculated the score for each donor using the </a:t>
          </a:r>
          <a:r>
            <a:rPr lang="en-US" dirty="0" err="1"/>
            <a:t>score_genes</a:t>
          </a:r>
          <a:r>
            <a:rPr lang="en-US" dirty="0"/>
            <a:t> function</a:t>
          </a:r>
        </a:p>
      </dgm:t>
    </dgm:pt>
    <dgm:pt modelId="{9750338C-DBC9-49CA-B07A-231612813F67}" type="parTrans" cxnId="{B60C68F8-CD09-4838-8A8A-444AB1F402BB}">
      <dgm:prSet/>
      <dgm:spPr/>
      <dgm:t>
        <a:bodyPr/>
        <a:lstStyle/>
        <a:p>
          <a:endParaRPr lang="en-US"/>
        </a:p>
      </dgm:t>
    </dgm:pt>
    <dgm:pt modelId="{EA6B4FC5-CAD6-48C0-9CDE-9FD992875CF5}" type="sibTrans" cxnId="{B60C68F8-CD09-4838-8A8A-444AB1F402BB}">
      <dgm:prSet/>
      <dgm:spPr/>
      <dgm:t>
        <a:bodyPr/>
        <a:lstStyle/>
        <a:p>
          <a:endParaRPr lang="en-US"/>
        </a:p>
      </dgm:t>
    </dgm:pt>
    <dgm:pt modelId="{5FD8A53A-A096-4400-BD29-0EC44636DB0F}">
      <dgm:prSet/>
      <dgm:spPr/>
      <dgm:t>
        <a:bodyPr/>
        <a:lstStyle/>
        <a:p>
          <a:r>
            <a:rPr lang="en-US" dirty="0"/>
            <a:t>Top 100 Genes</a:t>
          </a:r>
        </a:p>
      </dgm:t>
    </dgm:pt>
    <dgm:pt modelId="{56FAA8C3-3260-4775-BD67-3797888AAAEC}" type="parTrans" cxnId="{4BCD8122-16E5-4B26-8B93-F347C1C4263F}">
      <dgm:prSet/>
      <dgm:spPr/>
      <dgm:t>
        <a:bodyPr/>
        <a:lstStyle/>
        <a:p>
          <a:endParaRPr lang="en-US"/>
        </a:p>
      </dgm:t>
    </dgm:pt>
    <dgm:pt modelId="{A04E6D48-00D5-4FC0-8839-ABAE5486A5F4}" type="sibTrans" cxnId="{4BCD8122-16E5-4B26-8B93-F347C1C4263F}">
      <dgm:prSet/>
      <dgm:spPr/>
      <dgm:t>
        <a:bodyPr/>
        <a:lstStyle/>
        <a:p>
          <a:endParaRPr lang="en-US"/>
        </a:p>
      </dgm:t>
    </dgm:pt>
    <dgm:pt modelId="{42421E2B-D526-4F24-94D4-447917A5A485}">
      <dgm:prSet/>
      <dgm:spPr/>
      <dgm:t>
        <a:bodyPr/>
        <a:lstStyle/>
        <a:p>
          <a:r>
            <a:rPr lang="en-US" dirty="0"/>
            <a:t>Find 100 genes with the highest absolute correlation</a:t>
          </a:r>
        </a:p>
      </dgm:t>
    </dgm:pt>
    <dgm:pt modelId="{945B0DA5-749A-4640-9E6F-108D6A383961}" type="parTrans" cxnId="{9F65150D-D4EF-497B-8AC4-A5B376F5F3E3}">
      <dgm:prSet/>
      <dgm:spPr/>
      <dgm:t>
        <a:bodyPr/>
        <a:lstStyle/>
        <a:p>
          <a:endParaRPr lang="en-US"/>
        </a:p>
      </dgm:t>
    </dgm:pt>
    <dgm:pt modelId="{F89B2D7A-DBF0-4CE2-9BF1-57DE6B93FC79}" type="sibTrans" cxnId="{9F65150D-D4EF-497B-8AC4-A5B376F5F3E3}">
      <dgm:prSet/>
      <dgm:spPr/>
      <dgm:t>
        <a:bodyPr/>
        <a:lstStyle/>
        <a:p>
          <a:endParaRPr lang="en-US"/>
        </a:p>
      </dgm:t>
    </dgm:pt>
    <dgm:pt modelId="{FC1F155B-AE4F-42E4-AAEE-5F6EEA508A64}">
      <dgm:prSet/>
      <dgm:spPr/>
      <dgm:t>
        <a:bodyPr/>
        <a:lstStyle/>
        <a:p>
          <a:r>
            <a:rPr lang="en-US" dirty="0"/>
            <a:t>Collect raw counts of top 100 genes in new </a:t>
          </a:r>
          <a:r>
            <a:rPr lang="en-US" dirty="0" err="1"/>
            <a:t>dataframe</a:t>
          </a:r>
          <a:r>
            <a:rPr lang="en-US" dirty="0"/>
            <a:t> for Pseudorank (</a:t>
          </a:r>
          <a:r>
            <a:rPr lang="en-US" dirty="0" err="1"/>
            <a:t>donor_rank</a:t>
          </a:r>
          <a:r>
            <a:rPr lang="en-US" dirty="0"/>
            <a:t>) and DE Score (</a:t>
          </a:r>
          <a:r>
            <a:rPr lang="en-US" dirty="0" err="1"/>
            <a:t>donor_score</a:t>
          </a:r>
          <a:r>
            <a:rPr lang="en-US" dirty="0"/>
            <a:t>)</a:t>
          </a:r>
        </a:p>
      </dgm:t>
    </dgm:pt>
    <dgm:pt modelId="{3C0EF331-4DC0-42CF-8A39-C095F54D882A}" type="parTrans" cxnId="{ACA15E5F-5F05-4407-B1A3-44CA886306D5}">
      <dgm:prSet/>
      <dgm:spPr/>
      <dgm:t>
        <a:bodyPr/>
        <a:lstStyle/>
        <a:p>
          <a:endParaRPr lang="en-US"/>
        </a:p>
      </dgm:t>
    </dgm:pt>
    <dgm:pt modelId="{0B5B2B78-79A2-4BBE-B3D9-2ABA6446616A}" type="sibTrans" cxnId="{ACA15E5F-5F05-4407-B1A3-44CA886306D5}">
      <dgm:prSet/>
      <dgm:spPr/>
      <dgm:t>
        <a:bodyPr/>
        <a:lstStyle/>
        <a:p>
          <a:endParaRPr lang="en-US"/>
        </a:p>
      </dgm:t>
    </dgm:pt>
    <dgm:pt modelId="{2834E1B0-D6F2-4713-9A39-810C39453D2F}">
      <dgm:prSet/>
      <dgm:spPr/>
      <dgm:t>
        <a:bodyPr/>
        <a:lstStyle/>
        <a:p>
          <a:r>
            <a:rPr lang="en-US" dirty="0"/>
            <a:t>Described the genes which go up in 50 different standard cell types or processes</a:t>
          </a:r>
        </a:p>
      </dgm:t>
    </dgm:pt>
    <dgm:pt modelId="{47B05AD2-AB6D-42AF-A0DD-19299F0C3C50}" type="parTrans" cxnId="{09341E5E-6B4E-4EB1-82F2-6C2AA7C3CE17}">
      <dgm:prSet/>
      <dgm:spPr/>
      <dgm:t>
        <a:bodyPr/>
        <a:lstStyle/>
        <a:p>
          <a:endParaRPr lang="en-US"/>
        </a:p>
      </dgm:t>
    </dgm:pt>
    <dgm:pt modelId="{FC43EF76-363E-4B89-88A9-4488E7BCB089}" type="sibTrans" cxnId="{09341E5E-6B4E-4EB1-82F2-6C2AA7C3CE17}">
      <dgm:prSet/>
      <dgm:spPr/>
      <dgm:t>
        <a:bodyPr/>
        <a:lstStyle/>
        <a:p>
          <a:endParaRPr lang="en-US"/>
        </a:p>
      </dgm:t>
    </dgm:pt>
    <dgm:pt modelId="{D12FE038-D198-4B8E-8B66-54F68A2D2EEC}">
      <dgm:prSet/>
      <dgm:spPr/>
      <dgm:t>
        <a:bodyPr/>
        <a:lstStyle/>
        <a:p>
          <a:r>
            <a:rPr lang="en-US" dirty="0"/>
            <a:t>Common approach to describing a cell’s state</a:t>
          </a:r>
        </a:p>
      </dgm:t>
    </dgm:pt>
    <dgm:pt modelId="{787C6519-D7C6-4A35-BABC-7C9F57A984F5}" type="parTrans" cxnId="{E6362C94-1D23-4B5B-88E7-DCB8F5DEF4DD}">
      <dgm:prSet/>
      <dgm:spPr/>
      <dgm:t>
        <a:bodyPr/>
        <a:lstStyle/>
        <a:p>
          <a:endParaRPr lang="en-US"/>
        </a:p>
      </dgm:t>
    </dgm:pt>
    <dgm:pt modelId="{8330CCEB-4498-4D1D-BC0D-1B0FCF1EB3E9}" type="sibTrans" cxnId="{E6362C94-1D23-4B5B-88E7-DCB8F5DEF4DD}">
      <dgm:prSet/>
      <dgm:spPr/>
      <dgm:t>
        <a:bodyPr/>
        <a:lstStyle/>
        <a:p>
          <a:endParaRPr lang="en-US"/>
        </a:p>
      </dgm:t>
    </dgm:pt>
    <dgm:pt modelId="{7B339512-5B6D-4799-8A47-2FBA6B0EA6B0}">
      <dgm:prSet/>
      <dgm:spPr/>
      <dgm:t>
        <a:bodyPr/>
        <a:lstStyle/>
        <a:p>
          <a:r>
            <a:rPr lang="en-US" dirty="0"/>
            <a:t>Calculated the correlation between the pathway and Pseudorank or DE score</a:t>
          </a:r>
        </a:p>
      </dgm:t>
    </dgm:pt>
    <dgm:pt modelId="{A733E4C0-7C58-4136-96FD-68B6293C15C0}" type="parTrans" cxnId="{838D172C-8A80-4DDC-900A-523D5155C577}">
      <dgm:prSet/>
      <dgm:spPr/>
      <dgm:t>
        <a:bodyPr/>
        <a:lstStyle/>
        <a:p>
          <a:endParaRPr lang="en-US"/>
        </a:p>
      </dgm:t>
    </dgm:pt>
    <dgm:pt modelId="{42B9B422-FBA5-42D5-A471-4744D8360103}" type="sibTrans" cxnId="{838D172C-8A80-4DDC-900A-523D5155C577}">
      <dgm:prSet/>
      <dgm:spPr/>
      <dgm:t>
        <a:bodyPr/>
        <a:lstStyle/>
        <a:p>
          <a:endParaRPr lang="en-US"/>
        </a:p>
      </dgm:t>
    </dgm:pt>
    <dgm:pt modelId="{E3A1C22D-DE7A-4BEB-80E4-6BBE84BB2817}">
      <dgm:prSet/>
      <dgm:spPr/>
      <dgm:t>
        <a:bodyPr/>
        <a:lstStyle/>
        <a:p>
          <a:r>
            <a:rPr lang="en-US" dirty="0"/>
            <a:t>Collected the pathways with correlations greater than 0.1 in a </a:t>
          </a:r>
          <a:r>
            <a:rPr lang="en-US" dirty="0" err="1"/>
            <a:t>dataframe</a:t>
          </a:r>
          <a:endParaRPr lang="en-US" dirty="0"/>
        </a:p>
      </dgm:t>
    </dgm:pt>
    <dgm:pt modelId="{D422E12E-3A9A-4994-8C9C-2F0AC3ABB60E}" type="parTrans" cxnId="{F1CFE700-1149-4177-9A65-5A2B73AC944D}">
      <dgm:prSet/>
      <dgm:spPr/>
      <dgm:t>
        <a:bodyPr/>
        <a:lstStyle/>
        <a:p>
          <a:endParaRPr lang="en-US"/>
        </a:p>
      </dgm:t>
    </dgm:pt>
    <dgm:pt modelId="{FB5090D5-E34E-4314-8AC5-A03F19D36A7C}" type="sibTrans" cxnId="{F1CFE700-1149-4177-9A65-5A2B73AC944D}">
      <dgm:prSet/>
      <dgm:spPr/>
      <dgm:t>
        <a:bodyPr/>
        <a:lstStyle/>
        <a:p>
          <a:endParaRPr lang="en-US"/>
        </a:p>
      </dgm:t>
    </dgm:pt>
    <dgm:pt modelId="{BB08A4FF-F6B4-424C-8EA9-8D525BB9C54B}">
      <dgm:prSet/>
      <dgm:spPr/>
      <dgm:t>
        <a:bodyPr/>
        <a:lstStyle/>
        <a:p>
          <a:r>
            <a:rPr lang="en-US"/>
            <a:t>Combined these pathways with PC1-PC10 to make the donor_pathways dataset</a:t>
          </a:r>
          <a:endParaRPr lang="en-US" dirty="0"/>
        </a:p>
      </dgm:t>
    </dgm:pt>
    <dgm:pt modelId="{CFF9D31A-A50F-4E0E-BE64-D046260BABEA}" type="parTrans" cxnId="{4671E902-9BC0-4485-B1C8-3B553A2FAF6A}">
      <dgm:prSet/>
      <dgm:spPr/>
      <dgm:t>
        <a:bodyPr/>
        <a:lstStyle/>
        <a:p>
          <a:endParaRPr lang="en-US"/>
        </a:p>
      </dgm:t>
    </dgm:pt>
    <dgm:pt modelId="{A3E739D6-B675-4D45-85FE-679E1F20F053}" type="sibTrans" cxnId="{4671E902-9BC0-4485-B1C8-3B553A2FAF6A}">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EED0CB7D-ACDA-44CD-B272-C220E247B552}" type="pres">
      <dgm:prSet presAssocID="{0D92C3CE-E075-457A-94F8-8F06D5A722CE}" presName="childText" presStyleLbl="revTx" presStyleIdx="0" presStyleCnt="3">
        <dgm:presLayoutVars>
          <dgm:bulletEnabled val="1"/>
        </dgm:presLayoutVars>
      </dgm:prSet>
      <dgm:spPr/>
    </dgm:pt>
    <dgm:pt modelId="{C2D2DECB-CB77-4F42-AB67-42310F099861}" type="pres">
      <dgm:prSet presAssocID="{5FD8A53A-A096-4400-BD29-0EC44636DB0F}" presName="parentText" presStyleLbl="node1" presStyleIdx="1" presStyleCnt="3">
        <dgm:presLayoutVars>
          <dgm:chMax val="0"/>
          <dgm:bulletEnabled val="1"/>
        </dgm:presLayoutVars>
      </dgm:prSet>
      <dgm:spPr/>
    </dgm:pt>
    <dgm:pt modelId="{D265ADA7-9C8D-4BFE-ACA7-EBF451E555F5}" type="pres">
      <dgm:prSet presAssocID="{5FD8A53A-A096-4400-BD29-0EC44636DB0F}" presName="childText" presStyleLbl="revTx" presStyleIdx="1" presStyleCnt="3">
        <dgm:presLayoutVars>
          <dgm:bulletEnabled val="1"/>
        </dgm:presLayoutVars>
      </dgm:prSet>
      <dgm:spPr/>
    </dgm:pt>
    <dgm:pt modelId="{92EECA0C-D5C9-4DC3-8506-3271A5AD366D}" type="pres">
      <dgm:prSet presAssocID="{DC9D2DAE-B54C-454A-BED7-AA13FC46EBA7}" presName="parentText" presStyleLbl="node1" presStyleIdx="2" presStyleCnt="3">
        <dgm:presLayoutVars>
          <dgm:chMax val="0"/>
          <dgm:bulletEnabled val="1"/>
        </dgm:presLayoutVars>
      </dgm:prSet>
      <dgm:spPr/>
    </dgm:pt>
    <dgm:pt modelId="{F419D63E-1F6F-4CB1-9004-4C47EB258D84}" type="pres">
      <dgm:prSet presAssocID="{DC9D2DAE-B54C-454A-BED7-AA13FC46EBA7}" presName="childText" presStyleLbl="revTx" presStyleIdx="2" presStyleCnt="3">
        <dgm:presLayoutVars>
          <dgm:bulletEnabled val="1"/>
        </dgm:presLayoutVars>
      </dgm:prSet>
      <dgm:spPr/>
    </dgm:pt>
  </dgm:ptLst>
  <dgm:cxnLst>
    <dgm:cxn modelId="{F1CFE700-1149-4177-9A65-5A2B73AC944D}" srcId="{DC9D2DAE-B54C-454A-BED7-AA13FC46EBA7}" destId="{E3A1C22D-DE7A-4BEB-80E4-6BBE84BB2817}" srcOrd="3" destOrd="0" parTransId="{D422E12E-3A9A-4994-8C9C-2F0AC3ABB60E}" sibTransId="{FB5090D5-E34E-4314-8AC5-A03F19D36A7C}"/>
    <dgm:cxn modelId="{4671E902-9BC0-4485-B1C8-3B553A2FAF6A}" srcId="{DC9D2DAE-B54C-454A-BED7-AA13FC46EBA7}" destId="{BB08A4FF-F6B4-424C-8EA9-8D525BB9C54B}" srcOrd="4" destOrd="0" parTransId="{CFF9D31A-A50F-4E0E-BE64-D046260BABEA}" sibTransId="{A3E739D6-B675-4D45-85FE-679E1F20F053}"/>
    <dgm:cxn modelId="{9F65150D-D4EF-497B-8AC4-A5B376F5F3E3}" srcId="{5FD8A53A-A096-4400-BD29-0EC44636DB0F}" destId="{42421E2B-D526-4F24-94D4-447917A5A485}" srcOrd="1" destOrd="0" parTransId="{945B0DA5-749A-4640-9E6F-108D6A383961}" sibTransId="{F89B2D7A-DBF0-4CE2-9BF1-57DE6B93FC79}"/>
    <dgm:cxn modelId="{4BCD8122-16E5-4B26-8B93-F347C1C4263F}" srcId="{7CC5621D-7729-45E2-A481-EFFD81352E17}" destId="{5FD8A53A-A096-4400-BD29-0EC44636DB0F}" srcOrd="1" destOrd="0" parTransId="{56FAA8C3-3260-4775-BD67-3797888AAAEC}" sibTransId="{A04E6D48-00D5-4FC0-8839-ABAE5486A5F4}"/>
    <dgm:cxn modelId="{BBB20A27-D9BF-4AEA-88AE-48800C963D4B}" type="presOf" srcId="{0D92C3CE-E075-457A-94F8-8F06D5A722CE}" destId="{109111CC-9235-41B8-B581-1B79ED9C122F}" srcOrd="0" destOrd="0" presId="urn:microsoft.com/office/officeart/2005/8/layout/vList2"/>
    <dgm:cxn modelId="{838D172C-8A80-4DDC-900A-523D5155C577}" srcId="{DC9D2DAE-B54C-454A-BED7-AA13FC46EBA7}" destId="{7B339512-5B6D-4799-8A47-2FBA6B0EA6B0}" srcOrd="2" destOrd="0" parTransId="{A733E4C0-7C58-4136-96FD-68B6293C15C0}" sibTransId="{42B9B422-FBA5-42D5-A471-4744D8360103}"/>
    <dgm:cxn modelId="{365E5D3B-4ED4-4A60-887F-F82F5D18F3FD}" type="presOf" srcId="{9C97FF70-CCB0-436C-8FE1-55B02D196419}" destId="{F419D63E-1F6F-4CB1-9004-4C47EB258D84}" srcOrd="0" destOrd="3"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DB5E005B-0C59-40C2-AE5A-FF1B6186918D}" type="presOf" srcId="{42421E2B-D526-4F24-94D4-447917A5A485}" destId="{D265ADA7-9C8D-4BFE-ACA7-EBF451E555F5}" srcOrd="0" destOrd="1" presId="urn:microsoft.com/office/officeart/2005/8/layout/vList2"/>
    <dgm:cxn modelId="{23A78D5D-1ABF-4FE7-8A5F-F646070AF024}" srcId="{7CC5621D-7729-45E2-A481-EFFD81352E17}" destId="{0D92C3CE-E075-457A-94F8-8F06D5A722CE}" srcOrd="0" destOrd="0" parTransId="{0097B45C-B7C2-4B2E-BAEC-1328BA0AE240}" sibTransId="{4C74786D-BB2C-46A4-9CE8-6773DB48FAB5}"/>
    <dgm:cxn modelId="{09341E5E-6B4E-4EB1-82F2-6C2AA7C3CE17}" srcId="{AA3E3B24-0C9D-4BD8-AFE6-81D67A7D9071}" destId="{2834E1B0-D6F2-4713-9A39-810C39453D2F}" srcOrd="0" destOrd="0" parTransId="{47B05AD2-AB6D-42AF-A0DD-19299F0C3C50}" sibTransId="{FC43EF76-363E-4B89-88A9-4488E7BCB089}"/>
    <dgm:cxn modelId="{ACA15E5F-5F05-4407-B1A3-44CA886306D5}" srcId="{5FD8A53A-A096-4400-BD29-0EC44636DB0F}" destId="{FC1F155B-AE4F-42E4-AAEE-5F6EEA508A64}" srcOrd="2" destOrd="0" parTransId="{3C0EF331-4DC0-42CF-8A39-C095F54D882A}" sibTransId="{0B5B2B78-79A2-4BBE-B3D9-2ABA6446616A}"/>
    <dgm:cxn modelId="{26F8F448-AF62-4171-9229-24580B032A16}" type="presOf" srcId="{7B339512-5B6D-4799-8A47-2FBA6B0EA6B0}" destId="{F419D63E-1F6F-4CB1-9004-4C47EB258D84}" srcOrd="0" destOrd="4" presId="urn:microsoft.com/office/officeart/2005/8/layout/vList2"/>
    <dgm:cxn modelId="{93922369-6212-4425-989B-2C06EC2437F9}" type="presOf" srcId="{DC9D2DAE-B54C-454A-BED7-AA13FC46EBA7}" destId="{92EECA0C-D5C9-4DC3-8506-3271A5AD366D}" srcOrd="0" destOrd="0" presId="urn:microsoft.com/office/officeart/2005/8/layout/vList2"/>
    <dgm:cxn modelId="{E279FF55-0F35-4EB9-AB2F-3F9CEB4FBEDC}" srcId="{5FD8A53A-A096-4400-BD29-0EC44636DB0F}" destId="{FDFB6683-7391-407F-9AA4-06C9FB56A4B1}" srcOrd="0" destOrd="0" parTransId="{9E429C6F-C01B-439B-A315-A910AD3440EB}" sibTransId="{38C44ECE-1786-4EA2-AFA9-C752DB178B1E}"/>
    <dgm:cxn modelId="{B771C276-D6D3-4DF8-B80A-E8AB4689C4EC}" type="presOf" srcId="{D12FE038-D198-4B8E-8B66-54F68A2D2EEC}" destId="{F419D63E-1F6F-4CB1-9004-4C47EB258D84}" srcOrd="0" destOrd="2" presId="urn:microsoft.com/office/officeart/2005/8/layout/vList2"/>
    <dgm:cxn modelId="{772DAB81-C392-4AB3-A460-1B88F3D5D025}" type="presOf" srcId="{7CC5621D-7729-45E2-A481-EFFD81352E17}" destId="{DC5E7578-4DE5-4111-80B4-CCE5E4A4A60F}" srcOrd="0" destOrd="0" presId="urn:microsoft.com/office/officeart/2005/8/layout/vList2"/>
    <dgm:cxn modelId="{45A51B89-66A1-49AB-97FA-930A148DBD79}" srcId="{7CC5621D-7729-45E2-A481-EFFD81352E17}" destId="{DC9D2DAE-B54C-454A-BED7-AA13FC46EBA7}" srcOrd="2" destOrd="0" parTransId="{41F283FA-DF99-460C-9294-79C19BEF26F4}" sibTransId="{881CBE3C-2DBF-456E-83A7-172A26149372}"/>
    <dgm:cxn modelId="{E6362C94-1D23-4B5B-88E7-DCB8F5DEF4DD}" srcId="{AA3E3B24-0C9D-4BD8-AFE6-81D67A7D9071}" destId="{D12FE038-D198-4B8E-8B66-54F68A2D2EEC}" srcOrd="1" destOrd="0" parTransId="{787C6519-D7C6-4A35-BABC-7C9F57A984F5}" sibTransId="{8330CCEB-4498-4D1D-BC0D-1B0FCF1EB3E9}"/>
    <dgm:cxn modelId="{4021F09F-B32F-4887-8F36-FBE1CDCC0DE3}" type="presOf" srcId="{FDFB6683-7391-407F-9AA4-06C9FB56A4B1}" destId="{D265ADA7-9C8D-4BFE-ACA7-EBF451E555F5}" srcOrd="0" destOrd="0" presId="urn:microsoft.com/office/officeart/2005/8/layout/vList2"/>
    <dgm:cxn modelId="{5454BBA3-5D04-4062-B0CE-EF06FAC1E50C}" type="presOf" srcId="{693D196D-F6DA-4A8B-ABDF-AD11E2E9DEE2}" destId="{EED0CB7D-ACDA-44CD-B272-C220E247B552}" srcOrd="0" destOrd="0" presId="urn:microsoft.com/office/officeart/2005/8/layout/vList2"/>
    <dgm:cxn modelId="{A94EEBA7-610D-413B-AC11-E9642D272605}" type="presOf" srcId="{DEB65909-ED7A-44A0-A5DA-452C534A8D45}" destId="{EED0CB7D-ACDA-44CD-B272-C220E247B552}" srcOrd="0" destOrd="1"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6F007CC8-9E98-44A7-B08F-A2A0267638BD}" type="presOf" srcId="{2834E1B0-D6F2-4713-9A39-810C39453D2F}" destId="{F419D63E-1F6F-4CB1-9004-4C47EB258D84}" srcOrd="0" destOrd="1" presId="urn:microsoft.com/office/officeart/2005/8/layout/vList2"/>
    <dgm:cxn modelId="{290F11D2-030C-47C9-B26F-E37AAB5241BE}" type="presOf" srcId="{E3A1C22D-DE7A-4BEB-80E4-6BBE84BB2817}" destId="{F419D63E-1F6F-4CB1-9004-4C47EB258D84}" srcOrd="0" destOrd="5" presId="urn:microsoft.com/office/officeart/2005/8/layout/vList2"/>
    <dgm:cxn modelId="{16666BD4-2B55-4F58-B00C-54C94547E860}" type="presOf" srcId="{5FD8A53A-A096-4400-BD29-0EC44636DB0F}" destId="{C2D2DECB-CB77-4F42-AB67-42310F099861}" srcOrd="0" destOrd="0" presId="urn:microsoft.com/office/officeart/2005/8/layout/vList2"/>
    <dgm:cxn modelId="{EA5FFEE6-756D-4653-BDD0-BE3E368B4AF0}" type="presOf" srcId="{AA3E3B24-0C9D-4BD8-AFE6-81D67A7D9071}" destId="{F419D63E-1F6F-4CB1-9004-4C47EB258D84}" srcOrd="0" destOrd="0" presId="urn:microsoft.com/office/officeart/2005/8/layout/vList2"/>
    <dgm:cxn modelId="{CFDA4BEE-FC3D-4D34-AFD4-9DC68E15D04F}" type="presOf" srcId="{FC1F155B-AE4F-42E4-AAEE-5F6EEA508A64}" destId="{D265ADA7-9C8D-4BFE-ACA7-EBF451E555F5}" srcOrd="0" destOrd="2" presId="urn:microsoft.com/office/officeart/2005/8/layout/vList2"/>
    <dgm:cxn modelId="{C47CADF5-FF58-41EC-AAC3-C522D06E8773}" srcId="{0D92C3CE-E075-457A-94F8-8F06D5A722CE}" destId="{DEB65909-ED7A-44A0-A5DA-452C534A8D45}" srcOrd="1" destOrd="0" parTransId="{DEBBBE62-52B3-470F-BD97-F674238365CB}" sibTransId="{A3CC0147-0E28-4167-8DA9-A70544096ED4}"/>
    <dgm:cxn modelId="{B60C68F8-CD09-4838-8A8A-444AB1F402BB}" srcId="{DC9D2DAE-B54C-454A-BED7-AA13FC46EBA7}" destId="{9C97FF70-CCB0-436C-8FE1-55B02D196419}" srcOrd="1" destOrd="0" parTransId="{9750338C-DBC9-49CA-B07A-231612813F67}" sibTransId="{EA6B4FC5-CAD6-48C0-9CDE-9FD992875CF5}"/>
    <dgm:cxn modelId="{04608EFC-83D4-4732-B408-E9018052F5FB}" type="presOf" srcId="{BB08A4FF-F6B4-424C-8EA9-8D525BB9C54B}" destId="{F419D63E-1F6F-4CB1-9004-4C47EB258D84}" srcOrd="0" destOrd="6" presId="urn:microsoft.com/office/officeart/2005/8/layout/vList2"/>
    <dgm:cxn modelId="{998C8FF2-753A-46AF-A0FD-0D2B19C8E337}" type="presParOf" srcId="{DC5E7578-4DE5-4111-80B4-CCE5E4A4A60F}" destId="{109111CC-9235-41B8-B581-1B79ED9C122F}" srcOrd="0" destOrd="0" presId="urn:microsoft.com/office/officeart/2005/8/layout/vList2"/>
    <dgm:cxn modelId="{13F0044D-6954-4132-8372-E776DB75365A}" type="presParOf" srcId="{DC5E7578-4DE5-4111-80B4-CCE5E4A4A60F}" destId="{EED0CB7D-ACDA-44CD-B272-C220E247B552}" srcOrd="1" destOrd="0" presId="urn:microsoft.com/office/officeart/2005/8/layout/vList2"/>
    <dgm:cxn modelId="{564BAFF8-CF8B-43A7-8884-B066F1D8CB26}" type="presParOf" srcId="{DC5E7578-4DE5-4111-80B4-CCE5E4A4A60F}" destId="{C2D2DECB-CB77-4F42-AB67-42310F099861}" srcOrd="2" destOrd="0" presId="urn:microsoft.com/office/officeart/2005/8/layout/vList2"/>
    <dgm:cxn modelId="{341A9195-FE06-4B23-8AEA-30B0C06244E5}" type="presParOf" srcId="{DC5E7578-4DE5-4111-80B4-CCE5E4A4A60F}" destId="{D265ADA7-9C8D-4BFE-ACA7-EBF451E555F5}" srcOrd="3" destOrd="0" presId="urn:microsoft.com/office/officeart/2005/8/layout/vList2"/>
    <dgm:cxn modelId="{DDC95BBF-BFE8-4316-99DE-23589E94FDC7}" type="presParOf" srcId="{DC5E7578-4DE5-4111-80B4-CCE5E4A4A60F}" destId="{92EECA0C-D5C9-4DC3-8506-3271A5AD366D}" srcOrd="4" destOrd="0" presId="urn:microsoft.com/office/officeart/2005/8/layout/vList2"/>
    <dgm:cxn modelId="{FFC24FD7-8C52-4FD0-801E-BBB52B142ACD}" type="presParOf" srcId="{DC5E7578-4DE5-4111-80B4-CCE5E4A4A60F}" destId="{F419D63E-1F6F-4CB1-9004-4C47EB258D84}"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custT="1"/>
      <dgm:spPr/>
      <dgm:t>
        <a:bodyPr/>
        <a:lstStyle/>
        <a:p>
          <a:r>
            <a:rPr lang="en-US" sz="2000" dirty="0"/>
            <a:t>Manual Version</a:t>
          </a:r>
        </a:p>
      </dgm:t>
    </dgm:pt>
    <dgm:pt modelId="{0097B45C-B7C2-4B2E-BAEC-1328BA0AE240}" type="parTrans" cxnId="{23A78D5D-1ABF-4FE7-8A5F-F646070AF024}">
      <dgm:prSet/>
      <dgm:spPr/>
      <dgm:t>
        <a:bodyPr/>
        <a:lstStyle/>
        <a:p>
          <a:endParaRPr lang="en-US" sz="1200"/>
        </a:p>
      </dgm:t>
    </dgm:pt>
    <dgm:pt modelId="{4C74786D-BB2C-46A4-9CE8-6773DB48FAB5}" type="sibTrans" cxnId="{23A78D5D-1ABF-4FE7-8A5F-F646070AF024}">
      <dgm:prSet/>
      <dgm:spPr/>
      <dgm:t>
        <a:bodyPr/>
        <a:lstStyle/>
        <a:p>
          <a:endParaRPr lang="en-US" sz="1200"/>
        </a:p>
      </dgm:t>
    </dgm:pt>
    <dgm:pt modelId="{FDFB6683-7391-407F-9AA4-06C9FB56A4B1}">
      <dgm:prSet custT="1"/>
      <dgm:spPr/>
      <dgm:t>
        <a:bodyPr/>
        <a:lstStyle/>
        <a:p>
          <a:r>
            <a:rPr lang="en-US" sz="1600" dirty="0"/>
            <a:t>Specific genes are selected after the train/test split.</a:t>
          </a:r>
        </a:p>
      </dgm:t>
    </dgm:pt>
    <dgm:pt modelId="{9E429C6F-C01B-439B-A315-A910AD3440EB}" type="parTrans" cxnId="{E279FF55-0F35-4EB9-AB2F-3F9CEB4FBEDC}">
      <dgm:prSet/>
      <dgm:spPr/>
      <dgm:t>
        <a:bodyPr/>
        <a:lstStyle/>
        <a:p>
          <a:endParaRPr lang="en-US" sz="1200"/>
        </a:p>
      </dgm:t>
    </dgm:pt>
    <dgm:pt modelId="{38C44ECE-1786-4EA2-AFA9-C752DB178B1E}" type="sibTrans" cxnId="{E279FF55-0F35-4EB9-AB2F-3F9CEB4FBEDC}">
      <dgm:prSet/>
      <dgm:spPr/>
      <dgm:t>
        <a:bodyPr/>
        <a:lstStyle/>
        <a:p>
          <a:endParaRPr lang="en-US" sz="1200"/>
        </a:p>
      </dgm:t>
    </dgm:pt>
    <dgm:pt modelId="{693D196D-F6DA-4A8B-ABDF-AD11E2E9DEE2}">
      <dgm:prSet custT="1"/>
      <dgm:spPr/>
      <dgm:t>
        <a:bodyPr/>
        <a:lstStyle/>
        <a:p>
          <a:r>
            <a:rPr lang="en-US" sz="1600" dirty="0"/>
            <a:t>CatBoost Regressor with default parameters</a:t>
          </a:r>
        </a:p>
      </dgm:t>
    </dgm:pt>
    <dgm:pt modelId="{5097487B-96F8-4DA7-88DA-3A42E3C9B4C3}" type="parTrans" cxnId="{F34E5440-43CE-479C-ABA8-E2A8C8E1D73E}">
      <dgm:prSet/>
      <dgm:spPr/>
      <dgm:t>
        <a:bodyPr/>
        <a:lstStyle/>
        <a:p>
          <a:endParaRPr lang="en-US" sz="1200"/>
        </a:p>
      </dgm:t>
    </dgm:pt>
    <dgm:pt modelId="{DEC81198-C8BD-4C0F-9E2A-1CD685957E0E}" type="sibTrans" cxnId="{F34E5440-43CE-479C-ABA8-E2A8C8E1D73E}">
      <dgm:prSet/>
      <dgm:spPr/>
      <dgm:t>
        <a:bodyPr/>
        <a:lstStyle/>
        <a:p>
          <a:endParaRPr lang="en-US" sz="1200"/>
        </a:p>
      </dgm:t>
    </dgm:pt>
    <dgm:pt modelId="{5FD8A53A-A096-4400-BD29-0EC44636DB0F}">
      <dgm:prSet custT="1"/>
      <dgm:spPr/>
      <dgm:t>
        <a:bodyPr/>
        <a:lstStyle/>
        <a:p>
          <a:r>
            <a:rPr lang="en-US" sz="2000" dirty="0"/>
            <a:t>Automatic Version</a:t>
          </a:r>
        </a:p>
      </dgm:t>
    </dgm:pt>
    <dgm:pt modelId="{56FAA8C3-3260-4775-BD67-3797888AAAEC}" type="parTrans" cxnId="{4BCD8122-16E5-4B26-8B93-F347C1C4263F}">
      <dgm:prSet/>
      <dgm:spPr/>
      <dgm:t>
        <a:bodyPr/>
        <a:lstStyle/>
        <a:p>
          <a:endParaRPr lang="en-US" sz="1200"/>
        </a:p>
      </dgm:t>
    </dgm:pt>
    <dgm:pt modelId="{A04E6D48-00D5-4FC0-8839-ABAE5486A5F4}" type="sibTrans" cxnId="{4BCD8122-16E5-4B26-8B93-F347C1C4263F}">
      <dgm:prSet/>
      <dgm:spPr/>
      <dgm:t>
        <a:bodyPr/>
        <a:lstStyle/>
        <a:p>
          <a:endParaRPr lang="en-US" sz="1200"/>
        </a:p>
      </dgm:t>
    </dgm:pt>
    <dgm:pt modelId="{22BE5333-929A-4DDF-AE6F-7D8E998D6991}">
      <dgm:prSet custT="1"/>
      <dgm:spPr/>
      <dgm:t>
        <a:bodyPr/>
        <a:lstStyle/>
        <a:p>
          <a:r>
            <a:rPr lang="en-US" sz="1600"/>
            <a:t>Only the top twenty-two genes are included in the training dataset</a:t>
          </a:r>
          <a:endParaRPr lang="en-US" sz="1600" dirty="0"/>
        </a:p>
      </dgm:t>
    </dgm:pt>
    <dgm:pt modelId="{066F6985-3303-4259-9C03-3508F34F4DEA}" type="parTrans" cxnId="{F099A129-4794-46BB-BA84-F9D0E9CD00CC}">
      <dgm:prSet/>
      <dgm:spPr/>
      <dgm:t>
        <a:bodyPr/>
        <a:lstStyle/>
        <a:p>
          <a:endParaRPr lang="en-US" sz="1200"/>
        </a:p>
      </dgm:t>
    </dgm:pt>
    <dgm:pt modelId="{B77F50E6-37EE-4768-B1D4-CFF13EB73CFC}" type="sibTrans" cxnId="{F099A129-4794-46BB-BA84-F9D0E9CD00CC}">
      <dgm:prSet/>
      <dgm:spPr/>
      <dgm:t>
        <a:bodyPr/>
        <a:lstStyle/>
        <a:p>
          <a:endParaRPr lang="en-US" sz="1200"/>
        </a:p>
      </dgm:t>
    </dgm:pt>
    <dgm:pt modelId="{AFA181A2-9343-4D33-AA04-B7C2874FBD2A}">
      <dgm:prSet custT="1"/>
      <dgm:spPr/>
      <dgm:t>
        <a:bodyPr/>
        <a:lstStyle/>
        <a:p>
          <a:r>
            <a:rPr lang="en-US" sz="1600" dirty="0"/>
            <a:t>Use a selector model trained on the entire dataset to determine feature importance</a:t>
          </a:r>
        </a:p>
      </dgm:t>
    </dgm:pt>
    <dgm:pt modelId="{421913B0-5A9C-4125-B79D-5C873DA836EA}" type="parTrans" cxnId="{089D4564-18ED-4228-98E1-02D692E7121E}">
      <dgm:prSet/>
      <dgm:spPr/>
      <dgm:t>
        <a:bodyPr/>
        <a:lstStyle/>
        <a:p>
          <a:endParaRPr lang="en-US" sz="1200"/>
        </a:p>
      </dgm:t>
    </dgm:pt>
    <dgm:pt modelId="{674AF968-90F5-4BC7-A23A-3A97591462EA}" type="sibTrans" cxnId="{089D4564-18ED-4228-98E1-02D692E7121E}">
      <dgm:prSet/>
      <dgm:spPr/>
      <dgm:t>
        <a:bodyPr/>
        <a:lstStyle/>
        <a:p>
          <a:endParaRPr lang="en-US" sz="1200"/>
        </a:p>
      </dgm:t>
    </dgm:pt>
    <dgm:pt modelId="{297B8AF9-2810-47FC-AD62-72C4B17A145C}">
      <dgm:prSet custT="1"/>
      <dgm:spPr/>
      <dgm:t>
        <a:bodyPr/>
        <a:lstStyle/>
        <a:p>
          <a:r>
            <a:rPr lang="en-US" sz="1600"/>
            <a:t>Select the genes with Shap Values of 0.005 or higher</a:t>
          </a:r>
          <a:endParaRPr lang="en-US" sz="1600" dirty="0"/>
        </a:p>
      </dgm:t>
    </dgm:pt>
    <dgm:pt modelId="{083EE6BA-1D67-4D81-BF08-6AB2BEEB77ED}" type="parTrans" cxnId="{0A3694F3-732F-4B6C-A2DF-B9FD8CF25B32}">
      <dgm:prSet/>
      <dgm:spPr/>
      <dgm:t>
        <a:bodyPr/>
        <a:lstStyle/>
        <a:p>
          <a:endParaRPr lang="en-US" sz="1200"/>
        </a:p>
      </dgm:t>
    </dgm:pt>
    <dgm:pt modelId="{B5F4166E-F8D4-4588-A562-80C0DA3F25C2}" type="sibTrans" cxnId="{0A3694F3-732F-4B6C-A2DF-B9FD8CF25B32}">
      <dgm:prSet/>
      <dgm:spPr/>
      <dgm:t>
        <a:bodyPr/>
        <a:lstStyle/>
        <a:p>
          <a:endParaRPr lang="en-US" sz="1200"/>
        </a:p>
      </dgm:t>
    </dgm:pt>
    <dgm:pt modelId="{41C3A03D-684E-423C-BCD5-650B0229556E}">
      <dgm:prSet custT="1"/>
      <dgm:spPr/>
      <dgm:t>
        <a:bodyPr/>
        <a:lstStyle/>
        <a:p>
          <a:r>
            <a:rPr lang="en-US" sz="1600" dirty="0"/>
            <a:t>Gene list is capped at 22 </a:t>
          </a:r>
        </a:p>
      </dgm:t>
    </dgm:pt>
    <dgm:pt modelId="{DDBD1B71-514D-4D6C-9C0E-D472FE7FFFCB}" type="parTrans" cxnId="{6F31346F-635C-403D-BCEE-F9DA6B753D25}">
      <dgm:prSet/>
      <dgm:spPr/>
      <dgm:t>
        <a:bodyPr/>
        <a:lstStyle/>
        <a:p>
          <a:endParaRPr lang="en-US" sz="1200"/>
        </a:p>
      </dgm:t>
    </dgm:pt>
    <dgm:pt modelId="{0C8DCE58-0A9C-40CE-A8A2-7CE107E40071}" type="sibTrans" cxnId="{6F31346F-635C-403D-BCEE-F9DA6B753D25}">
      <dgm:prSet/>
      <dgm:spPr/>
      <dgm:t>
        <a:bodyPr/>
        <a:lstStyle/>
        <a:p>
          <a:endParaRPr lang="en-US" sz="1200"/>
        </a:p>
      </dgm:t>
    </dgm:pt>
    <dgm:pt modelId="{5CAFA522-089C-4C30-A853-04A6D11D9523}">
      <dgm:prSet custT="1"/>
      <dgm:spPr/>
      <dgm:t>
        <a:bodyPr/>
        <a:lstStyle/>
        <a:p>
          <a:r>
            <a:rPr lang="en-US" sz="1600"/>
            <a:t>Calculate Shap Values for each gene</a:t>
          </a:r>
          <a:endParaRPr lang="en-US" sz="1600" dirty="0"/>
        </a:p>
      </dgm:t>
    </dgm:pt>
    <dgm:pt modelId="{B592A1AC-3BEF-40F5-9629-644AC7F12BAF}" type="parTrans" cxnId="{B705601B-3D69-409C-BA0D-9A1B046D89A3}">
      <dgm:prSet/>
      <dgm:spPr/>
      <dgm:t>
        <a:bodyPr/>
        <a:lstStyle/>
        <a:p>
          <a:endParaRPr lang="en-US" sz="1200"/>
        </a:p>
      </dgm:t>
    </dgm:pt>
    <dgm:pt modelId="{CF41BB4F-24FC-4FF0-AEAA-B16172F16D21}" type="sibTrans" cxnId="{B705601B-3D69-409C-BA0D-9A1B046D89A3}">
      <dgm:prSet/>
      <dgm:spPr/>
      <dgm:t>
        <a:bodyPr/>
        <a:lstStyle/>
        <a:p>
          <a:endParaRPr lang="en-US" sz="1200"/>
        </a:p>
      </dgm:t>
    </dgm:pt>
    <dgm:pt modelId="{1DBD6932-F67E-45C8-98FF-FF650B2A31AF}">
      <dgm:prSet custT="1"/>
      <dgm:spPr/>
      <dgm:t>
        <a:bodyPr/>
        <a:lstStyle/>
        <a:p>
          <a:r>
            <a:rPr lang="en-US" sz="1600"/>
            <a:t>Train a second predictor model with the selected gene list</a:t>
          </a:r>
          <a:endParaRPr lang="en-US" sz="1600" dirty="0"/>
        </a:p>
      </dgm:t>
    </dgm:pt>
    <dgm:pt modelId="{81AD98D4-480F-4715-B05E-F1E677FD7CDF}" type="parTrans" cxnId="{6D5A5E92-146C-47C3-8E9E-498C009CA5AF}">
      <dgm:prSet/>
      <dgm:spPr/>
      <dgm:t>
        <a:bodyPr/>
        <a:lstStyle/>
        <a:p>
          <a:endParaRPr lang="en-US" sz="1200"/>
        </a:p>
      </dgm:t>
    </dgm:pt>
    <dgm:pt modelId="{F34D80EC-8A72-478C-8819-DD25C361DE63}" type="sibTrans" cxnId="{6D5A5E92-146C-47C3-8E9E-498C009CA5AF}">
      <dgm:prSet/>
      <dgm:spPr/>
      <dgm:t>
        <a:bodyPr/>
        <a:lstStyle/>
        <a:p>
          <a:endParaRPr lang="en-US" sz="1200"/>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2" custLinFactNeighborY="-7568">
        <dgm:presLayoutVars>
          <dgm:chMax val="0"/>
          <dgm:bulletEnabled val="1"/>
        </dgm:presLayoutVars>
      </dgm:prSet>
      <dgm:spPr/>
    </dgm:pt>
    <dgm:pt modelId="{EED0CB7D-ACDA-44CD-B272-C220E247B552}" type="pres">
      <dgm:prSet presAssocID="{0D92C3CE-E075-457A-94F8-8F06D5A722CE}" presName="childText" presStyleLbl="revTx" presStyleIdx="0" presStyleCnt="2">
        <dgm:presLayoutVars>
          <dgm:bulletEnabled val="1"/>
        </dgm:presLayoutVars>
      </dgm:prSet>
      <dgm:spPr/>
    </dgm:pt>
    <dgm:pt modelId="{C2D2DECB-CB77-4F42-AB67-42310F099861}" type="pres">
      <dgm:prSet presAssocID="{5FD8A53A-A096-4400-BD29-0EC44636DB0F}" presName="parentText" presStyleLbl="node1" presStyleIdx="1" presStyleCnt="2">
        <dgm:presLayoutVars>
          <dgm:chMax val="0"/>
          <dgm:bulletEnabled val="1"/>
        </dgm:presLayoutVars>
      </dgm:prSet>
      <dgm:spPr/>
    </dgm:pt>
    <dgm:pt modelId="{D265ADA7-9C8D-4BFE-ACA7-EBF451E555F5}" type="pres">
      <dgm:prSet presAssocID="{5FD8A53A-A096-4400-BD29-0EC44636DB0F}" presName="childText" presStyleLbl="revTx" presStyleIdx="1" presStyleCnt="2">
        <dgm:presLayoutVars>
          <dgm:bulletEnabled val="1"/>
        </dgm:presLayoutVars>
      </dgm:prSet>
      <dgm:spPr/>
    </dgm:pt>
  </dgm:ptLst>
  <dgm:cxnLst>
    <dgm:cxn modelId="{9162BA10-9976-4F0C-B164-8ECCBFFA36E8}" type="presOf" srcId="{22BE5333-929A-4DDF-AE6F-7D8E998D6991}" destId="{EED0CB7D-ACDA-44CD-B272-C220E247B552}" srcOrd="0" destOrd="1" presId="urn:microsoft.com/office/officeart/2005/8/layout/vList2"/>
    <dgm:cxn modelId="{B705601B-3D69-409C-BA0D-9A1B046D89A3}" srcId="{5FD8A53A-A096-4400-BD29-0EC44636DB0F}" destId="{5CAFA522-089C-4C30-A853-04A6D11D9523}" srcOrd="2" destOrd="0" parTransId="{B592A1AC-3BEF-40F5-9629-644AC7F12BAF}" sibTransId="{CF41BB4F-24FC-4FF0-AEAA-B16172F16D21}"/>
    <dgm:cxn modelId="{4BCD8122-16E5-4B26-8B93-F347C1C4263F}" srcId="{7CC5621D-7729-45E2-A481-EFFD81352E17}" destId="{5FD8A53A-A096-4400-BD29-0EC44636DB0F}" srcOrd="1" destOrd="0" parTransId="{56FAA8C3-3260-4775-BD67-3797888AAAEC}" sibTransId="{A04E6D48-00D5-4FC0-8839-ABAE5486A5F4}"/>
    <dgm:cxn modelId="{BF0B7529-9F64-4616-A5A9-DF133705820B}" type="presOf" srcId="{693D196D-F6DA-4A8B-ABDF-AD11E2E9DEE2}" destId="{EED0CB7D-ACDA-44CD-B272-C220E247B552}" srcOrd="0" destOrd="0" presId="urn:microsoft.com/office/officeart/2005/8/layout/vList2"/>
    <dgm:cxn modelId="{F099A129-4794-46BB-BA84-F9D0E9CD00CC}" srcId="{0D92C3CE-E075-457A-94F8-8F06D5A722CE}" destId="{22BE5333-929A-4DDF-AE6F-7D8E998D6991}" srcOrd="1" destOrd="0" parTransId="{066F6985-3303-4259-9C03-3508F34F4DEA}" sibTransId="{B77F50E6-37EE-4768-B1D4-CFF13EB73CFC}"/>
    <dgm:cxn modelId="{1BBF3E31-B342-4A66-A45E-61ABC287C287}" type="presOf" srcId="{5CAFA522-089C-4C30-A853-04A6D11D9523}" destId="{D265ADA7-9C8D-4BFE-ACA7-EBF451E555F5}" srcOrd="0" destOrd="2" presId="urn:microsoft.com/office/officeart/2005/8/layout/vList2"/>
    <dgm:cxn modelId="{F34E5440-43CE-479C-ABA8-E2A8C8E1D73E}" srcId="{0D92C3CE-E075-457A-94F8-8F06D5A722CE}" destId="{693D196D-F6DA-4A8B-ABDF-AD11E2E9DEE2}" srcOrd="0" destOrd="0" parTransId="{5097487B-96F8-4DA7-88DA-3A42E3C9B4C3}" sibTransId="{DEC81198-C8BD-4C0F-9E2A-1CD685957E0E}"/>
    <dgm:cxn modelId="{23A78D5D-1ABF-4FE7-8A5F-F646070AF024}" srcId="{7CC5621D-7729-45E2-A481-EFFD81352E17}" destId="{0D92C3CE-E075-457A-94F8-8F06D5A722CE}" srcOrd="0" destOrd="0" parTransId="{0097B45C-B7C2-4B2E-BAEC-1328BA0AE240}" sibTransId="{4C74786D-BB2C-46A4-9CE8-6773DB48FAB5}"/>
    <dgm:cxn modelId="{86AFD043-E093-41EB-9111-284BF6BAE2B5}" type="presOf" srcId="{FDFB6683-7391-407F-9AA4-06C9FB56A4B1}" destId="{D265ADA7-9C8D-4BFE-ACA7-EBF451E555F5}" srcOrd="0" destOrd="0" presId="urn:microsoft.com/office/officeart/2005/8/layout/vList2"/>
    <dgm:cxn modelId="{089D4564-18ED-4228-98E1-02D692E7121E}" srcId="{5FD8A53A-A096-4400-BD29-0EC44636DB0F}" destId="{AFA181A2-9343-4D33-AA04-B7C2874FBD2A}" srcOrd="1" destOrd="0" parTransId="{421913B0-5A9C-4125-B79D-5C873DA836EA}" sibTransId="{674AF968-90F5-4BC7-A23A-3A97591462EA}"/>
    <dgm:cxn modelId="{501D1665-2CF6-43FB-9FF2-6E96B0592E4E}" type="presOf" srcId="{1DBD6932-F67E-45C8-98FF-FF650B2A31AF}" destId="{D265ADA7-9C8D-4BFE-ACA7-EBF451E555F5}" srcOrd="0" destOrd="5" presId="urn:microsoft.com/office/officeart/2005/8/layout/vList2"/>
    <dgm:cxn modelId="{6F31346F-635C-403D-BCEE-F9DA6B753D25}" srcId="{5FD8A53A-A096-4400-BD29-0EC44636DB0F}" destId="{41C3A03D-684E-423C-BCD5-650B0229556E}" srcOrd="4" destOrd="0" parTransId="{DDBD1B71-514D-4D6C-9C0E-D472FE7FFFCB}" sibTransId="{0C8DCE58-0A9C-40CE-A8A2-7CE107E40071}"/>
    <dgm:cxn modelId="{422EF951-6C5D-4CF8-9EE9-6CED625C2516}" type="presOf" srcId="{AFA181A2-9343-4D33-AA04-B7C2874FBD2A}" destId="{D265ADA7-9C8D-4BFE-ACA7-EBF451E555F5}" srcOrd="0" destOrd="1" presId="urn:microsoft.com/office/officeart/2005/8/layout/vList2"/>
    <dgm:cxn modelId="{E279FF55-0F35-4EB9-AB2F-3F9CEB4FBEDC}" srcId="{5FD8A53A-A096-4400-BD29-0EC44636DB0F}" destId="{FDFB6683-7391-407F-9AA4-06C9FB56A4B1}" srcOrd="0" destOrd="0" parTransId="{9E429C6F-C01B-439B-A315-A910AD3440EB}" sibTransId="{38C44ECE-1786-4EA2-AFA9-C752DB178B1E}"/>
    <dgm:cxn modelId="{03B0B25A-B7E6-4A9C-B9E2-3C50E712C21E}" type="presOf" srcId="{41C3A03D-684E-423C-BCD5-650B0229556E}" destId="{D265ADA7-9C8D-4BFE-ACA7-EBF451E555F5}" srcOrd="0" destOrd="4" presId="urn:microsoft.com/office/officeart/2005/8/layout/vList2"/>
    <dgm:cxn modelId="{772DAB81-C392-4AB3-A460-1B88F3D5D025}" type="presOf" srcId="{7CC5621D-7729-45E2-A481-EFFD81352E17}" destId="{DC5E7578-4DE5-4111-80B4-CCE5E4A4A60F}" srcOrd="0" destOrd="0" presId="urn:microsoft.com/office/officeart/2005/8/layout/vList2"/>
    <dgm:cxn modelId="{2911218D-5390-499C-BE39-6437FA5DDEF5}" type="presOf" srcId="{297B8AF9-2810-47FC-AD62-72C4B17A145C}" destId="{D265ADA7-9C8D-4BFE-ACA7-EBF451E555F5}" srcOrd="0" destOrd="3" presId="urn:microsoft.com/office/officeart/2005/8/layout/vList2"/>
    <dgm:cxn modelId="{AEDEE08D-FB3E-4394-A787-3F59A2569FA9}" type="presOf" srcId="{0D92C3CE-E075-457A-94F8-8F06D5A722CE}" destId="{109111CC-9235-41B8-B581-1B79ED9C122F}" srcOrd="0" destOrd="0" presId="urn:microsoft.com/office/officeart/2005/8/layout/vList2"/>
    <dgm:cxn modelId="{6D5A5E92-146C-47C3-8E9E-498C009CA5AF}" srcId="{5FD8A53A-A096-4400-BD29-0EC44636DB0F}" destId="{1DBD6932-F67E-45C8-98FF-FF650B2A31AF}" srcOrd="5" destOrd="0" parTransId="{81AD98D4-480F-4715-B05E-F1E677FD7CDF}" sibTransId="{F34D80EC-8A72-478C-8819-DD25C361DE63}"/>
    <dgm:cxn modelId="{01BB0DC5-3215-498D-880F-65EF6AF7582C}" type="presOf" srcId="{5FD8A53A-A096-4400-BD29-0EC44636DB0F}" destId="{C2D2DECB-CB77-4F42-AB67-42310F099861}" srcOrd="0" destOrd="0" presId="urn:microsoft.com/office/officeart/2005/8/layout/vList2"/>
    <dgm:cxn modelId="{0A3694F3-732F-4B6C-A2DF-B9FD8CF25B32}" srcId="{5FD8A53A-A096-4400-BD29-0EC44636DB0F}" destId="{297B8AF9-2810-47FC-AD62-72C4B17A145C}" srcOrd="3" destOrd="0" parTransId="{083EE6BA-1D67-4D81-BF08-6AB2BEEB77ED}" sibTransId="{B5F4166E-F8D4-4588-A562-80C0DA3F25C2}"/>
    <dgm:cxn modelId="{6E87BBE8-B11A-4791-91BC-C30F727A6EE0}" type="presParOf" srcId="{DC5E7578-4DE5-4111-80B4-CCE5E4A4A60F}" destId="{109111CC-9235-41B8-B581-1B79ED9C122F}" srcOrd="0" destOrd="0" presId="urn:microsoft.com/office/officeart/2005/8/layout/vList2"/>
    <dgm:cxn modelId="{C8099E25-7B0A-4669-BD69-1B3DBB571C02}" type="presParOf" srcId="{DC5E7578-4DE5-4111-80B4-CCE5E4A4A60F}" destId="{EED0CB7D-ACDA-44CD-B272-C220E247B552}" srcOrd="1" destOrd="0" presId="urn:microsoft.com/office/officeart/2005/8/layout/vList2"/>
    <dgm:cxn modelId="{E12D9223-9855-4B72-AFED-057C327ADF56}" type="presParOf" srcId="{DC5E7578-4DE5-4111-80B4-CCE5E4A4A60F}" destId="{C2D2DECB-CB77-4F42-AB67-42310F099861}" srcOrd="2" destOrd="0" presId="urn:microsoft.com/office/officeart/2005/8/layout/vList2"/>
    <dgm:cxn modelId="{C7815833-79E6-4AA7-8091-47E80541F186}" type="presParOf" srcId="{DC5E7578-4DE5-4111-80B4-CCE5E4A4A60F}" destId="{D265ADA7-9C8D-4BFE-ACA7-EBF451E555F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CC5621D-7729-45E2-A481-EFFD81352E17}"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0D92C3CE-E075-457A-94F8-8F06D5A722CE}">
      <dgm:prSet/>
      <dgm:spPr/>
      <dgm:t>
        <a:bodyPr/>
        <a:lstStyle/>
        <a:p>
          <a:r>
            <a:rPr lang="en-US" dirty="0"/>
            <a:t>Validate on Similar Datasets</a:t>
          </a:r>
        </a:p>
      </dgm:t>
    </dgm:pt>
    <dgm:pt modelId="{0097B45C-B7C2-4B2E-BAEC-1328BA0AE240}" type="parTrans" cxnId="{23A78D5D-1ABF-4FE7-8A5F-F646070AF024}">
      <dgm:prSet/>
      <dgm:spPr/>
      <dgm:t>
        <a:bodyPr/>
        <a:lstStyle/>
        <a:p>
          <a:endParaRPr lang="en-US"/>
        </a:p>
      </dgm:t>
    </dgm:pt>
    <dgm:pt modelId="{4C74786D-BB2C-46A4-9CE8-6773DB48FAB5}" type="sibTrans" cxnId="{23A78D5D-1ABF-4FE7-8A5F-F646070AF024}">
      <dgm:prSet/>
      <dgm:spPr/>
      <dgm:t>
        <a:bodyPr/>
        <a:lstStyle/>
        <a:p>
          <a:endParaRPr lang="en-US"/>
        </a:p>
      </dgm:t>
    </dgm:pt>
    <dgm:pt modelId="{DC9D2DAE-B54C-454A-BED7-AA13FC46EBA7}">
      <dgm:prSet/>
      <dgm:spPr/>
      <dgm:t>
        <a:bodyPr/>
        <a:lstStyle/>
        <a:p>
          <a:r>
            <a:rPr lang="en-US" dirty="0"/>
            <a:t>Clone Selection in Cell Therapy Development</a:t>
          </a:r>
        </a:p>
      </dgm:t>
    </dgm:pt>
    <dgm:pt modelId="{41F283FA-DF99-460C-9294-79C19BEF26F4}" type="parTrans" cxnId="{45A51B89-66A1-49AB-97FA-930A148DBD79}">
      <dgm:prSet/>
      <dgm:spPr/>
      <dgm:t>
        <a:bodyPr/>
        <a:lstStyle/>
        <a:p>
          <a:endParaRPr lang="en-US"/>
        </a:p>
      </dgm:t>
    </dgm:pt>
    <dgm:pt modelId="{881CBE3C-2DBF-456E-83A7-172A26149372}" type="sibTrans" cxnId="{45A51B89-66A1-49AB-97FA-930A148DBD79}">
      <dgm:prSet/>
      <dgm:spPr/>
      <dgm:t>
        <a:bodyPr/>
        <a:lstStyle/>
        <a:p>
          <a:endParaRPr lang="en-US"/>
        </a:p>
      </dgm:t>
    </dgm:pt>
    <dgm:pt modelId="{AA3E3B24-0C9D-4BD8-AFE6-81D67A7D9071}">
      <dgm:prSet/>
      <dgm:spPr/>
      <dgm:t>
        <a:bodyPr/>
        <a:lstStyle/>
        <a:p>
          <a:r>
            <a:rPr lang="en-US" dirty="0"/>
            <a:t>Cell types relevant to cell therapies include:</a:t>
          </a:r>
        </a:p>
      </dgm:t>
    </dgm:pt>
    <dgm:pt modelId="{8BD96E91-EFD3-4E63-8D97-AB2FA4909BFE}" type="parTrans" cxnId="{F32E16AC-EB31-42FB-81D4-03306E0D817E}">
      <dgm:prSet/>
      <dgm:spPr/>
      <dgm:t>
        <a:bodyPr/>
        <a:lstStyle/>
        <a:p>
          <a:endParaRPr lang="en-US"/>
        </a:p>
      </dgm:t>
    </dgm:pt>
    <dgm:pt modelId="{88931243-ACD7-456F-BF22-83B6C9632572}" type="sibTrans" cxnId="{F32E16AC-EB31-42FB-81D4-03306E0D817E}">
      <dgm:prSet/>
      <dgm:spPr/>
      <dgm:t>
        <a:bodyPr/>
        <a:lstStyle/>
        <a:p>
          <a:endParaRPr lang="en-US"/>
        </a:p>
      </dgm:t>
    </dgm:pt>
    <dgm:pt modelId="{2E30E7CB-F104-4345-A74D-8FF5F8CDCE8F}">
      <dgm:prSet/>
      <dgm:spPr/>
      <dgm:t>
        <a:bodyPr/>
        <a:lstStyle/>
        <a:p>
          <a:r>
            <a:rPr lang="en-US" dirty="0"/>
            <a:t>In Vivo Result Prediction</a:t>
          </a:r>
        </a:p>
      </dgm:t>
    </dgm:pt>
    <dgm:pt modelId="{9CBF3CDB-B707-4054-9C87-E7EA8B0746D8}" type="parTrans" cxnId="{752FC911-BC3F-43F1-99A2-DDB8F0C61163}">
      <dgm:prSet/>
      <dgm:spPr/>
      <dgm:t>
        <a:bodyPr/>
        <a:lstStyle/>
        <a:p>
          <a:endParaRPr lang="en-US"/>
        </a:p>
      </dgm:t>
    </dgm:pt>
    <dgm:pt modelId="{B538B7E4-0EC3-49E5-8F52-E9D22AA2FC27}" type="sibTrans" cxnId="{752FC911-BC3F-43F1-99A2-DDB8F0C61163}">
      <dgm:prSet/>
      <dgm:spPr/>
      <dgm:t>
        <a:bodyPr/>
        <a:lstStyle/>
        <a:p>
          <a:endParaRPr lang="en-US"/>
        </a:p>
      </dgm:t>
    </dgm:pt>
    <dgm:pt modelId="{17661852-D3AC-4E3D-885C-7C7F716C0753}">
      <dgm:prSet/>
      <dgm:spPr/>
      <dgm:t>
        <a:bodyPr/>
        <a:lstStyle/>
        <a:p>
          <a:r>
            <a:rPr lang="en-US" dirty="0"/>
            <a:t>Correlating iPSC clone data with results from animal studies. </a:t>
          </a:r>
        </a:p>
      </dgm:t>
    </dgm:pt>
    <dgm:pt modelId="{DD05BF43-9D7D-47C4-BA85-C6BCF0AEE6C1}" type="parTrans" cxnId="{3C930818-D37A-44F7-9E4B-4A550CAB73C9}">
      <dgm:prSet/>
      <dgm:spPr/>
      <dgm:t>
        <a:bodyPr/>
        <a:lstStyle/>
        <a:p>
          <a:endParaRPr lang="en-US"/>
        </a:p>
      </dgm:t>
    </dgm:pt>
    <dgm:pt modelId="{D46FB76E-0B48-42D0-88BB-D7D3A0ACEF87}" type="sibTrans" cxnId="{3C930818-D37A-44F7-9E4B-4A550CAB73C9}">
      <dgm:prSet/>
      <dgm:spPr/>
      <dgm:t>
        <a:bodyPr/>
        <a:lstStyle/>
        <a:p>
          <a:endParaRPr lang="en-US"/>
        </a:p>
      </dgm:t>
    </dgm:pt>
    <dgm:pt modelId="{5BF31C32-FF6C-498D-9B5B-05EAC5821EF9}">
      <dgm:prSet/>
      <dgm:spPr/>
      <dgm:t>
        <a:bodyPr/>
        <a:lstStyle/>
        <a:p>
          <a:r>
            <a:rPr lang="en-US" i="1" dirty="0"/>
            <a:t>“Single-cell RNA-seq reveals novel regulators of human embryonic stem cell differentiation to definitive endoderm”</a:t>
          </a:r>
        </a:p>
      </dgm:t>
    </dgm:pt>
    <dgm:pt modelId="{ABA55F0F-FC54-4F90-9907-EFABC74460BD}" type="parTrans" cxnId="{DEA24CDF-BE36-4E08-A9D9-7745A9311E6A}">
      <dgm:prSet/>
      <dgm:spPr/>
      <dgm:t>
        <a:bodyPr/>
        <a:lstStyle/>
        <a:p>
          <a:endParaRPr lang="en-US"/>
        </a:p>
      </dgm:t>
    </dgm:pt>
    <dgm:pt modelId="{8D75C657-0198-49FA-B93F-CA8203A57E2A}" type="sibTrans" cxnId="{DEA24CDF-BE36-4E08-A9D9-7745A9311E6A}">
      <dgm:prSet/>
      <dgm:spPr/>
      <dgm:t>
        <a:bodyPr/>
        <a:lstStyle/>
        <a:p>
          <a:endParaRPr lang="en-US"/>
        </a:p>
      </dgm:t>
    </dgm:pt>
    <dgm:pt modelId="{2330F4B5-3E9F-4D0C-BD2F-ADF63C122F3E}">
      <dgm:prSet/>
      <dgm:spPr/>
      <dgm:t>
        <a:bodyPr/>
        <a:lstStyle/>
        <a:p>
          <a:r>
            <a:rPr lang="en-US" i="1" dirty="0"/>
            <a:t>“Population-scale single-cell RNA-seq profiling across dopaminergic neuron differentiation”</a:t>
          </a:r>
        </a:p>
      </dgm:t>
    </dgm:pt>
    <dgm:pt modelId="{8A684BDE-3E5A-4E0D-9BC5-1A37F2A43725}" type="parTrans" cxnId="{F107A00B-A276-46EA-A2D5-D3626F445A56}">
      <dgm:prSet/>
      <dgm:spPr/>
      <dgm:t>
        <a:bodyPr/>
        <a:lstStyle/>
        <a:p>
          <a:endParaRPr lang="en-US"/>
        </a:p>
      </dgm:t>
    </dgm:pt>
    <dgm:pt modelId="{FB8720C7-0B80-4ED1-B3BE-E772BBD27E58}" type="sibTrans" cxnId="{F107A00B-A276-46EA-A2D5-D3626F445A56}">
      <dgm:prSet/>
      <dgm:spPr/>
      <dgm:t>
        <a:bodyPr/>
        <a:lstStyle/>
        <a:p>
          <a:endParaRPr lang="en-US"/>
        </a:p>
      </dgm:t>
    </dgm:pt>
    <dgm:pt modelId="{CC2A3458-616D-4797-A6F1-6921D28FE74C}">
      <dgm:prSet/>
      <dgm:spPr/>
      <dgm:t>
        <a:bodyPr/>
        <a:lstStyle/>
        <a:p>
          <a:r>
            <a:rPr lang="en-US" dirty="0"/>
            <a:t>These are two examples of similar datasets on which this approach could be tested and improved.</a:t>
          </a:r>
        </a:p>
      </dgm:t>
    </dgm:pt>
    <dgm:pt modelId="{DDA24F5F-334C-4FD9-886C-FBDCEB50759B}" type="parTrans" cxnId="{F9A39684-5566-43F5-A63A-7532D73101DC}">
      <dgm:prSet/>
      <dgm:spPr/>
      <dgm:t>
        <a:bodyPr/>
        <a:lstStyle/>
        <a:p>
          <a:endParaRPr lang="en-US"/>
        </a:p>
      </dgm:t>
    </dgm:pt>
    <dgm:pt modelId="{C3A4C20E-97EE-4C70-A3CE-04E8164A1A6D}" type="sibTrans" cxnId="{F9A39684-5566-43F5-A63A-7532D73101DC}">
      <dgm:prSet/>
      <dgm:spPr/>
      <dgm:t>
        <a:bodyPr/>
        <a:lstStyle/>
        <a:p>
          <a:endParaRPr lang="en-US"/>
        </a:p>
      </dgm:t>
    </dgm:pt>
    <dgm:pt modelId="{C9E78249-C75D-4EC1-8AFD-A223B3DBB697}">
      <dgm:prSet/>
      <dgm:spPr/>
      <dgm:t>
        <a:bodyPr/>
        <a:lstStyle/>
        <a:p>
          <a:pPr>
            <a:buFont typeface="+mj-lt"/>
            <a:buAutoNum type="arabicPeriod"/>
          </a:pPr>
          <a:r>
            <a:rPr lang="en-US" dirty="0"/>
            <a:t>Determine the target variable</a:t>
          </a:r>
        </a:p>
      </dgm:t>
    </dgm:pt>
    <dgm:pt modelId="{B3BC0B33-C7D9-4F6F-986C-E085FB0CB3BD}" type="parTrans" cxnId="{CB551EF1-57DE-4A8E-9049-EEE39999B8DB}">
      <dgm:prSet/>
      <dgm:spPr/>
      <dgm:t>
        <a:bodyPr/>
        <a:lstStyle/>
        <a:p>
          <a:endParaRPr lang="en-US"/>
        </a:p>
      </dgm:t>
    </dgm:pt>
    <dgm:pt modelId="{BBE5EFE0-0FD6-4DE2-AD04-32297B2FFB60}" type="sibTrans" cxnId="{CB551EF1-57DE-4A8E-9049-EEE39999B8DB}">
      <dgm:prSet/>
      <dgm:spPr/>
      <dgm:t>
        <a:bodyPr/>
        <a:lstStyle/>
        <a:p>
          <a:endParaRPr lang="en-US"/>
        </a:p>
      </dgm:t>
    </dgm:pt>
    <dgm:pt modelId="{6FAFCAED-B915-4B79-9841-2DE093510A18}">
      <dgm:prSet/>
      <dgm:spPr/>
      <dgm:t>
        <a:bodyPr/>
        <a:lstStyle/>
        <a:p>
          <a:pPr>
            <a:buFont typeface="+mj-lt"/>
            <a:buAutoNum type="arabicPeriod"/>
          </a:pPr>
          <a:r>
            <a:rPr lang="en-US" dirty="0"/>
            <a:t>Test predictions with MAE and donor ranking as metrics.</a:t>
          </a:r>
        </a:p>
      </dgm:t>
    </dgm:pt>
    <dgm:pt modelId="{0AAC394B-A5F4-4302-9B1B-722A69E14B4D}" type="parTrans" cxnId="{77FA12A1-3074-4DDD-B56B-646E3B7501E8}">
      <dgm:prSet/>
      <dgm:spPr/>
      <dgm:t>
        <a:bodyPr/>
        <a:lstStyle/>
        <a:p>
          <a:endParaRPr lang="en-US"/>
        </a:p>
      </dgm:t>
    </dgm:pt>
    <dgm:pt modelId="{749E3F4E-56CE-4EC5-8108-99A6BBA2AE5D}" type="sibTrans" cxnId="{77FA12A1-3074-4DDD-B56B-646E3B7501E8}">
      <dgm:prSet/>
      <dgm:spPr/>
      <dgm:t>
        <a:bodyPr/>
        <a:lstStyle/>
        <a:p>
          <a:endParaRPr lang="en-US"/>
        </a:p>
      </dgm:t>
    </dgm:pt>
    <dgm:pt modelId="{F766DAD1-12B1-4733-BA99-1BA5AE62BF71}">
      <dgm:prSet/>
      <dgm:spPr/>
      <dgm:t>
        <a:bodyPr/>
        <a:lstStyle/>
        <a:p>
          <a:pPr>
            <a:buFont typeface="+mj-lt"/>
            <a:buAutoNum type="arabicPeriod"/>
          </a:pPr>
          <a:r>
            <a:rPr lang="en-US" dirty="0"/>
            <a:t>Convert single-cell data to bulk counts if necessary.</a:t>
          </a:r>
        </a:p>
      </dgm:t>
    </dgm:pt>
    <dgm:pt modelId="{4D3F3AAF-D1AF-4876-9C2B-09B1BDAA752E}" type="parTrans" cxnId="{55649C1D-118F-4FAB-9784-F91D5C0E99F1}">
      <dgm:prSet/>
      <dgm:spPr/>
      <dgm:t>
        <a:bodyPr/>
        <a:lstStyle/>
        <a:p>
          <a:endParaRPr lang="en-US"/>
        </a:p>
      </dgm:t>
    </dgm:pt>
    <dgm:pt modelId="{1A464C00-F812-4BD6-A7D5-05B6292C7D9D}" type="sibTrans" cxnId="{55649C1D-118F-4FAB-9784-F91D5C0E99F1}">
      <dgm:prSet/>
      <dgm:spPr/>
      <dgm:t>
        <a:bodyPr/>
        <a:lstStyle/>
        <a:p>
          <a:endParaRPr lang="en-US"/>
        </a:p>
      </dgm:t>
    </dgm:pt>
    <dgm:pt modelId="{ADF403C3-0995-4A82-8D44-B7BB2D24B570}">
      <dgm:prSet/>
      <dgm:spPr/>
      <dgm:t>
        <a:bodyPr/>
        <a:lstStyle/>
        <a:p>
          <a:pPr>
            <a:buFont typeface="+mj-lt"/>
            <a:buAutoNum type="arabicPeriod"/>
          </a:pPr>
          <a:r>
            <a:rPr lang="en-US" dirty="0"/>
            <a:t>Use the CatBoost Regressor run on the to pick the top 20-25 genes.</a:t>
          </a:r>
        </a:p>
      </dgm:t>
    </dgm:pt>
    <dgm:pt modelId="{AE5F6C59-FF2C-459F-9528-2F0421180971}" type="parTrans" cxnId="{CB603917-2ECF-45B7-932C-180B10ED545E}">
      <dgm:prSet/>
      <dgm:spPr/>
      <dgm:t>
        <a:bodyPr/>
        <a:lstStyle/>
        <a:p>
          <a:endParaRPr lang="en-US"/>
        </a:p>
      </dgm:t>
    </dgm:pt>
    <dgm:pt modelId="{57822A00-E5D6-41D6-BEE0-6EB106983C22}" type="sibTrans" cxnId="{CB603917-2ECF-45B7-932C-180B10ED545E}">
      <dgm:prSet/>
      <dgm:spPr/>
      <dgm:t>
        <a:bodyPr/>
        <a:lstStyle/>
        <a:p>
          <a:endParaRPr lang="en-US"/>
        </a:p>
      </dgm:t>
    </dgm:pt>
    <dgm:pt modelId="{F1960C5B-19BE-4333-BABB-E051A8C2E220}">
      <dgm:prSet/>
      <dgm:spPr/>
      <dgm:t>
        <a:bodyPr/>
        <a:lstStyle/>
        <a:p>
          <a:pPr>
            <a:buFont typeface="+mj-lt"/>
            <a:buAutoNum type="arabicPeriod"/>
          </a:pPr>
          <a:r>
            <a:rPr lang="en-US" dirty="0"/>
            <a:t>Train the model with the top genes.</a:t>
          </a:r>
        </a:p>
      </dgm:t>
    </dgm:pt>
    <dgm:pt modelId="{BA97D715-7BD5-47BB-9E39-59075D406B5E}" type="parTrans" cxnId="{D94FD459-43E6-44AF-9ABB-68CCDB563AC0}">
      <dgm:prSet/>
      <dgm:spPr/>
      <dgm:t>
        <a:bodyPr/>
        <a:lstStyle/>
        <a:p>
          <a:endParaRPr lang="en-US"/>
        </a:p>
      </dgm:t>
    </dgm:pt>
    <dgm:pt modelId="{0788CE63-8BB1-4F59-A37C-34CE4EE6E2F6}" type="sibTrans" cxnId="{D94FD459-43E6-44AF-9ABB-68CCDB563AC0}">
      <dgm:prSet/>
      <dgm:spPr/>
      <dgm:t>
        <a:bodyPr/>
        <a:lstStyle/>
        <a:p>
          <a:endParaRPr lang="en-US"/>
        </a:p>
      </dgm:t>
    </dgm:pt>
    <dgm:pt modelId="{87141C93-8B55-4184-9C0D-B7C242688869}">
      <dgm:prSet/>
      <dgm:spPr/>
      <dgm:t>
        <a:bodyPr/>
        <a:lstStyle/>
        <a:p>
          <a:r>
            <a:rPr lang="en-US" dirty="0"/>
            <a:t>Neurons for treating neurodegenerative diseases</a:t>
          </a:r>
        </a:p>
      </dgm:t>
    </dgm:pt>
    <dgm:pt modelId="{8DB954B9-41E5-457F-8FDF-BAC3401DC111}" type="parTrans" cxnId="{6F7C9836-538E-4EF7-93AA-27818EDA637B}">
      <dgm:prSet/>
      <dgm:spPr/>
      <dgm:t>
        <a:bodyPr/>
        <a:lstStyle/>
        <a:p>
          <a:endParaRPr lang="en-US"/>
        </a:p>
      </dgm:t>
    </dgm:pt>
    <dgm:pt modelId="{2440855C-638B-498E-8967-55761A75AE6A}" type="sibTrans" cxnId="{6F7C9836-538E-4EF7-93AA-27818EDA637B}">
      <dgm:prSet/>
      <dgm:spPr/>
      <dgm:t>
        <a:bodyPr/>
        <a:lstStyle/>
        <a:p>
          <a:endParaRPr lang="en-US"/>
        </a:p>
      </dgm:t>
    </dgm:pt>
    <dgm:pt modelId="{692AD7E8-5D9B-4ECE-9683-FF438DB7D27B}">
      <dgm:prSet/>
      <dgm:spPr/>
      <dgm:t>
        <a:bodyPr/>
        <a:lstStyle/>
        <a:p>
          <a:r>
            <a:rPr lang="en-US" dirty="0"/>
            <a:t>Immune cells for treating cancers or autoimmune diseases</a:t>
          </a:r>
        </a:p>
      </dgm:t>
    </dgm:pt>
    <dgm:pt modelId="{16142AE7-7FAA-4F53-88D1-53BEB374E7C7}" type="parTrans" cxnId="{67F8B13E-6FF8-40F3-B1E9-6F487F1312DE}">
      <dgm:prSet/>
      <dgm:spPr/>
      <dgm:t>
        <a:bodyPr/>
        <a:lstStyle/>
        <a:p>
          <a:endParaRPr lang="en-US"/>
        </a:p>
      </dgm:t>
    </dgm:pt>
    <dgm:pt modelId="{5A280CE6-C6D1-4388-8913-9BF17CDAA94A}" type="sibTrans" cxnId="{67F8B13E-6FF8-40F3-B1E9-6F487F1312DE}">
      <dgm:prSet/>
      <dgm:spPr/>
      <dgm:t>
        <a:bodyPr/>
        <a:lstStyle/>
        <a:p>
          <a:endParaRPr lang="en-US"/>
        </a:p>
      </dgm:t>
    </dgm:pt>
    <dgm:pt modelId="{05832898-A082-4406-A078-3A376BA812F9}">
      <dgm:prSet/>
      <dgm:spPr/>
      <dgm:t>
        <a:bodyPr/>
        <a:lstStyle/>
        <a:p>
          <a:r>
            <a:rPr lang="en-US" dirty="0"/>
            <a:t>Beta islet cells for treating diabetes</a:t>
          </a:r>
        </a:p>
      </dgm:t>
    </dgm:pt>
    <dgm:pt modelId="{0DC6516C-C4C4-4E61-96E2-851804AF70EF}" type="parTrans" cxnId="{D7447AF6-A764-45EE-B9FD-913EC030422B}">
      <dgm:prSet/>
      <dgm:spPr/>
      <dgm:t>
        <a:bodyPr/>
        <a:lstStyle/>
        <a:p>
          <a:endParaRPr lang="en-US"/>
        </a:p>
      </dgm:t>
    </dgm:pt>
    <dgm:pt modelId="{464008F1-D46A-4154-BC32-02513FD430AC}" type="sibTrans" cxnId="{D7447AF6-A764-45EE-B9FD-913EC030422B}">
      <dgm:prSet/>
      <dgm:spPr/>
      <dgm:t>
        <a:bodyPr/>
        <a:lstStyle/>
        <a:p>
          <a:endParaRPr lang="en-US"/>
        </a:p>
      </dgm:t>
    </dgm:pt>
    <dgm:pt modelId="{2ED3EBCC-1698-4AA4-A29C-6757D9EA8E31}">
      <dgm:prSet/>
      <dgm:spPr/>
      <dgm:t>
        <a:bodyPr/>
        <a:lstStyle/>
        <a:p>
          <a:r>
            <a:rPr lang="en-US" dirty="0"/>
            <a:t>The model could be used to better understand the features which impact iPSC clone performance</a:t>
          </a:r>
        </a:p>
      </dgm:t>
    </dgm:pt>
    <dgm:pt modelId="{947CABC4-1405-4184-8FAD-936F590D2C43}" type="parTrans" cxnId="{4BF9FF73-53CE-4FC5-AD4C-333EDD8651EE}">
      <dgm:prSet/>
      <dgm:spPr/>
      <dgm:t>
        <a:bodyPr/>
        <a:lstStyle/>
        <a:p>
          <a:endParaRPr lang="en-US"/>
        </a:p>
      </dgm:t>
    </dgm:pt>
    <dgm:pt modelId="{C4ABEB8C-A99A-4796-83AE-529558B41796}" type="sibTrans" cxnId="{4BF9FF73-53CE-4FC5-AD4C-333EDD8651EE}">
      <dgm:prSet/>
      <dgm:spPr/>
      <dgm:t>
        <a:bodyPr/>
        <a:lstStyle/>
        <a:p>
          <a:endParaRPr lang="en-US"/>
        </a:p>
      </dgm:t>
    </dgm:pt>
    <dgm:pt modelId="{DC5E7578-4DE5-4111-80B4-CCE5E4A4A60F}" type="pres">
      <dgm:prSet presAssocID="{7CC5621D-7729-45E2-A481-EFFD81352E17}" presName="linear" presStyleCnt="0">
        <dgm:presLayoutVars>
          <dgm:animLvl val="lvl"/>
          <dgm:resizeHandles val="exact"/>
        </dgm:presLayoutVars>
      </dgm:prSet>
      <dgm:spPr/>
    </dgm:pt>
    <dgm:pt modelId="{109111CC-9235-41B8-B581-1B79ED9C122F}" type="pres">
      <dgm:prSet presAssocID="{0D92C3CE-E075-457A-94F8-8F06D5A722CE}" presName="parentText" presStyleLbl="node1" presStyleIdx="0" presStyleCnt="3">
        <dgm:presLayoutVars>
          <dgm:chMax val="0"/>
          <dgm:bulletEnabled val="1"/>
        </dgm:presLayoutVars>
      </dgm:prSet>
      <dgm:spPr/>
    </dgm:pt>
    <dgm:pt modelId="{2028A981-BE80-42AE-A175-EF14A7AB8C6C}" type="pres">
      <dgm:prSet presAssocID="{0D92C3CE-E075-457A-94F8-8F06D5A722CE}" presName="childText" presStyleLbl="revTx" presStyleIdx="0" presStyleCnt="3">
        <dgm:presLayoutVars>
          <dgm:bulletEnabled val="1"/>
        </dgm:presLayoutVars>
      </dgm:prSet>
      <dgm:spPr/>
    </dgm:pt>
    <dgm:pt modelId="{92EECA0C-D5C9-4DC3-8506-3271A5AD366D}" type="pres">
      <dgm:prSet presAssocID="{DC9D2DAE-B54C-454A-BED7-AA13FC46EBA7}" presName="parentText" presStyleLbl="node1" presStyleIdx="1" presStyleCnt="3">
        <dgm:presLayoutVars>
          <dgm:chMax val="0"/>
          <dgm:bulletEnabled val="1"/>
        </dgm:presLayoutVars>
      </dgm:prSet>
      <dgm:spPr/>
    </dgm:pt>
    <dgm:pt modelId="{F419D63E-1F6F-4CB1-9004-4C47EB258D84}" type="pres">
      <dgm:prSet presAssocID="{DC9D2DAE-B54C-454A-BED7-AA13FC46EBA7}" presName="childText" presStyleLbl="revTx" presStyleIdx="1" presStyleCnt="3">
        <dgm:presLayoutVars>
          <dgm:bulletEnabled val="1"/>
        </dgm:presLayoutVars>
      </dgm:prSet>
      <dgm:spPr/>
    </dgm:pt>
    <dgm:pt modelId="{52B0E5FD-CC11-4EE4-8181-914946DAB15A}" type="pres">
      <dgm:prSet presAssocID="{2E30E7CB-F104-4345-A74D-8FF5F8CDCE8F}" presName="parentText" presStyleLbl="node1" presStyleIdx="2" presStyleCnt="3">
        <dgm:presLayoutVars>
          <dgm:chMax val="0"/>
          <dgm:bulletEnabled val="1"/>
        </dgm:presLayoutVars>
      </dgm:prSet>
      <dgm:spPr/>
    </dgm:pt>
    <dgm:pt modelId="{E0E71B88-D1F6-4CD5-9748-3B4AF3FC9570}" type="pres">
      <dgm:prSet presAssocID="{2E30E7CB-F104-4345-A74D-8FF5F8CDCE8F}" presName="childText" presStyleLbl="revTx" presStyleIdx="2" presStyleCnt="3">
        <dgm:presLayoutVars>
          <dgm:bulletEnabled val="1"/>
        </dgm:presLayoutVars>
      </dgm:prSet>
      <dgm:spPr/>
    </dgm:pt>
  </dgm:ptLst>
  <dgm:cxnLst>
    <dgm:cxn modelId="{21DF4706-6CCE-427E-B45C-219C72AB828D}" type="presOf" srcId="{ADF403C3-0995-4A82-8D44-B7BB2D24B570}" destId="{2028A981-BE80-42AE-A175-EF14A7AB8C6C}" srcOrd="0" destOrd="5" presId="urn:microsoft.com/office/officeart/2005/8/layout/vList2"/>
    <dgm:cxn modelId="{89463A08-422B-41D1-8664-88C32CCEC981}" type="presOf" srcId="{2330F4B5-3E9F-4D0C-BD2F-ADF63C122F3E}" destId="{2028A981-BE80-42AE-A175-EF14A7AB8C6C}" srcOrd="0" destOrd="1" presId="urn:microsoft.com/office/officeart/2005/8/layout/vList2"/>
    <dgm:cxn modelId="{F107A00B-A276-46EA-A2D5-D3626F445A56}" srcId="{0D92C3CE-E075-457A-94F8-8F06D5A722CE}" destId="{2330F4B5-3E9F-4D0C-BD2F-ADF63C122F3E}" srcOrd="1" destOrd="0" parTransId="{8A684BDE-3E5A-4E0D-9BC5-1A37F2A43725}" sibTransId="{FB8720C7-0B80-4ED1-B3BE-E772BBD27E58}"/>
    <dgm:cxn modelId="{752FC911-BC3F-43F1-99A2-DDB8F0C61163}" srcId="{7CC5621D-7729-45E2-A481-EFFD81352E17}" destId="{2E30E7CB-F104-4345-A74D-8FF5F8CDCE8F}" srcOrd="2" destOrd="0" parTransId="{9CBF3CDB-B707-4054-9C87-E7EA8B0746D8}" sibTransId="{B538B7E4-0EC3-49E5-8F52-E9D22AA2FC27}"/>
    <dgm:cxn modelId="{CB603917-2ECF-45B7-932C-180B10ED545E}" srcId="{CC2A3458-616D-4797-A6F1-6921D28FE74C}" destId="{ADF403C3-0995-4A82-8D44-B7BB2D24B570}" srcOrd="2" destOrd="0" parTransId="{AE5F6C59-FF2C-459F-9528-2F0421180971}" sibTransId="{57822A00-E5D6-41D6-BEE0-6EB106983C22}"/>
    <dgm:cxn modelId="{3C930818-D37A-44F7-9E4B-4A550CAB73C9}" srcId="{2E30E7CB-F104-4345-A74D-8FF5F8CDCE8F}" destId="{17661852-D3AC-4E3D-885C-7C7F716C0753}" srcOrd="0" destOrd="0" parTransId="{DD05BF43-9D7D-47C4-BA85-C6BCF0AEE6C1}" sibTransId="{D46FB76E-0B48-42D0-88BB-D7D3A0ACEF87}"/>
    <dgm:cxn modelId="{55649C1D-118F-4FAB-9784-F91D5C0E99F1}" srcId="{CC2A3458-616D-4797-A6F1-6921D28FE74C}" destId="{F766DAD1-12B1-4733-BA99-1BA5AE62BF71}" srcOrd="1" destOrd="0" parTransId="{4D3F3AAF-D1AF-4876-9C2B-09B1BDAA752E}" sibTransId="{1A464C00-F812-4BD6-A7D5-05B6292C7D9D}"/>
    <dgm:cxn modelId="{67877126-890C-425F-961F-E978A6B8A2D0}" type="presOf" srcId="{F766DAD1-12B1-4733-BA99-1BA5AE62BF71}" destId="{2028A981-BE80-42AE-A175-EF14A7AB8C6C}" srcOrd="0" destOrd="4" presId="urn:microsoft.com/office/officeart/2005/8/layout/vList2"/>
    <dgm:cxn modelId="{F4929828-D246-49B0-A2A6-3E74D9E31269}" type="presOf" srcId="{6FAFCAED-B915-4B79-9841-2DE093510A18}" destId="{2028A981-BE80-42AE-A175-EF14A7AB8C6C}" srcOrd="0" destOrd="7" presId="urn:microsoft.com/office/officeart/2005/8/layout/vList2"/>
    <dgm:cxn modelId="{6F7C9836-538E-4EF7-93AA-27818EDA637B}" srcId="{AA3E3B24-0C9D-4BD8-AFE6-81D67A7D9071}" destId="{87141C93-8B55-4184-9C0D-B7C242688869}" srcOrd="0" destOrd="0" parTransId="{8DB954B9-41E5-457F-8FDF-BAC3401DC111}" sibTransId="{2440855C-638B-498E-8967-55761A75AE6A}"/>
    <dgm:cxn modelId="{89C79439-9157-4214-BB04-3C44C44B4301}" type="presOf" srcId="{CC2A3458-616D-4797-A6F1-6921D28FE74C}" destId="{2028A981-BE80-42AE-A175-EF14A7AB8C6C}" srcOrd="0" destOrd="2" presId="urn:microsoft.com/office/officeart/2005/8/layout/vList2"/>
    <dgm:cxn modelId="{567DE839-DAF8-4B58-8960-2ADFF5376A52}" type="presOf" srcId="{AA3E3B24-0C9D-4BD8-AFE6-81D67A7D9071}" destId="{F419D63E-1F6F-4CB1-9004-4C47EB258D84}" srcOrd="0" destOrd="0" presId="urn:microsoft.com/office/officeart/2005/8/layout/vList2"/>
    <dgm:cxn modelId="{67F8B13E-6FF8-40F3-B1E9-6F487F1312DE}" srcId="{AA3E3B24-0C9D-4BD8-AFE6-81D67A7D9071}" destId="{692AD7E8-5D9B-4ECE-9683-FF438DB7D27B}" srcOrd="1" destOrd="0" parTransId="{16142AE7-7FAA-4F53-88D1-53BEB374E7C7}" sibTransId="{5A280CE6-C6D1-4388-8913-9BF17CDAA94A}"/>
    <dgm:cxn modelId="{23A78D5D-1ABF-4FE7-8A5F-F646070AF024}" srcId="{7CC5621D-7729-45E2-A481-EFFD81352E17}" destId="{0D92C3CE-E075-457A-94F8-8F06D5A722CE}" srcOrd="0" destOrd="0" parTransId="{0097B45C-B7C2-4B2E-BAEC-1328BA0AE240}" sibTransId="{4C74786D-BB2C-46A4-9CE8-6773DB48FAB5}"/>
    <dgm:cxn modelId="{9D053A49-E7FF-4DA1-9A6E-84EEC2F42FCA}" type="presOf" srcId="{692AD7E8-5D9B-4ECE-9683-FF438DB7D27B}" destId="{F419D63E-1F6F-4CB1-9004-4C47EB258D84}" srcOrd="0" destOrd="2" presId="urn:microsoft.com/office/officeart/2005/8/layout/vList2"/>
    <dgm:cxn modelId="{4BF9FF73-53CE-4FC5-AD4C-333EDD8651EE}" srcId="{2E30E7CB-F104-4345-A74D-8FF5F8CDCE8F}" destId="{2ED3EBCC-1698-4AA4-A29C-6757D9EA8E31}" srcOrd="1" destOrd="0" parTransId="{947CABC4-1405-4184-8FAD-936F590D2C43}" sibTransId="{C4ABEB8C-A99A-4796-83AE-529558B41796}"/>
    <dgm:cxn modelId="{2CF1D576-C7AE-49C3-BEDA-D53A8766287F}" type="presOf" srcId="{17661852-D3AC-4E3D-885C-7C7F716C0753}" destId="{E0E71B88-D1F6-4CD5-9748-3B4AF3FC9570}" srcOrd="0" destOrd="0" presId="urn:microsoft.com/office/officeart/2005/8/layout/vList2"/>
    <dgm:cxn modelId="{D94FD459-43E6-44AF-9ABB-68CCDB563AC0}" srcId="{CC2A3458-616D-4797-A6F1-6921D28FE74C}" destId="{F1960C5B-19BE-4333-BABB-E051A8C2E220}" srcOrd="3" destOrd="0" parTransId="{BA97D715-7BD5-47BB-9E39-59075D406B5E}" sibTransId="{0788CE63-8BB1-4F59-A37C-34CE4EE6E2F6}"/>
    <dgm:cxn modelId="{772DAB81-C392-4AB3-A460-1B88F3D5D025}" type="presOf" srcId="{7CC5621D-7729-45E2-A481-EFFD81352E17}" destId="{DC5E7578-4DE5-4111-80B4-CCE5E4A4A60F}" srcOrd="0" destOrd="0" presId="urn:microsoft.com/office/officeart/2005/8/layout/vList2"/>
    <dgm:cxn modelId="{F9A39684-5566-43F5-A63A-7532D73101DC}" srcId="{0D92C3CE-E075-457A-94F8-8F06D5A722CE}" destId="{CC2A3458-616D-4797-A6F1-6921D28FE74C}" srcOrd="2" destOrd="0" parTransId="{DDA24F5F-334C-4FD9-886C-FBDCEB50759B}" sibTransId="{C3A4C20E-97EE-4C70-A3CE-04E8164A1A6D}"/>
    <dgm:cxn modelId="{45A51B89-66A1-49AB-97FA-930A148DBD79}" srcId="{7CC5621D-7729-45E2-A481-EFFD81352E17}" destId="{DC9D2DAE-B54C-454A-BED7-AA13FC46EBA7}" srcOrd="1" destOrd="0" parTransId="{41F283FA-DF99-460C-9294-79C19BEF26F4}" sibTransId="{881CBE3C-2DBF-456E-83A7-172A26149372}"/>
    <dgm:cxn modelId="{89E38F9B-5EFF-4DC3-9597-FD7680B3026A}" type="presOf" srcId="{C9E78249-C75D-4EC1-8AFD-A223B3DBB697}" destId="{2028A981-BE80-42AE-A175-EF14A7AB8C6C}" srcOrd="0" destOrd="3" presId="urn:microsoft.com/office/officeart/2005/8/layout/vList2"/>
    <dgm:cxn modelId="{77FA12A1-3074-4DDD-B56B-646E3B7501E8}" srcId="{CC2A3458-616D-4797-A6F1-6921D28FE74C}" destId="{6FAFCAED-B915-4B79-9841-2DE093510A18}" srcOrd="4" destOrd="0" parTransId="{0AAC394B-A5F4-4302-9B1B-722A69E14B4D}" sibTransId="{749E3F4E-56CE-4EC5-8108-99A6BBA2AE5D}"/>
    <dgm:cxn modelId="{777B7BA2-765C-428F-A673-25E85030ADD0}" type="presOf" srcId="{2ED3EBCC-1698-4AA4-A29C-6757D9EA8E31}" destId="{E0E71B88-D1F6-4CD5-9748-3B4AF3FC9570}" srcOrd="0" destOrd="1" presId="urn:microsoft.com/office/officeart/2005/8/layout/vList2"/>
    <dgm:cxn modelId="{E45E74AB-CD53-4252-BC31-31130FE93560}" type="presOf" srcId="{2E30E7CB-F104-4345-A74D-8FF5F8CDCE8F}" destId="{52B0E5FD-CC11-4EE4-8181-914946DAB15A}" srcOrd="0" destOrd="0" presId="urn:microsoft.com/office/officeart/2005/8/layout/vList2"/>
    <dgm:cxn modelId="{F32E16AC-EB31-42FB-81D4-03306E0D817E}" srcId="{DC9D2DAE-B54C-454A-BED7-AA13FC46EBA7}" destId="{AA3E3B24-0C9D-4BD8-AFE6-81D67A7D9071}" srcOrd="0" destOrd="0" parTransId="{8BD96E91-EFD3-4E63-8D97-AB2FA4909BFE}" sibTransId="{88931243-ACD7-456F-BF22-83B6C9632572}"/>
    <dgm:cxn modelId="{BDDC37C7-8DAF-4D4B-B64C-8561E5C8E596}" type="presOf" srcId="{5BF31C32-FF6C-498D-9B5B-05EAC5821EF9}" destId="{2028A981-BE80-42AE-A175-EF14A7AB8C6C}" srcOrd="0" destOrd="0" presId="urn:microsoft.com/office/officeart/2005/8/layout/vList2"/>
    <dgm:cxn modelId="{678509CB-D821-437D-8722-B970BA576337}" type="presOf" srcId="{0D92C3CE-E075-457A-94F8-8F06D5A722CE}" destId="{109111CC-9235-41B8-B581-1B79ED9C122F}" srcOrd="0" destOrd="0" presId="urn:microsoft.com/office/officeart/2005/8/layout/vList2"/>
    <dgm:cxn modelId="{8CEF23DA-0FE2-4624-A65D-8EDE1FAAEA1B}" type="presOf" srcId="{F1960C5B-19BE-4333-BABB-E051A8C2E220}" destId="{2028A981-BE80-42AE-A175-EF14A7AB8C6C}" srcOrd="0" destOrd="6" presId="urn:microsoft.com/office/officeart/2005/8/layout/vList2"/>
    <dgm:cxn modelId="{DEA24CDF-BE36-4E08-A9D9-7745A9311E6A}" srcId="{0D92C3CE-E075-457A-94F8-8F06D5A722CE}" destId="{5BF31C32-FF6C-498D-9B5B-05EAC5821EF9}" srcOrd="0" destOrd="0" parTransId="{ABA55F0F-FC54-4F90-9907-EFABC74460BD}" sibTransId="{8D75C657-0198-49FA-B93F-CA8203A57E2A}"/>
    <dgm:cxn modelId="{E78F04F1-BA01-4E84-82A9-7E035EA9507F}" type="presOf" srcId="{DC9D2DAE-B54C-454A-BED7-AA13FC46EBA7}" destId="{92EECA0C-D5C9-4DC3-8506-3271A5AD366D}" srcOrd="0" destOrd="0" presId="urn:microsoft.com/office/officeart/2005/8/layout/vList2"/>
    <dgm:cxn modelId="{CB551EF1-57DE-4A8E-9049-EEE39999B8DB}" srcId="{CC2A3458-616D-4797-A6F1-6921D28FE74C}" destId="{C9E78249-C75D-4EC1-8AFD-A223B3DBB697}" srcOrd="0" destOrd="0" parTransId="{B3BC0B33-C7D9-4F6F-986C-E085FB0CB3BD}" sibTransId="{BBE5EFE0-0FD6-4DE2-AD04-32297B2FFB60}"/>
    <dgm:cxn modelId="{D7447AF6-A764-45EE-B9FD-913EC030422B}" srcId="{AA3E3B24-0C9D-4BD8-AFE6-81D67A7D9071}" destId="{05832898-A082-4406-A078-3A376BA812F9}" srcOrd="2" destOrd="0" parTransId="{0DC6516C-C4C4-4E61-96E2-851804AF70EF}" sibTransId="{464008F1-D46A-4154-BC32-02513FD430AC}"/>
    <dgm:cxn modelId="{6C6F57F7-ABA6-45B0-BF23-5506902433F7}" type="presOf" srcId="{87141C93-8B55-4184-9C0D-B7C242688869}" destId="{F419D63E-1F6F-4CB1-9004-4C47EB258D84}" srcOrd="0" destOrd="1" presId="urn:microsoft.com/office/officeart/2005/8/layout/vList2"/>
    <dgm:cxn modelId="{B63E9FFA-59DC-4ADD-9EC7-D6809D01408C}" type="presOf" srcId="{05832898-A082-4406-A078-3A376BA812F9}" destId="{F419D63E-1F6F-4CB1-9004-4C47EB258D84}" srcOrd="0" destOrd="3" presId="urn:microsoft.com/office/officeart/2005/8/layout/vList2"/>
    <dgm:cxn modelId="{181A841D-092D-4129-A8DA-22A4663E7EEC}" type="presParOf" srcId="{DC5E7578-4DE5-4111-80B4-CCE5E4A4A60F}" destId="{109111CC-9235-41B8-B581-1B79ED9C122F}" srcOrd="0" destOrd="0" presId="urn:microsoft.com/office/officeart/2005/8/layout/vList2"/>
    <dgm:cxn modelId="{17EBF2B6-B1DB-4DD8-B97E-8B1958FFFEDA}" type="presParOf" srcId="{DC5E7578-4DE5-4111-80B4-CCE5E4A4A60F}" destId="{2028A981-BE80-42AE-A175-EF14A7AB8C6C}" srcOrd="1" destOrd="0" presId="urn:microsoft.com/office/officeart/2005/8/layout/vList2"/>
    <dgm:cxn modelId="{6A22A681-1B19-4CFE-B2FA-20B7146A0C9B}" type="presParOf" srcId="{DC5E7578-4DE5-4111-80B4-CCE5E4A4A60F}" destId="{92EECA0C-D5C9-4DC3-8506-3271A5AD366D}" srcOrd="2" destOrd="0" presId="urn:microsoft.com/office/officeart/2005/8/layout/vList2"/>
    <dgm:cxn modelId="{0CF99D7B-2D4D-41DA-956F-86CF35A22F09}" type="presParOf" srcId="{DC5E7578-4DE5-4111-80B4-CCE5E4A4A60F}" destId="{F419D63E-1F6F-4CB1-9004-4C47EB258D84}" srcOrd="3" destOrd="0" presId="urn:microsoft.com/office/officeart/2005/8/layout/vList2"/>
    <dgm:cxn modelId="{6DC4C9F5-2D37-453A-8B84-CA6BCB2853BE}" type="presParOf" srcId="{DC5E7578-4DE5-4111-80B4-CCE5E4A4A60F}" destId="{52B0E5FD-CC11-4EE4-8181-914946DAB15A}" srcOrd="4" destOrd="0" presId="urn:microsoft.com/office/officeart/2005/8/layout/vList2"/>
    <dgm:cxn modelId="{DD39C4E4-CE02-4A52-B7FB-7BFA605D8B48}" type="presParOf" srcId="{DC5E7578-4DE5-4111-80B4-CCE5E4A4A60F}" destId="{E0E71B88-D1F6-4CD5-9748-3B4AF3FC9570}"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D2C93B-7769-4E5D-A933-0F182F23F50B}">
      <dsp:nvSpPr>
        <dsp:cNvPr id="0" name=""/>
        <dsp:cNvSpPr/>
      </dsp:nvSpPr>
      <dsp:spPr>
        <a:xfrm>
          <a:off x="0" y="94694"/>
          <a:ext cx="5811128" cy="71253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Data Wrangling</a:t>
          </a:r>
        </a:p>
      </dsp:txBody>
      <dsp:txXfrm>
        <a:off x="34783" y="129477"/>
        <a:ext cx="5741562" cy="642964"/>
      </dsp:txXfrm>
    </dsp:sp>
    <dsp:sp modelId="{E8583ACB-7232-4564-A269-0DD464A51F65}">
      <dsp:nvSpPr>
        <dsp:cNvPr id="0" name=""/>
        <dsp:cNvSpPr/>
      </dsp:nvSpPr>
      <dsp:spPr>
        <a:xfrm>
          <a:off x="0" y="890744"/>
          <a:ext cx="5811128" cy="712530"/>
        </a:xfrm>
        <a:prstGeom prst="roundRect">
          <a:avLst/>
        </a:prstGeom>
        <a:solidFill>
          <a:schemeClr val="accent5">
            <a:hueOff val="-2025358"/>
            <a:satOff val="-138"/>
            <a:lumOff val="3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dirty="0"/>
            <a:t>Exploratory Data Analysis</a:t>
          </a:r>
        </a:p>
      </dsp:txBody>
      <dsp:txXfrm>
        <a:off x="34783" y="925527"/>
        <a:ext cx="5741562" cy="642964"/>
      </dsp:txXfrm>
    </dsp:sp>
    <dsp:sp modelId="{AA0012C3-3A1A-45D3-A742-AF33199967C3}">
      <dsp:nvSpPr>
        <dsp:cNvPr id="0" name=""/>
        <dsp:cNvSpPr/>
      </dsp:nvSpPr>
      <dsp:spPr>
        <a:xfrm>
          <a:off x="0" y="1686794"/>
          <a:ext cx="5811128" cy="712530"/>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dirty="0"/>
            <a:t>Target Design</a:t>
          </a:r>
        </a:p>
      </dsp:txBody>
      <dsp:txXfrm>
        <a:off x="34783" y="1721577"/>
        <a:ext cx="5741562" cy="642964"/>
      </dsp:txXfrm>
    </dsp:sp>
    <dsp:sp modelId="{7BB6230F-F1ED-47F2-90ED-D64E182D6CDC}">
      <dsp:nvSpPr>
        <dsp:cNvPr id="0" name=""/>
        <dsp:cNvSpPr/>
      </dsp:nvSpPr>
      <dsp:spPr>
        <a:xfrm>
          <a:off x="0" y="2482844"/>
          <a:ext cx="5811128" cy="71253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Data Preprocessing</a:t>
          </a:r>
        </a:p>
      </dsp:txBody>
      <dsp:txXfrm>
        <a:off x="34783" y="2517627"/>
        <a:ext cx="5741562" cy="642964"/>
      </dsp:txXfrm>
    </dsp:sp>
    <dsp:sp modelId="{1055448A-8D9E-40B4-8614-94D8E452F345}">
      <dsp:nvSpPr>
        <dsp:cNvPr id="0" name=""/>
        <dsp:cNvSpPr/>
      </dsp:nvSpPr>
      <dsp:spPr>
        <a:xfrm>
          <a:off x="0" y="3278894"/>
          <a:ext cx="5811128" cy="712530"/>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Dimension Reduction</a:t>
          </a:r>
        </a:p>
      </dsp:txBody>
      <dsp:txXfrm>
        <a:off x="34783" y="3313677"/>
        <a:ext cx="5741562" cy="642964"/>
      </dsp:txXfrm>
    </dsp:sp>
    <dsp:sp modelId="{85BD8AAF-31CA-440D-9A0C-D493B9C998C8}">
      <dsp:nvSpPr>
        <dsp:cNvPr id="0" name=""/>
        <dsp:cNvSpPr/>
      </dsp:nvSpPr>
      <dsp:spPr>
        <a:xfrm>
          <a:off x="0" y="4074944"/>
          <a:ext cx="5811128" cy="712530"/>
        </a:xfrm>
        <a:prstGeom prst="roundRect">
          <a:avLst/>
        </a:prstGeom>
        <a:solidFill>
          <a:schemeClr val="accent5">
            <a:hueOff val="-10126791"/>
            <a:satOff val="-688"/>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Screening Learners</a:t>
          </a:r>
        </a:p>
      </dsp:txBody>
      <dsp:txXfrm>
        <a:off x="34783" y="4109727"/>
        <a:ext cx="5741562" cy="642964"/>
      </dsp:txXfrm>
    </dsp:sp>
    <dsp:sp modelId="{BD1DDAC0-FB7B-44C3-9E69-78C055237A17}">
      <dsp:nvSpPr>
        <dsp:cNvPr id="0" name=""/>
        <dsp:cNvSpPr/>
      </dsp:nvSpPr>
      <dsp:spPr>
        <a:xfrm>
          <a:off x="0" y="4870994"/>
          <a:ext cx="5811128" cy="71253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defRPr cap="all"/>
          </a:pPr>
          <a:r>
            <a:rPr lang="en-US" sz="2900" kern="1200"/>
            <a:t>Optimizing Feature Selection</a:t>
          </a:r>
        </a:p>
      </dsp:txBody>
      <dsp:txXfrm>
        <a:off x="34783" y="4905777"/>
        <a:ext cx="5741562" cy="642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4392"/>
          <a:ext cx="6666833" cy="56511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Downloaded as raw counts</a:t>
          </a:r>
        </a:p>
      </dsp:txBody>
      <dsp:txXfrm>
        <a:off x="27586" y="31978"/>
        <a:ext cx="6611661" cy="509938"/>
      </dsp:txXfrm>
    </dsp:sp>
    <dsp:sp modelId="{92EECA0C-D5C9-4DC3-8506-3271A5AD366D}">
      <dsp:nvSpPr>
        <dsp:cNvPr id="0" name=""/>
        <dsp:cNvSpPr/>
      </dsp:nvSpPr>
      <dsp:spPr>
        <a:xfrm>
          <a:off x="0" y="635742"/>
          <a:ext cx="6666833" cy="565110"/>
        </a:xfrm>
        <a:prstGeom prst="roundRect">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Quality control performed prior to publication</a:t>
          </a:r>
        </a:p>
      </dsp:txBody>
      <dsp:txXfrm>
        <a:off x="27586" y="663328"/>
        <a:ext cx="6611661" cy="509938"/>
      </dsp:txXfrm>
    </dsp:sp>
    <dsp:sp modelId="{F419D63E-1F6F-4CB1-9004-4C47EB258D84}">
      <dsp:nvSpPr>
        <dsp:cNvPr id="0" name=""/>
        <dsp:cNvSpPr/>
      </dsp:nvSpPr>
      <dsp:spPr>
        <a:xfrm>
          <a:off x="0" y="1200852"/>
          <a:ext cx="6666833" cy="928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Removed dead cells</a:t>
          </a:r>
        </a:p>
        <a:p>
          <a:pPr marL="171450" lvl="1" indent="-171450" algn="l" defTabSz="800100">
            <a:lnSpc>
              <a:spcPct val="90000"/>
            </a:lnSpc>
            <a:spcBef>
              <a:spcPct val="0"/>
            </a:spcBef>
            <a:spcAft>
              <a:spcPct val="20000"/>
            </a:spcAft>
            <a:buChar char="•"/>
          </a:pPr>
          <a:r>
            <a:rPr lang="en-US" sz="1800" kern="1200"/>
            <a:t>Removed cells with insufficient depth</a:t>
          </a:r>
        </a:p>
        <a:p>
          <a:pPr marL="171450" lvl="1" indent="-171450" algn="l" defTabSz="800100">
            <a:lnSpc>
              <a:spcPct val="90000"/>
            </a:lnSpc>
            <a:spcBef>
              <a:spcPct val="0"/>
            </a:spcBef>
            <a:spcAft>
              <a:spcPct val="20000"/>
            </a:spcAft>
            <a:buChar char="•"/>
          </a:pPr>
          <a:r>
            <a:rPr lang="en-US" sz="1800" kern="1200"/>
            <a:t>Removed genes with 0 counts</a:t>
          </a:r>
        </a:p>
      </dsp:txBody>
      <dsp:txXfrm>
        <a:off x="0" y="1200852"/>
        <a:ext cx="6666833" cy="928395"/>
      </dsp:txXfrm>
    </dsp:sp>
    <dsp:sp modelId="{A008A461-4EAC-4B09-90E0-49EC9282854F}">
      <dsp:nvSpPr>
        <dsp:cNvPr id="0" name=""/>
        <dsp:cNvSpPr/>
      </dsp:nvSpPr>
      <dsp:spPr>
        <a:xfrm>
          <a:off x="0" y="2129247"/>
          <a:ext cx="6666833" cy="565110"/>
        </a:xfrm>
        <a:prstGeom prst="roundRect">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Converted to ScanPy object called adata</a:t>
          </a:r>
        </a:p>
      </dsp:txBody>
      <dsp:txXfrm>
        <a:off x="27586" y="2156833"/>
        <a:ext cx="6611661" cy="509938"/>
      </dsp:txXfrm>
    </dsp:sp>
    <dsp:sp modelId="{1E11903A-788D-4F8E-94FB-6E8499843257}">
      <dsp:nvSpPr>
        <dsp:cNvPr id="0" name=""/>
        <dsp:cNvSpPr/>
      </dsp:nvSpPr>
      <dsp:spPr>
        <a:xfrm>
          <a:off x="0" y="2694357"/>
          <a:ext cx="6666833" cy="1571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Standard library for handling single cell RNAseq data in Python</a:t>
          </a:r>
        </a:p>
        <a:p>
          <a:pPr marL="171450" lvl="1" indent="-171450" algn="l" defTabSz="800100">
            <a:lnSpc>
              <a:spcPct val="90000"/>
            </a:lnSpc>
            <a:spcBef>
              <a:spcPct val="0"/>
            </a:spcBef>
            <a:spcAft>
              <a:spcPct val="20000"/>
            </a:spcAft>
            <a:buChar char="•"/>
          </a:pPr>
          <a:r>
            <a:rPr lang="en-US" sz="1800" kern="1200" dirty="0" err="1"/>
            <a:t>adata</a:t>
          </a:r>
          <a:r>
            <a:rPr lang="en-US" sz="1800" kern="1200" dirty="0"/>
            <a:t> objects have three matrices</a:t>
          </a:r>
        </a:p>
        <a:p>
          <a:pPr marL="342900" lvl="2" indent="-171450" algn="l" defTabSz="800100">
            <a:lnSpc>
              <a:spcPct val="90000"/>
            </a:lnSpc>
            <a:spcBef>
              <a:spcPct val="0"/>
            </a:spcBef>
            <a:spcAft>
              <a:spcPct val="20000"/>
            </a:spcAft>
            <a:buChar char="•"/>
          </a:pPr>
          <a:r>
            <a:rPr lang="en-US" sz="1800" kern="1200"/>
            <a:t>adata.X hold counts data</a:t>
          </a:r>
        </a:p>
        <a:p>
          <a:pPr marL="342900" lvl="2" indent="-171450" algn="l" defTabSz="800100">
            <a:lnSpc>
              <a:spcPct val="90000"/>
            </a:lnSpc>
            <a:spcBef>
              <a:spcPct val="0"/>
            </a:spcBef>
            <a:spcAft>
              <a:spcPct val="20000"/>
            </a:spcAft>
            <a:buChar char="•"/>
          </a:pPr>
          <a:r>
            <a:rPr lang="en-US" sz="1800" kern="1200"/>
            <a:t>adata.obs holds metadata including cell IDs</a:t>
          </a:r>
        </a:p>
        <a:p>
          <a:pPr marL="342900" lvl="2" indent="-171450" algn="l" defTabSz="800100">
            <a:lnSpc>
              <a:spcPct val="90000"/>
            </a:lnSpc>
            <a:spcBef>
              <a:spcPct val="0"/>
            </a:spcBef>
            <a:spcAft>
              <a:spcPct val="20000"/>
            </a:spcAft>
            <a:buChar char="•"/>
          </a:pPr>
          <a:r>
            <a:rPr lang="en-US" sz="1800" kern="1200" dirty="0" err="1"/>
            <a:t>adata.var</a:t>
          </a:r>
          <a:r>
            <a:rPr lang="en-US" sz="1800" kern="1200" dirty="0"/>
            <a:t> hold gene names (aka column names)</a:t>
          </a:r>
        </a:p>
      </dsp:txBody>
      <dsp:txXfrm>
        <a:off x="0" y="2694357"/>
        <a:ext cx="6666833" cy="1571130"/>
      </dsp:txXfrm>
    </dsp:sp>
    <dsp:sp modelId="{52B0E5FD-CC11-4EE4-8181-914946DAB15A}">
      <dsp:nvSpPr>
        <dsp:cNvPr id="0" name=""/>
        <dsp:cNvSpPr/>
      </dsp:nvSpPr>
      <dsp:spPr>
        <a:xfrm>
          <a:off x="0" y="4265487"/>
          <a:ext cx="6666833" cy="56511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Normalize</a:t>
          </a:r>
          <a:endParaRPr lang="en-US" sz="2300" kern="1200" dirty="0"/>
        </a:p>
      </dsp:txBody>
      <dsp:txXfrm>
        <a:off x="27586" y="4293073"/>
        <a:ext cx="6611661" cy="509938"/>
      </dsp:txXfrm>
    </dsp:sp>
    <dsp:sp modelId="{E0E71B88-D1F6-4CD5-9748-3B4AF3FC9570}">
      <dsp:nvSpPr>
        <dsp:cNvPr id="0" name=""/>
        <dsp:cNvSpPr/>
      </dsp:nvSpPr>
      <dsp:spPr>
        <a:xfrm>
          <a:off x="0" y="4830597"/>
          <a:ext cx="6666833" cy="618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Scale data (Standard Scaler equivalent in ScanPy)</a:t>
          </a:r>
          <a:endParaRPr lang="en-US" sz="1800" kern="1200" dirty="0"/>
        </a:p>
        <a:p>
          <a:pPr marL="171450" lvl="1" indent="-171450" algn="l" defTabSz="800100">
            <a:lnSpc>
              <a:spcPct val="90000"/>
            </a:lnSpc>
            <a:spcBef>
              <a:spcPct val="0"/>
            </a:spcBef>
            <a:spcAft>
              <a:spcPct val="20000"/>
            </a:spcAft>
            <a:buChar char="•"/>
          </a:pPr>
          <a:r>
            <a:rPr lang="en-US" sz="1800" kern="1200"/>
            <a:t>Log Transform</a:t>
          </a:r>
          <a:endParaRPr lang="en-US" sz="1800" kern="1200" dirty="0"/>
        </a:p>
      </dsp:txBody>
      <dsp:txXfrm>
        <a:off x="0" y="4830597"/>
        <a:ext cx="6666833" cy="6189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211737"/>
          <a:ext cx="7642522" cy="5896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Pseudorank</a:t>
          </a:r>
        </a:p>
      </dsp:txBody>
      <dsp:txXfrm>
        <a:off x="28786" y="240523"/>
        <a:ext cx="7584950" cy="532107"/>
      </dsp:txXfrm>
    </dsp:sp>
    <dsp:sp modelId="{79675B36-9E69-4DE6-AAE0-4DE9728ADF0A}">
      <dsp:nvSpPr>
        <dsp:cNvPr id="0" name=""/>
        <dsp:cNvSpPr/>
      </dsp:nvSpPr>
      <dsp:spPr>
        <a:xfrm>
          <a:off x="0" y="801417"/>
          <a:ext cx="7642522"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Calculate pseudotime for each cell</a:t>
          </a:r>
          <a:endParaRPr lang="en-US" sz="1900" kern="1200" dirty="0"/>
        </a:p>
        <a:p>
          <a:pPr marL="171450" lvl="1" indent="-171450" algn="l" defTabSz="844550">
            <a:lnSpc>
              <a:spcPct val="90000"/>
            </a:lnSpc>
            <a:spcBef>
              <a:spcPct val="0"/>
            </a:spcBef>
            <a:spcAft>
              <a:spcPct val="20000"/>
            </a:spcAft>
            <a:buChar char="•"/>
          </a:pPr>
          <a:r>
            <a:rPr lang="en-US" sz="1900" kern="1200" dirty="0"/>
            <a:t>Average day3 cell pseudotime by donor</a:t>
          </a:r>
        </a:p>
        <a:p>
          <a:pPr marL="171450" lvl="1" indent="-171450" algn="l" defTabSz="844550">
            <a:lnSpc>
              <a:spcPct val="90000"/>
            </a:lnSpc>
            <a:spcBef>
              <a:spcPct val="0"/>
            </a:spcBef>
            <a:spcAft>
              <a:spcPct val="20000"/>
            </a:spcAft>
            <a:buChar char="•"/>
          </a:pPr>
          <a:r>
            <a:rPr lang="en-US" sz="1900" kern="1200" dirty="0"/>
            <a:t>Map day3 average to all cells (regardless of day) by donor</a:t>
          </a:r>
        </a:p>
      </dsp:txBody>
      <dsp:txXfrm>
        <a:off x="0" y="801417"/>
        <a:ext cx="7642522" cy="993600"/>
      </dsp:txXfrm>
    </dsp:sp>
    <dsp:sp modelId="{92EECA0C-D5C9-4DC3-8506-3271A5AD366D}">
      <dsp:nvSpPr>
        <dsp:cNvPr id="0" name=""/>
        <dsp:cNvSpPr/>
      </dsp:nvSpPr>
      <dsp:spPr>
        <a:xfrm>
          <a:off x="0" y="1795017"/>
          <a:ext cx="7642522" cy="589679"/>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 Score Short</a:t>
          </a:r>
        </a:p>
      </dsp:txBody>
      <dsp:txXfrm>
        <a:off x="28786" y="1823803"/>
        <a:ext cx="7584950" cy="532107"/>
      </dsp:txXfrm>
    </dsp:sp>
    <dsp:sp modelId="{74C9D2F3-B1DD-4AA4-974E-EF8E29DB99D7}">
      <dsp:nvSpPr>
        <dsp:cNvPr id="0" name=""/>
        <dsp:cNvSpPr/>
      </dsp:nvSpPr>
      <dsp:spPr>
        <a:xfrm>
          <a:off x="0" y="2384697"/>
          <a:ext cx="7642522" cy="993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Create lists of iPSC markers and endoderm markers</a:t>
          </a:r>
        </a:p>
        <a:p>
          <a:pPr marL="171450" lvl="1" indent="-171450" algn="l" defTabSz="844550">
            <a:lnSpc>
              <a:spcPct val="90000"/>
            </a:lnSpc>
            <a:spcBef>
              <a:spcPct val="0"/>
            </a:spcBef>
            <a:spcAft>
              <a:spcPct val="20000"/>
            </a:spcAft>
            <a:buChar char="•"/>
          </a:pPr>
          <a:r>
            <a:rPr lang="en-US" sz="1900" kern="1200" dirty="0"/>
            <a:t>Use </a:t>
          </a:r>
          <a:r>
            <a:rPr lang="en-US" sz="1900" kern="1200" dirty="0" err="1"/>
            <a:t>score_genes</a:t>
          </a:r>
          <a:r>
            <a:rPr lang="en-US" sz="1900" kern="1200" dirty="0"/>
            <a:t> to calculate iPSC score and Endoderm score</a:t>
          </a:r>
        </a:p>
        <a:p>
          <a:pPr marL="171450" lvl="1" indent="-171450" algn="l" defTabSz="844550">
            <a:lnSpc>
              <a:spcPct val="90000"/>
            </a:lnSpc>
            <a:spcBef>
              <a:spcPct val="0"/>
            </a:spcBef>
            <a:spcAft>
              <a:spcPct val="20000"/>
            </a:spcAft>
            <a:buChar char="•"/>
          </a:pPr>
          <a:r>
            <a:rPr lang="en-US" sz="1900" kern="1200" dirty="0"/>
            <a:t>DE </a:t>
          </a:r>
          <a:r>
            <a:rPr lang="en-US" sz="1900" kern="1200" dirty="0" err="1"/>
            <a:t>Score_short</a:t>
          </a:r>
          <a:r>
            <a:rPr lang="en-US" sz="1900" kern="1200" dirty="0"/>
            <a:t> = Endoderm score – iPSC score </a:t>
          </a:r>
        </a:p>
      </dsp:txBody>
      <dsp:txXfrm>
        <a:off x="0" y="2384697"/>
        <a:ext cx="7642522" cy="993600"/>
      </dsp:txXfrm>
    </dsp:sp>
    <dsp:sp modelId="{D862D60E-B937-4C88-8E53-23E8503CBDF6}">
      <dsp:nvSpPr>
        <dsp:cNvPr id="0" name=""/>
        <dsp:cNvSpPr/>
      </dsp:nvSpPr>
      <dsp:spPr>
        <a:xfrm>
          <a:off x="0" y="3378297"/>
          <a:ext cx="7642522" cy="589679"/>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DE Score Long</a:t>
          </a:r>
        </a:p>
      </dsp:txBody>
      <dsp:txXfrm>
        <a:off x="28786" y="3407083"/>
        <a:ext cx="7584950" cy="532107"/>
      </dsp:txXfrm>
    </dsp:sp>
    <dsp:sp modelId="{B217D158-A011-46B0-A6E8-E60399A18328}">
      <dsp:nvSpPr>
        <dsp:cNvPr id="0" name=""/>
        <dsp:cNvSpPr/>
      </dsp:nvSpPr>
      <dsp:spPr>
        <a:xfrm>
          <a:off x="0" y="3967977"/>
          <a:ext cx="7642522" cy="223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265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Used similar dataset (Chu et al) and found genes 10+ fold change higher in DE samples compared to iPSC samples.</a:t>
          </a:r>
        </a:p>
        <a:p>
          <a:pPr marL="171450" lvl="1" indent="-171450" algn="l" defTabSz="844550">
            <a:lnSpc>
              <a:spcPct val="90000"/>
            </a:lnSpc>
            <a:spcBef>
              <a:spcPct val="0"/>
            </a:spcBef>
            <a:spcAft>
              <a:spcPct val="20000"/>
            </a:spcAft>
            <a:buChar char="•"/>
          </a:pPr>
          <a:r>
            <a:rPr lang="en-US" sz="1900" kern="1200" dirty="0"/>
            <a:t>Repeat with current dataset (Cuomo et al)</a:t>
          </a:r>
        </a:p>
        <a:p>
          <a:pPr marL="171450" lvl="1" indent="-171450" algn="l" defTabSz="844550">
            <a:lnSpc>
              <a:spcPct val="90000"/>
            </a:lnSpc>
            <a:spcBef>
              <a:spcPct val="0"/>
            </a:spcBef>
            <a:spcAft>
              <a:spcPct val="20000"/>
            </a:spcAft>
            <a:buChar char="•"/>
          </a:pPr>
          <a:r>
            <a:rPr lang="en-US" sz="1900" kern="1200" dirty="0"/>
            <a:t>Endoderm Markers = intersection between Chu list and Cuomo list </a:t>
          </a:r>
        </a:p>
        <a:p>
          <a:pPr marL="171450" lvl="1" indent="-171450" algn="l" defTabSz="844550">
            <a:lnSpc>
              <a:spcPct val="90000"/>
            </a:lnSpc>
            <a:spcBef>
              <a:spcPct val="0"/>
            </a:spcBef>
            <a:spcAft>
              <a:spcPct val="20000"/>
            </a:spcAft>
            <a:buChar char="•"/>
          </a:pPr>
          <a:r>
            <a:rPr lang="en-US" sz="1900" kern="1200" dirty="0"/>
            <a:t>Repeat to make iPSC Markers</a:t>
          </a:r>
        </a:p>
        <a:p>
          <a:pPr marL="171450" lvl="1" indent="-171450" algn="l" defTabSz="844550">
            <a:lnSpc>
              <a:spcPct val="90000"/>
            </a:lnSpc>
            <a:spcBef>
              <a:spcPct val="0"/>
            </a:spcBef>
            <a:spcAft>
              <a:spcPct val="20000"/>
            </a:spcAft>
            <a:buChar char="•"/>
          </a:pPr>
          <a:r>
            <a:rPr lang="en-US" sz="1900" kern="1200" dirty="0"/>
            <a:t>Use </a:t>
          </a:r>
          <a:r>
            <a:rPr lang="en-US" sz="1900" kern="1200" dirty="0" err="1"/>
            <a:t>score_genes</a:t>
          </a:r>
          <a:r>
            <a:rPr lang="en-US" sz="1900" kern="1200" dirty="0"/>
            <a:t> to calculate iPSC score and Endoderm score</a:t>
          </a:r>
        </a:p>
        <a:p>
          <a:pPr marL="171450" lvl="1" indent="-171450" algn="l" defTabSz="844550">
            <a:lnSpc>
              <a:spcPct val="90000"/>
            </a:lnSpc>
            <a:spcBef>
              <a:spcPct val="0"/>
            </a:spcBef>
            <a:spcAft>
              <a:spcPct val="20000"/>
            </a:spcAft>
            <a:buChar char="•"/>
          </a:pPr>
          <a:r>
            <a:rPr lang="en-US" sz="1900" kern="1200" dirty="0"/>
            <a:t>DE </a:t>
          </a:r>
          <a:r>
            <a:rPr lang="en-US" sz="1900" kern="1200" dirty="0" err="1"/>
            <a:t>Score_long</a:t>
          </a:r>
          <a:r>
            <a:rPr lang="en-US" sz="1900" kern="1200" dirty="0"/>
            <a:t> = Endoderm score – iPSC score </a:t>
          </a:r>
        </a:p>
      </dsp:txBody>
      <dsp:txXfrm>
        <a:off x="0" y="3967977"/>
        <a:ext cx="7642522" cy="22356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90123"/>
          <a:ext cx="6981220" cy="56511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Select relevant data from </a:t>
          </a:r>
          <a:r>
            <a:rPr lang="en-US" sz="2300" kern="1200" dirty="0" err="1"/>
            <a:t>adata</a:t>
          </a:r>
          <a:endParaRPr lang="en-US" sz="2300" kern="1200" dirty="0"/>
        </a:p>
      </dsp:txBody>
      <dsp:txXfrm>
        <a:off x="27586" y="117709"/>
        <a:ext cx="6926048" cy="509938"/>
      </dsp:txXfrm>
    </dsp:sp>
    <dsp:sp modelId="{EED0CB7D-ACDA-44CD-B272-C220E247B552}">
      <dsp:nvSpPr>
        <dsp:cNvPr id="0" name=""/>
        <dsp:cNvSpPr/>
      </dsp:nvSpPr>
      <dsp:spPr>
        <a:xfrm>
          <a:off x="0" y="655233"/>
          <a:ext cx="6981220" cy="8807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a:t>Separate days into four separate data frames</a:t>
          </a:r>
          <a:endParaRPr lang="en-US" sz="1800" kern="1200" dirty="0"/>
        </a:p>
        <a:p>
          <a:pPr marL="171450" lvl="1" indent="-171450" algn="l" defTabSz="800100">
            <a:lnSpc>
              <a:spcPct val="90000"/>
            </a:lnSpc>
            <a:spcBef>
              <a:spcPct val="0"/>
            </a:spcBef>
            <a:spcAft>
              <a:spcPct val="20000"/>
            </a:spcAft>
            <a:buChar char="•"/>
          </a:pPr>
          <a:r>
            <a:rPr lang="en-US" sz="1800" kern="1200" dirty="0"/>
            <a:t>Remove cells from donors without &gt;=10 cells in both day0 and day3 (92 donors remaining)</a:t>
          </a:r>
        </a:p>
      </dsp:txBody>
      <dsp:txXfrm>
        <a:off x="0" y="655233"/>
        <a:ext cx="6981220" cy="880785"/>
      </dsp:txXfrm>
    </dsp:sp>
    <dsp:sp modelId="{C2D2DECB-CB77-4F42-AB67-42310F099861}">
      <dsp:nvSpPr>
        <dsp:cNvPr id="0" name=""/>
        <dsp:cNvSpPr/>
      </dsp:nvSpPr>
      <dsp:spPr>
        <a:xfrm>
          <a:off x="0" y="1536018"/>
          <a:ext cx="6981220" cy="56511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Convert to Bulk counts</a:t>
          </a:r>
        </a:p>
      </dsp:txBody>
      <dsp:txXfrm>
        <a:off x="27586" y="1563604"/>
        <a:ext cx="6926048" cy="509938"/>
      </dsp:txXfrm>
    </dsp:sp>
    <dsp:sp modelId="{D265ADA7-9C8D-4BFE-ACA7-EBF451E555F5}">
      <dsp:nvSpPr>
        <dsp:cNvPr id="0" name=""/>
        <dsp:cNvSpPr/>
      </dsp:nvSpPr>
      <dsp:spPr>
        <a:xfrm>
          <a:off x="0" y="2101128"/>
          <a:ext cx="6981220" cy="1761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Single Cell data is too noisy for accurate predictions</a:t>
          </a:r>
        </a:p>
        <a:p>
          <a:pPr marL="171450" lvl="1" indent="-171450" algn="l" defTabSz="800100">
            <a:lnSpc>
              <a:spcPct val="90000"/>
            </a:lnSpc>
            <a:spcBef>
              <a:spcPct val="0"/>
            </a:spcBef>
            <a:spcAft>
              <a:spcPct val="20000"/>
            </a:spcAft>
            <a:buChar char="•"/>
          </a:pPr>
          <a:r>
            <a:rPr lang="en-US" sz="1800" kern="1200" dirty="0"/>
            <a:t>Standard Protocol is to sum raw counts for all cells from each donor.</a:t>
          </a:r>
        </a:p>
        <a:p>
          <a:pPr marL="171450" lvl="1" indent="-171450" algn="l" defTabSz="800100">
            <a:lnSpc>
              <a:spcPct val="90000"/>
            </a:lnSpc>
            <a:spcBef>
              <a:spcPct val="0"/>
            </a:spcBef>
            <a:spcAft>
              <a:spcPct val="20000"/>
            </a:spcAft>
            <a:buChar char="•"/>
          </a:pPr>
          <a:r>
            <a:rPr lang="en-US" sz="1800" kern="1200" dirty="0"/>
            <a:t>Split and Normalize</a:t>
          </a:r>
        </a:p>
        <a:p>
          <a:pPr marL="342900" lvl="2" indent="-171450" algn="l" defTabSz="800100">
            <a:lnSpc>
              <a:spcPct val="90000"/>
            </a:lnSpc>
            <a:spcBef>
              <a:spcPct val="0"/>
            </a:spcBef>
            <a:spcAft>
              <a:spcPct val="20000"/>
            </a:spcAft>
            <a:buChar char="•"/>
          </a:pPr>
          <a:r>
            <a:rPr lang="en-US" sz="1800" kern="1200" dirty="0"/>
            <a:t>Model development required multiple iterations of splitting and normalizing data due to high variability within splits.</a:t>
          </a:r>
        </a:p>
      </dsp:txBody>
      <dsp:txXfrm>
        <a:off x="0" y="2101128"/>
        <a:ext cx="6981220" cy="1761570"/>
      </dsp:txXfrm>
    </dsp:sp>
    <dsp:sp modelId="{92EECA0C-D5C9-4DC3-8506-3271A5AD366D}">
      <dsp:nvSpPr>
        <dsp:cNvPr id="0" name=""/>
        <dsp:cNvSpPr/>
      </dsp:nvSpPr>
      <dsp:spPr>
        <a:xfrm>
          <a:off x="0" y="3862698"/>
          <a:ext cx="6981220" cy="56511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Dimension Reduction</a:t>
          </a:r>
        </a:p>
      </dsp:txBody>
      <dsp:txXfrm>
        <a:off x="27586" y="3890284"/>
        <a:ext cx="6926048" cy="509938"/>
      </dsp:txXfrm>
    </dsp:sp>
    <dsp:sp modelId="{F419D63E-1F6F-4CB1-9004-4C47EB258D84}">
      <dsp:nvSpPr>
        <dsp:cNvPr id="0" name=""/>
        <dsp:cNvSpPr/>
      </dsp:nvSpPr>
      <dsp:spPr>
        <a:xfrm>
          <a:off x="0" y="4427808"/>
          <a:ext cx="6981220" cy="1142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54"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en-US" sz="1800" kern="1200" dirty="0"/>
            <a:t>Multiple methods of </a:t>
          </a:r>
          <a:r>
            <a:rPr lang="en-US" sz="1800" kern="1200" dirty="0" err="1"/>
            <a:t>diumension</a:t>
          </a:r>
          <a:r>
            <a:rPr lang="en-US" sz="1800" kern="1200" dirty="0"/>
            <a:t> reduction were attempted and will be discussed in the following section.</a:t>
          </a:r>
        </a:p>
        <a:p>
          <a:pPr marL="171450" lvl="1" indent="-171450" algn="l" defTabSz="800100">
            <a:lnSpc>
              <a:spcPct val="90000"/>
            </a:lnSpc>
            <a:spcBef>
              <a:spcPct val="0"/>
            </a:spcBef>
            <a:spcAft>
              <a:spcPct val="20000"/>
            </a:spcAft>
            <a:buChar char="•"/>
          </a:pPr>
          <a:r>
            <a:rPr lang="en-US" sz="1800" kern="1200" dirty="0"/>
            <a:t>For each iteration, date was reduced, split and then normalized to prevent data leakage</a:t>
          </a:r>
        </a:p>
      </dsp:txBody>
      <dsp:txXfrm>
        <a:off x="0" y="4427808"/>
        <a:ext cx="6981220" cy="1142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266782"/>
          <a:ext cx="7329573" cy="4668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PCA</a:t>
          </a:r>
        </a:p>
      </dsp:txBody>
      <dsp:txXfrm>
        <a:off x="22789" y="289571"/>
        <a:ext cx="7283995" cy="421252"/>
      </dsp:txXfrm>
    </dsp:sp>
    <dsp:sp modelId="{EED0CB7D-ACDA-44CD-B272-C220E247B552}">
      <dsp:nvSpPr>
        <dsp:cNvPr id="0" name=""/>
        <dsp:cNvSpPr/>
      </dsp:nvSpPr>
      <dsp:spPr>
        <a:xfrm>
          <a:off x="0" y="733612"/>
          <a:ext cx="7329573"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Performed PCA on normalized donor counts</a:t>
          </a:r>
        </a:p>
        <a:p>
          <a:pPr marL="114300" lvl="1" indent="-114300" algn="l" defTabSz="666750">
            <a:lnSpc>
              <a:spcPct val="90000"/>
            </a:lnSpc>
            <a:spcBef>
              <a:spcPct val="0"/>
            </a:spcBef>
            <a:spcAft>
              <a:spcPct val="20000"/>
            </a:spcAft>
            <a:buChar char="•"/>
          </a:pPr>
          <a:r>
            <a:rPr lang="en-US" sz="1500" kern="1200" dirty="0"/>
            <a:t>Collected top 10 PCs for features</a:t>
          </a:r>
        </a:p>
      </dsp:txBody>
      <dsp:txXfrm>
        <a:off x="0" y="733612"/>
        <a:ext cx="7329573" cy="521122"/>
      </dsp:txXfrm>
    </dsp:sp>
    <dsp:sp modelId="{C2D2DECB-CB77-4F42-AB67-42310F099861}">
      <dsp:nvSpPr>
        <dsp:cNvPr id="0" name=""/>
        <dsp:cNvSpPr/>
      </dsp:nvSpPr>
      <dsp:spPr>
        <a:xfrm>
          <a:off x="0" y="1254734"/>
          <a:ext cx="7329573" cy="4668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Top 100 Genes</a:t>
          </a:r>
        </a:p>
      </dsp:txBody>
      <dsp:txXfrm>
        <a:off x="22789" y="1277523"/>
        <a:ext cx="7283995" cy="421252"/>
      </dsp:txXfrm>
    </dsp:sp>
    <dsp:sp modelId="{D265ADA7-9C8D-4BFE-ACA7-EBF451E555F5}">
      <dsp:nvSpPr>
        <dsp:cNvPr id="0" name=""/>
        <dsp:cNvSpPr/>
      </dsp:nvSpPr>
      <dsp:spPr>
        <a:xfrm>
          <a:off x="0" y="1721564"/>
          <a:ext cx="7329573" cy="119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Calculated the Spearman Coefficient for each gene relative to Pseudorank or DE Score</a:t>
          </a:r>
        </a:p>
        <a:p>
          <a:pPr marL="114300" lvl="1" indent="-114300" algn="l" defTabSz="666750">
            <a:lnSpc>
              <a:spcPct val="90000"/>
            </a:lnSpc>
            <a:spcBef>
              <a:spcPct val="0"/>
            </a:spcBef>
            <a:spcAft>
              <a:spcPct val="20000"/>
            </a:spcAft>
            <a:buChar char="•"/>
          </a:pPr>
          <a:r>
            <a:rPr lang="en-US" sz="1500" kern="1200" dirty="0"/>
            <a:t>Find 100 genes with the highest absolute correlation</a:t>
          </a:r>
        </a:p>
        <a:p>
          <a:pPr marL="114300" lvl="1" indent="-114300" algn="l" defTabSz="666750">
            <a:lnSpc>
              <a:spcPct val="90000"/>
            </a:lnSpc>
            <a:spcBef>
              <a:spcPct val="0"/>
            </a:spcBef>
            <a:spcAft>
              <a:spcPct val="20000"/>
            </a:spcAft>
            <a:buChar char="•"/>
          </a:pPr>
          <a:r>
            <a:rPr lang="en-US" sz="1500" kern="1200" dirty="0"/>
            <a:t>Collect raw counts of top 100 genes in new </a:t>
          </a:r>
          <a:r>
            <a:rPr lang="en-US" sz="1500" kern="1200" dirty="0" err="1"/>
            <a:t>dataframe</a:t>
          </a:r>
          <a:r>
            <a:rPr lang="en-US" sz="1500" kern="1200" dirty="0"/>
            <a:t> for Pseudorank (</a:t>
          </a:r>
          <a:r>
            <a:rPr lang="en-US" sz="1500" kern="1200" dirty="0" err="1"/>
            <a:t>donor_rank</a:t>
          </a:r>
          <a:r>
            <a:rPr lang="en-US" sz="1500" kern="1200" dirty="0"/>
            <a:t>) and DE Score (</a:t>
          </a:r>
          <a:r>
            <a:rPr lang="en-US" sz="1500" kern="1200" dirty="0" err="1"/>
            <a:t>donor_score</a:t>
          </a:r>
          <a:r>
            <a:rPr lang="en-US" sz="1500" kern="1200" dirty="0"/>
            <a:t>)</a:t>
          </a:r>
        </a:p>
      </dsp:txBody>
      <dsp:txXfrm>
        <a:off x="0" y="1721564"/>
        <a:ext cx="7329573" cy="1199565"/>
      </dsp:txXfrm>
    </dsp:sp>
    <dsp:sp modelId="{92EECA0C-D5C9-4DC3-8506-3271A5AD366D}">
      <dsp:nvSpPr>
        <dsp:cNvPr id="0" name=""/>
        <dsp:cNvSpPr/>
      </dsp:nvSpPr>
      <dsp:spPr>
        <a:xfrm>
          <a:off x="0" y="2921129"/>
          <a:ext cx="7329573" cy="4668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Molecular Pathways</a:t>
          </a:r>
        </a:p>
      </dsp:txBody>
      <dsp:txXfrm>
        <a:off x="22789" y="2943918"/>
        <a:ext cx="7283995" cy="421252"/>
      </dsp:txXfrm>
    </dsp:sp>
    <dsp:sp modelId="{F419D63E-1F6F-4CB1-9004-4C47EB258D84}">
      <dsp:nvSpPr>
        <dsp:cNvPr id="0" name=""/>
        <dsp:cNvSpPr/>
      </dsp:nvSpPr>
      <dsp:spPr>
        <a:xfrm>
          <a:off x="0" y="3387959"/>
          <a:ext cx="7329573"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Used curated gene lists from Human </a:t>
          </a:r>
          <a:r>
            <a:rPr lang="en-US" sz="1500" kern="1200" dirty="0" err="1"/>
            <a:t>MSigDB</a:t>
          </a:r>
          <a:r>
            <a:rPr lang="en-US" sz="1500" kern="1200" dirty="0"/>
            <a:t> Collections </a:t>
          </a:r>
        </a:p>
        <a:p>
          <a:pPr marL="228600" lvl="2" indent="-114300" algn="l" defTabSz="666750">
            <a:lnSpc>
              <a:spcPct val="90000"/>
            </a:lnSpc>
            <a:spcBef>
              <a:spcPct val="0"/>
            </a:spcBef>
            <a:spcAft>
              <a:spcPct val="20000"/>
            </a:spcAft>
            <a:buChar char="•"/>
          </a:pPr>
          <a:r>
            <a:rPr lang="en-US" sz="1500" kern="1200" dirty="0"/>
            <a:t>Described the genes which go up in 50 different standard cell types or processes</a:t>
          </a:r>
        </a:p>
        <a:p>
          <a:pPr marL="228600" lvl="2" indent="-114300" algn="l" defTabSz="666750">
            <a:lnSpc>
              <a:spcPct val="90000"/>
            </a:lnSpc>
            <a:spcBef>
              <a:spcPct val="0"/>
            </a:spcBef>
            <a:spcAft>
              <a:spcPct val="20000"/>
            </a:spcAft>
            <a:buChar char="•"/>
          </a:pPr>
          <a:r>
            <a:rPr lang="en-US" sz="1500" kern="1200" dirty="0"/>
            <a:t>Common approach to describing a cell’s state</a:t>
          </a:r>
        </a:p>
        <a:p>
          <a:pPr marL="114300" lvl="1" indent="-114300" algn="l" defTabSz="666750">
            <a:lnSpc>
              <a:spcPct val="90000"/>
            </a:lnSpc>
            <a:spcBef>
              <a:spcPct val="0"/>
            </a:spcBef>
            <a:spcAft>
              <a:spcPct val="20000"/>
            </a:spcAft>
            <a:buChar char="•"/>
          </a:pPr>
          <a:r>
            <a:rPr lang="en-US" sz="1500" kern="1200" dirty="0"/>
            <a:t>For each pathways, calculated the score for each donor using the </a:t>
          </a:r>
          <a:r>
            <a:rPr lang="en-US" sz="1500" kern="1200" dirty="0" err="1"/>
            <a:t>score_genes</a:t>
          </a:r>
          <a:r>
            <a:rPr lang="en-US" sz="1500" kern="1200" dirty="0"/>
            <a:t> function</a:t>
          </a:r>
        </a:p>
        <a:p>
          <a:pPr marL="114300" lvl="1" indent="-114300" algn="l" defTabSz="666750">
            <a:lnSpc>
              <a:spcPct val="90000"/>
            </a:lnSpc>
            <a:spcBef>
              <a:spcPct val="0"/>
            </a:spcBef>
            <a:spcAft>
              <a:spcPct val="20000"/>
            </a:spcAft>
            <a:buChar char="•"/>
          </a:pPr>
          <a:r>
            <a:rPr lang="en-US" sz="1500" kern="1200" dirty="0"/>
            <a:t>Calculated the correlation between the pathway and Pseudorank or DE score</a:t>
          </a:r>
        </a:p>
        <a:p>
          <a:pPr marL="114300" lvl="1" indent="-114300" algn="l" defTabSz="666750">
            <a:lnSpc>
              <a:spcPct val="90000"/>
            </a:lnSpc>
            <a:spcBef>
              <a:spcPct val="0"/>
            </a:spcBef>
            <a:spcAft>
              <a:spcPct val="20000"/>
            </a:spcAft>
            <a:buChar char="•"/>
          </a:pPr>
          <a:r>
            <a:rPr lang="en-US" sz="1500" kern="1200" dirty="0"/>
            <a:t>Collected the pathways with correlations greater than 0.1 in a </a:t>
          </a:r>
          <a:r>
            <a:rPr lang="en-US" sz="1500" kern="1200" dirty="0" err="1"/>
            <a:t>dataframe</a:t>
          </a:r>
          <a:endParaRPr lang="en-US" sz="1500" kern="1200" dirty="0"/>
        </a:p>
        <a:p>
          <a:pPr marL="114300" lvl="1" indent="-114300" algn="l" defTabSz="666750">
            <a:lnSpc>
              <a:spcPct val="90000"/>
            </a:lnSpc>
            <a:spcBef>
              <a:spcPct val="0"/>
            </a:spcBef>
            <a:spcAft>
              <a:spcPct val="20000"/>
            </a:spcAft>
            <a:buChar char="•"/>
          </a:pPr>
          <a:r>
            <a:rPr lang="en-US" sz="1500" kern="1200"/>
            <a:t>Combined these pathways with PC1-PC10 to make the donor_pathways dataset</a:t>
          </a:r>
          <a:endParaRPr lang="en-US" sz="1500" kern="1200" dirty="0"/>
        </a:p>
      </dsp:txBody>
      <dsp:txXfrm>
        <a:off x="0" y="3387959"/>
        <a:ext cx="7329573" cy="20058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0"/>
          <a:ext cx="7329573" cy="7113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Manual Version</a:t>
          </a:r>
        </a:p>
      </dsp:txBody>
      <dsp:txXfrm>
        <a:off x="34726" y="34726"/>
        <a:ext cx="7260121" cy="641908"/>
      </dsp:txXfrm>
    </dsp:sp>
    <dsp:sp modelId="{EED0CB7D-ACDA-44CD-B272-C220E247B552}">
      <dsp:nvSpPr>
        <dsp:cNvPr id="0" name=""/>
        <dsp:cNvSpPr/>
      </dsp:nvSpPr>
      <dsp:spPr>
        <a:xfrm>
          <a:off x="0" y="715383"/>
          <a:ext cx="7329573"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CatBoost Regressor with default parameters</a:t>
          </a:r>
        </a:p>
        <a:p>
          <a:pPr marL="171450" lvl="1" indent="-171450" algn="l" defTabSz="711200">
            <a:lnSpc>
              <a:spcPct val="90000"/>
            </a:lnSpc>
            <a:spcBef>
              <a:spcPct val="0"/>
            </a:spcBef>
            <a:spcAft>
              <a:spcPct val="20000"/>
            </a:spcAft>
            <a:buChar char="•"/>
          </a:pPr>
          <a:r>
            <a:rPr lang="en-US" sz="1600" kern="1200"/>
            <a:t>Only the top twenty-two genes are included in the training dataset</a:t>
          </a:r>
          <a:endParaRPr lang="en-US" sz="1600" kern="1200" dirty="0"/>
        </a:p>
      </dsp:txBody>
      <dsp:txXfrm>
        <a:off x="0" y="715383"/>
        <a:ext cx="7329573" cy="629280"/>
      </dsp:txXfrm>
    </dsp:sp>
    <dsp:sp modelId="{C2D2DECB-CB77-4F42-AB67-42310F099861}">
      <dsp:nvSpPr>
        <dsp:cNvPr id="0" name=""/>
        <dsp:cNvSpPr/>
      </dsp:nvSpPr>
      <dsp:spPr>
        <a:xfrm>
          <a:off x="0" y="1344663"/>
          <a:ext cx="7329573" cy="7113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Automatic Version</a:t>
          </a:r>
        </a:p>
      </dsp:txBody>
      <dsp:txXfrm>
        <a:off x="34726" y="1379389"/>
        <a:ext cx="7260121" cy="641908"/>
      </dsp:txXfrm>
    </dsp:sp>
    <dsp:sp modelId="{D265ADA7-9C8D-4BFE-ACA7-EBF451E555F5}">
      <dsp:nvSpPr>
        <dsp:cNvPr id="0" name=""/>
        <dsp:cNvSpPr/>
      </dsp:nvSpPr>
      <dsp:spPr>
        <a:xfrm>
          <a:off x="0" y="2056023"/>
          <a:ext cx="7329573" cy="1887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2714"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Specific genes are selected after the train/test split.</a:t>
          </a:r>
        </a:p>
        <a:p>
          <a:pPr marL="171450" lvl="1" indent="-171450" algn="l" defTabSz="711200">
            <a:lnSpc>
              <a:spcPct val="90000"/>
            </a:lnSpc>
            <a:spcBef>
              <a:spcPct val="0"/>
            </a:spcBef>
            <a:spcAft>
              <a:spcPct val="20000"/>
            </a:spcAft>
            <a:buChar char="•"/>
          </a:pPr>
          <a:r>
            <a:rPr lang="en-US" sz="1600" kern="1200" dirty="0"/>
            <a:t>Use a selector model trained on the entire dataset to determine feature importance</a:t>
          </a:r>
        </a:p>
        <a:p>
          <a:pPr marL="171450" lvl="1" indent="-171450" algn="l" defTabSz="711200">
            <a:lnSpc>
              <a:spcPct val="90000"/>
            </a:lnSpc>
            <a:spcBef>
              <a:spcPct val="0"/>
            </a:spcBef>
            <a:spcAft>
              <a:spcPct val="20000"/>
            </a:spcAft>
            <a:buChar char="•"/>
          </a:pPr>
          <a:r>
            <a:rPr lang="en-US" sz="1600" kern="1200"/>
            <a:t>Calculate Shap Values for each gene</a:t>
          </a:r>
          <a:endParaRPr lang="en-US" sz="1600" kern="1200" dirty="0"/>
        </a:p>
        <a:p>
          <a:pPr marL="171450" lvl="1" indent="-171450" algn="l" defTabSz="711200">
            <a:lnSpc>
              <a:spcPct val="90000"/>
            </a:lnSpc>
            <a:spcBef>
              <a:spcPct val="0"/>
            </a:spcBef>
            <a:spcAft>
              <a:spcPct val="20000"/>
            </a:spcAft>
            <a:buChar char="•"/>
          </a:pPr>
          <a:r>
            <a:rPr lang="en-US" sz="1600" kern="1200"/>
            <a:t>Select the genes with Shap Values of 0.005 or higher</a:t>
          </a:r>
          <a:endParaRPr lang="en-US" sz="1600" kern="1200" dirty="0"/>
        </a:p>
        <a:p>
          <a:pPr marL="171450" lvl="1" indent="-171450" algn="l" defTabSz="711200">
            <a:lnSpc>
              <a:spcPct val="90000"/>
            </a:lnSpc>
            <a:spcBef>
              <a:spcPct val="0"/>
            </a:spcBef>
            <a:spcAft>
              <a:spcPct val="20000"/>
            </a:spcAft>
            <a:buChar char="•"/>
          </a:pPr>
          <a:r>
            <a:rPr lang="en-US" sz="1600" kern="1200" dirty="0"/>
            <a:t>Gene list is capped at 22 </a:t>
          </a:r>
        </a:p>
        <a:p>
          <a:pPr marL="171450" lvl="1" indent="-171450" algn="l" defTabSz="711200">
            <a:lnSpc>
              <a:spcPct val="90000"/>
            </a:lnSpc>
            <a:spcBef>
              <a:spcPct val="0"/>
            </a:spcBef>
            <a:spcAft>
              <a:spcPct val="20000"/>
            </a:spcAft>
            <a:buChar char="•"/>
          </a:pPr>
          <a:r>
            <a:rPr lang="en-US" sz="1600" kern="1200"/>
            <a:t>Train a second predictor model with the selected gene list</a:t>
          </a:r>
          <a:endParaRPr lang="en-US" sz="1600" kern="1200" dirty="0"/>
        </a:p>
      </dsp:txBody>
      <dsp:txXfrm>
        <a:off x="0" y="2056023"/>
        <a:ext cx="7329573" cy="18878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111CC-9235-41B8-B581-1B79ED9C122F}">
      <dsp:nvSpPr>
        <dsp:cNvPr id="0" name=""/>
        <dsp:cNvSpPr/>
      </dsp:nvSpPr>
      <dsp:spPr>
        <a:xfrm>
          <a:off x="0" y="157717"/>
          <a:ext cx="7352123" cy="46683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Validate on Similar Datasets</a:t>
          </a:r>
        </a:p>
      </dsp:txBody>
      <dsp:txXfrm>
        <a:off x="22789" y="180506"/>
        <a:ext cx="7306545" cy="421252"/>
      </dsp:txXfrm>
    </dsp:sp>
    <dsp:sp modelId="{2028A981-BE80-42AE-A175-EF14A7AB8C6C}">
      <dsp:nvSpPr>
        <dsp:cNvPr id="0" name=""/>
        <dsp:cNvSpPr/>
      </dsp:nvSpPr>
      <dsp:spPr>
        <a:xfrm>
          <a:off x="0" y="624547"/>
          <a:ext cx="7352123" cy="27530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i="1" kern="1200" dirty="0"/>
            <a:t>“Single-cell RNA-seq reveals novel regulators of human embryonic stem cell differentiation to definitive endoderm”</a:t>
          </a:r>
        </a:p>
        <a:p>
          <a:pPr marL="114300" lvl="1" indent="-114300" algn="l" defTabSz="666750">
            <a:lnSpc>
              <a:spcPct val="90000"/>
            </a:lnSpc>
            <a:spcBef>
              <a:spcPct val="0"/>
            </a:spcBef>
            <a:spcAft>
              <a:spcPct val="20000"/>
            </a:spcAft>
            <a:buChar char="•"/>
          </a:pPr>
          <a:r>
            <a:rPr lang="en-US" sz="1500" i="1" kern="1200" dirty="0"/>
            <a:t>“Population-scale single-cell RNA-seq profiling across dopaminergic neuron differentiation”</a:t>
          </a:r>
        </a:p>
        <a:p>
          <a:pPr marL="114300" lvl="1" indent="-114300" algn="l" defTabSz="666750">
            <a:lnSpc>
              <a:spcPct val="90000"/>
            </a:lnSpc>
            <a:spcBef>
              <a:spcPct val="0"/>
            </a:spcBef>
            <a:spcAft>
              <a:spcPct val="20000"/>
            </a:spcAft>
            <a:buChar char="•"/>
          </a:pPr>
          <a:r>
            <a:rPr lang="en-US" sz="1500" kern="1200" dirty="0"/>
            <a:t>These are two examples of similar datasets on which this approach could be tested and improved.</a:t>
          </a:r>
        </a:p>
        <a:p>
          <a:pPr marL="228600" lvl="2" indent="-114300" algn="l" defTabSz="666750">
            <a:lnSpc>
              <a:spcPct val="90000"/>
            </a:lnSpc>
            <a:spcBef>
              <a:spcPct val="0"/>
            </a:spcBef>
            <a:spcAft>
              <a:spcPct val="20000"/>
            </a:spcAft>
            <a:buFont typeface="+mj-lt"/>
            <a:buAutoNum type="arabicPeriod"/>
          </a:pPr>
          <a:r>
            <a:rPr lang="en-US" sz="1500" kern="1200" dirty="0"/>
            <a:t>Determine the target variable</a:t>
          </a:r>
        </a:p>
        <a:p>
          <a:pPr marL="228600" lvl="2" indent="-114300" algn="l" defTabSz="666750">
            <a:lnSpc>
              <a:spcPct val="90000"/>
            </a:lnSpc>
            <a:spcBef>
              <a:spcPct val="0"/>
            </a:spcBef>
            <a:spcAft>
              <a:spcPct val="20000"/>
            </a:spcAft>
            <a:buFont typeface="+mj-lt"/>
            <a:buAutoNum type="arabicPeriod"/>
          </a:pPr>
          <a:r>
            <a:rPr lang="en-US" sz="1500" kern="1200" dirty="0"/>
            <a:t>Convert single-cell data to bulk counts if necessary.</a:t>
          </a:r>
        </a:p>
        <a:p>
          <a:pPr marL="228600" lvl="2" indent="-114300" algn="l" defTabSz="666750">
            <a:lnSpc>
              <a:spcPct val="90000"/>
            </a:lnSpc>
            <a:spcBef>
              <a:spcPct val="0"/>
            </a:spcBef>
            <a:spcAft>
              <a:spcPct val="20000"/>
            </a:spcAft>
            <a:buFont typeface="+mj-lt"/>
            <a:buAutoNum type="arabicPeriod"/>
          </a:pPr>
          <a:r>
            <a:rPr lang="en-US" sz="1500" kern="1200" dirty="0"/>
            <a:t>Use the CatBoost Regressor run on the to pick the top 20-25 genes.</a:t>
          </a:r>
        </a:p>
        <a:p>
          <a:pPr marL="228600" lvl="2" indent="-114300" algn="l" defTabSz="666750">
            <a:lnSpc>
              <a:spcPct val="90000"/>
            </a:lnSpc>
            <a:spcBef>
              <a:spcPct val="0"/>
            </a:spcBef>
            <a:spcAft>
              <a:spcPct val="20000"/>
            </a:spcAft>
            <a:buFont typeface="+mj-lt"/>
            <a:buAutoNum type="arabicPeriod"/>
          </a:pPr>
          <a:r>
            <a:rPr lang="en-US" sz="1500" kern="1200" dirty="0"/>
            <a:t>Train the model with the top genes.</a:t>
          </a:r>
        </a:p>
        <a:p>
          <a:pPr marL="228600" lvl="2" indent="-114300" algn="l" defTabSz="666750">
            <a:lnSpc>
              <a:spcPct val="90000"/>
            </a:lnSpc>
            <a:spcBef>
              <a:spcPct val="0"/>
            </a:spcBef>
            <a:spcAft>
              <a:spcPct val="20000"/>
            </a:spcAft>
            <a:buFont typeface="+mj-lt"/>
            <a:buAutoNum type="arabicPeriod"/>
          </a:pPr>
          <a:r>
            <a:rPr lang="en-US" sz="1500" kern="1200" dirty="0"/>
            <a:t>Test predictions with MAE and donor ranking as metrics.</a:t>
          </a:r>
        </a:p>
      </dsp:txBody>
      <dsp:txXfrm>
        <a:off x="0" y="624547"/>
        <a:ext cx="7352123" cy="2753099"/>
      </dsp:txXfrm>
    </dsp:sp>
    <dsp:sp modelId="{92EECA0C-D5C9-4DC3-8506-3271A5AD366D}">
      <dsp:nvSpPr>
        <dsp:cNvPr id="0" name=""/>
        <dsp:cNvSpPr/>
      </dsp:nvSpPr>
      <dsp:spPr>
        <a:xfrm>
          <a:off x="0" y="3377647"/>
          <a:ext cx="7352123" cy="46683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Clone Selection in Cell Therapy Development</a:t>
          </a:r>
        </a:p>
      </dsp:txBody>
      <dsp:txXfrm>
        <a:off x="22789" y="3400436"/>
        <a:ext cx="7306545" cy="421252"/>
      </dsp:txXfrm>
    </dsp:sp>
    <dsp:sp modelId="{F419D63E-1F6F-4CB1-9004-4C47EB258D84}">
      <dsp:nvSpPr>
        <dsp:cNvPr id="0" name=""/>
        <dsp:cNvSpPr/>
      </dsp:nvSpPr>
      <dsp:spPr>
        <a:xfrm>
          <a:off x="0" y="3844477"/>
          <a:ext cx="7352123" cy="1042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Cell types relevant to cell therapies include:</a:t>
          </a:r>
        </a:p>
        <a:p>
          <a:pPr marL="228600" lvl="2" indent="-114300" algn="l" defTabSz="666750">
            <a:lnSpc>
              <a:spcPct val="90000"/>
            </a:lnSpc>
            <a:spcBef>
              <a:spcPct val="0"/>
            </a:spcBef>
            <a:spcAft>
              <a:spcPct val="20000"/>
            </a:spcAft>
            <a:buChar char="•"/>
          </a:pPr>
          <a:r>
            <a:rPr lang="en-US" sz="1500" kern="1200" dirty="0"/>
            <a:t>Neurons for treating neurodegenerative diseases</a:t>
          </a:r>
        </a:p>
        <a:p>
          <a:pPr marL="228600" lvl="2" indent="-114300" algn="l" defTabSz="666750">
            <a:lnSpc>
              <a:spcPct val="90000"/>
            </a:lnSpc>
            <a:spcBef>
              <a:spcPct val="0"/>
            </a:spcBef>
            <a:spcAft>
              <a:spcPct val="20000"/>
            </a:spcAft>
            <a:buChar char="•"/>
          </a:pPr>
          <a:r>
            <a:rPr lang="en-US" sz="1500" kern="1200" dirty="0"/>
            <a:t>Immune cells for treating cancers or autoimmune diseases</a:t>
          </a:r>
        </a:p>
        <a:p>
          <a:pPr marL="228600" lvl="2" indent="-114300" algn="l" defTabSz="666750">
            <a:lnSpc>
              <a:spcPct val="90000"/>
            </a:lnSpc>
            <a:spcBef>
              <a:spcPct val="0"/>
            </a:spcBef>
            <a:spcAft>
              <a:spcPct val="20000"/>
            </a:spcAft>
            <a:buChar char="•"/>
          </a:pPr>
          <a:r>
            <a:rPr lang="en-US" sz="1500" kern="1200" dirty="0"/>
            <a:t>Beta islet cells for treating diabetes</a:t>
          </a:r>
        </a:p>
      </dsp:txBody>
      <dsp:txXfrm>
        <a:off x="0" y="3844477"/>
        <a:ext cx="7352123" cy="1042245"/>
      </dsp:txXfrm>
    </dsp:sp>
    <dsp:sp modelId="{52B0E5FD-CC11-4EE4-8181-914946DAB15A}">
      <dsp:nvSpPr>
        <dsp:cNvPr id="0" name=""/>
        <dsp:cNvSpPr/>
      </dsp:nvSpPr>
      <dsp:spPr>
        <a:xfrm>
          <a:off x="0" y="4886721"/>
          <a:ext cx="7352123" cy="46683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In Vivo Result Prediction</a:t>
          </a:r>
        </a:p>
      </dsp:txBody>
      <dsp:txXfrm>
        <a:off x="22789" y="4909510"/>
        <a:ext cx="7306545" cy="421252"/>
      </dsp:txXfrm>
    </dsp:sp>
    <dsp:sp modelId="{E0E71B88-D1F6-4CD5-9748-3B4AF3FC9570}">
      <dsp:nvSpPr>
        <dsp:cNvPr id="0" name=""/>
        <dsp:cNvSpPr/>
      </dsp:nvSpPr>
      <dsp:spPr>
        <a:xfrm>
          <a:off x="0" y="5353552"/>
          <a:ext cx="7352123"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343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Correlating iPSC clone data with results from animal studies. </a:t>
          </a:r>
        </a:p>
        <a:p>
          <a:pPr marL="114300" lvl="1" indent="-114300" algn="l" defTabSz="666750">
            <a:lnSpc>
              <a:spcPct val="90000"/>
            </a:lnSpc>
            <a:spcBef>
              <a:spcPct val="0"/>
            </a:spcBef>
            <a:spcAft>
              <a:spcPct val="20000"/>
            </a:spcAft>
            <a:buChar char="•"/>
          </a:pPr>
          <a:r>
            <a:rPr lang="en-US" sz="1500" kern="1200" dirty="0"/>
            <a:t>The model could be used to better understand the features which impact iPSC clone performance</a:t>
          </a:r>
        </a:p>
      </dsp:txBody>
      <dsp:txXfrm>
        <a:off x="0" y="5353552"/>
        <a:ext cx="7352123" cy="72760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804784-12C0-47C1-940F-D291042BC5D8}"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DE7795-F527-4AB4-B8C5-1B19C09725A8}" type="slidenum">
              <a:rPr lang="en-US" smtClean="0"/>
              <a:t>‹#›</a:t>
            </a:fld>
            <a:endParaRPr lang="en-US"/>
          </a:p>
        </p:txBody>
      </p:sp>
    </p:spTree>
    <p:extLst>
      <p:ext uri="{BB962C8B-B14F-4D97-AF65-F5344CB8AC3E}">
        <p14:creationId xmlns:p14="http://schemas.microsoft.com/office/powerpoint/2010/main" val="646262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p:cNvSpPr>
            <a:spLocks noGrp="1"/>
          </p:cNvSpPr>
          <p:nvPr>
            <p:ph type="sldNum" sz="quarter" idx="5"/>
          </p:nvPr>
        </p:nvSpPr>
        <p:spPr/>
        <p:txBody>
          <a:bodyPr/>
          <a:lstStyle/>
          <a:p>
            <a:fld id="{FDDE7795-F527-4AB4-B8C5-1B19C09725A8}" type="slidenum">
              <a:rPr lang="en-US" smtClean="0"/>
              <a:t>9</a:t>
            </a:fld>
            <a:endParaRPr lang="en-US"/>
          </a:p>
        </p:txBody>
      </p:sp>
    </p:spTree>
    <p:extLst>
      <p:ext uri="{BB962C8B-B14F-4D97-AF65-F5344CB8AC3E}">
        <p14:creationId xmlns:p14="http://schemas.microsoft.com/office/powerpoint/2010/main" val="1247217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91D4F-683E-A10C-3661-E04FA73FB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CA8B71-FAE4-297A-3537-90CC1E0FE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53F2E-1655-7D5E-C8CC-B1503411A0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C62C33-5A3D-9A0D-9470-CE866D79B9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75978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68402-8BE8-B19B-4790-7127024437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A07E6-4D4F-6F1E-2FBA-9105BE983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FD403-C1DC-7957-34CA-B934C97009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9A232BD6-639A-295A-C45E-4439C5070B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3435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4DC2E-3AD4-EF99-2493-E8A5215FA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FBE86-DCF8-18D6-A29E-0C4F2AFB1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616DC-6A87-931E-E895-29472D4916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1CD271C6-49CE-6893-7466-984A10C09F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06034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03106-C36F-5AE5-FE05-EB3A4D3E8F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F75A0-D527-6542-4044-724D8E894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56B02-0F3E-1702-36CE-CA552F1982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23845C81-521F-8EC3-DD3C-50EC35F76B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45914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0BF72-6C89-F2E6-755C-4A68247D8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E49A32-01DB-83E2-AE78-81E5E531C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9E488-CD06-1D36-CCFD-1F91D4C767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785D59-05CF-B7EB-CE52-80908B043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461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32D80-F934-F82C-E05F-1D679D7E1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8E65C-4894-014C-4AF2-4A0910237C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5BDE2-B072-49E2-D2D2-18B80968A9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32FDD-7280-2E0E-B28B-D8FEE2066C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76719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F649-E88F-0BB0-92F7-AF987C288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9DCBB-C238-9586-84C8-6704BE677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9EBB0-B940-1A19-4EC4-D0D6B5AADD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F57620-909F-CBD9-D3AE-D2704F0234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9160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AFF9-3EB4-4A1A-2FB8-5D436BAD90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2D60C-2AD2-F2C1-7E43-736D5448B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8CD81-FAE9-11F0-8CB7-7D82CBF11A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04678E6D-8E2B-61DE-8D6E-9BA6779E71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54646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624E1-4AC2-E432-669C-F513A0948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70C926-7A19-4AE1-08FC-B24AFCAD0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574A0-F318-2ADD-D697-9B9BCC018E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F5D7005C-5CC6-8105-DA03-3FA0912D04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41524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2A83-7E24-75F5-8C50-73AF28DC0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90256-5012-DB45-140D-688E22035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63E1A-1687-2BFC-A5D2-CEC5F2EBD5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CEE8F45F-8BB1-3F52-5C81-83FAF68244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63016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9D0C2-B579-AB50-95D9-BB3FDAFCB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4375B-DDDF-6F9A-E3E6-0DE4A7D58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6068E-ACD3-A272-9D74-20289AADC7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B37BA7D4-28CC-7425-429E-D72F7E1F51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6930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E4FF2-C5F8-B47C-842E-DA3007637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9F271-8FC1-047F-F98B-8121FDC4A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508D6F-687D-F753-D167-0BEF8DF923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E206EFDC-B91D-61AD-334A-9137942BE31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3781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94CC6-A50F-3B46-7E5C-7846E8520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992A0-076F-482C-5C6C-204FEE28C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11111-D397-689B-ACB9-CFC810417D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Figure 1:</a:t>
            </a:r>
            <a:r>
              <a:rPr lang="en-US" sz="1200" dirty="0"/>
              <a:t> Top Left: PCA from top 500 HVGs, colored by day in real time.  Purple=day0, Blue=day1, Green=day2, Yellow=day3.  This PCA satisfactorily replicates the original PCA from Cuomo et al. (top right).  Small differences are expected as the original published figure (right) was made in R using Seurat while replication was done in Python using ScanPy. Bottom Left: PCA pseudotime shows a similar pattern as when the PCA is colored in real time (top left).</a:t>
            </a:r>
          </a:p>
          <a:p>
            <a:endParaRPr lang="en-US" dirty="0"/>
          </a:p>
        </p:txBody>
      </p:sp>
      <p:sp>
        <p:nvSpPr>
          <p:cNvPr id="4" name="Slide Number Placeholder 3">
            <a:extLst>
              <a:ext uri="{FF2B5EF4-FFF2-40B4-BE49-F238E27FC236}">
                <a16:creationId xmlns:a16="http://schemas.microsoft.com/office/drawing/2014/main" id="{54404BC9-E99B-AC1A-ABD4-F1A59C6F56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DE7795-F527-4AB4-B8C5-1B19C09725A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02795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1AFDB-97B2-8091-2877-D05E125C29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1F2D3-E0B5-8515-E60F-717170AA1B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7107AD-52F7-1976-E3A1-B1E256BA1011}"/>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3093C015-AF87-FBDD-46A9-EA52E9A9B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CA929-23C1-5210-6044-147BF0B065CB}"/>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200383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FA3F-87B5-5330-25BC-3D4AC1C59F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5CC964-B3C5-3EDF-A9DB-8A575455A4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30F535-16B4-5CCB-56D6-210C6C2BCB68}"/>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DE1E5B51-8D36-4AA0-EF74-6BEB995E3D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2A0FE5-221F-B3B8-2881-EE242DEF10CA}"/>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822799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56DBD-855F-6396-FAD5-E50BA6B4DB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19B4FA-7DB3-607B-E695-DCEAD47E2E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E40F45-0AAF-8C71-6CF2-B0BDD0EB6CB4}"/>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A8FCF5DF-B3F9-3985-7007-E2A381AAE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FBD6D-9122-9F8F-5217-05222DA34580}"/>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596585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A82A6-D986-46AC-EAD7-8B6D7774F1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FE197C-EA8F-7CC3-DDD1-D2F9B95B78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ED03F90-420C-E51D-7CAD-49159149FC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E9DB24-F287-7744-C19F-8E6B5DE01AED}"/>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02349138-5417-999C-F488-F3ED9ADADA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EAE625-6432-90A4-DA19-6AB7B311ACF5}"/>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2029127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CE421-79EB-2835-2B2C-DD26B4B6A19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D0DD1-B4E0-741E-D688-28D02AC791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CA2424-4C45-1C26-D356-7C873A4117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2504F-35C0-7C34-FF2B-B415FD037E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3D04F-4EA8-BDE5-6FE0-50E25BDD76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AF2611-0FAA-86E4-C689-42B5DE92B13E}"/>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8" name="Footer Placeholder 7">
            <a:extLst>
              <a:ext uri="{FF2B5EF4-FFF2-40B4-BE49-F238E27FC236}">
                <a16:creationId xmlns:a16="http://schemas.microsoft.com/office/drawing/2014/main" id="{4F761F1A-A837-19B8-1843-96B2CB81F51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C0EE96-F249-22BB-4DF2-595DB1C0DA8E}"/>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74039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AAFCE-D7B1-919B-C1A0-8A0088B27C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BB3A82-D075-8621-583A-2AA383208725}"/>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4" name="Footer Placeholder 3">
            <a:extLst>
              <a:ext uri="{FF2B5EF4-FFF2-40B4-BE49-F238E27FC236}">
                <a16:creationId xmlns:a16="http://schemas.microsoft.com/office/drawing/2014/main" id="{996BA238-CF16-8D32-1EC5-512006B58E0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9E996B-8B3C-615F-1A57-E1CD4C64FD04}"/>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645229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9CAAC7-FEC8-4AAD-342E-5B9CC042E1FD}"/>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3" name="Footer Placeholder 2">
            <a:extLst>
              <a:ext uri="{FF2B5EF4-FFF2-40B4-BE49-F238E27FC236}">
                <a16:creationId xmlns:a16="http://schemas.microsoft.com/office/drawing/2014/main" id="{01841025-CBFE-6D7C-A072-9FE1A48811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277FDB-5784-40C3-3777-8ECE34443DA8}"/>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952414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28C31-860A-0F52-09EB-1F0A722D19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0CE9D6-F7D5-1E7C-B7F0-60FD1852B3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4604A7-CC0D-6FB5-4423-52EF289863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24B1B-6890-39E3-E27C-5A398E94AEDE}"/>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781EFDD3-283F-FFF4-6FB9-A3E9384FBE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8E49A-1BE6-6BAE-86A2-3F18A1A79045}"/>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913899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F898F-AF68-BBEC-CA48-B02F2B4CA3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704D0C-495F-5D81-3133-68C80298D0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685284-C83E-28EB-E018-51976F95DD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06F78E-27AD-10AE-AE33-E670B86A82BF}"/>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6" name="Footer Placeholder 5">
            <a:extLst>
              <a:ext uri="{FF2B5EF4-FFF2-40B4-BE49-F238E27FC236}">
                <a16:creationId xmlns:a16="http://schemas.microsoft.com/office/drawing/2014/main" id="{1D66FD77-79A3-D3D9-6A36-261450F7F0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A669B4-24ED-3989-B886-25CD7940C87A}"/>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621081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1045D-7FC4-9B50-CD18-A4D426653D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6FFFD5-48F7-175E-9E6D-9B310D25A3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EDBDDE-610A-200A-2767-F8CDF2A1EA39}"/>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0953EB9A-5EF0-3EC8-15FC-AE54B7FEF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8F2D8D-4507-5A05-00BF-6B80301BD951}"/>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1067816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30B70B-E767-9087-81F2-E64A905878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78D687-90D1-4E45-0860-E31E65DE4D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19EFFD-CF97-3467-61ED-7FC274D5C06C}"/>
              </a:ext>
            </a:extLst>
          </p:cNvPr>
          <p:cNvSpPr>
            <a:spLocks noGrp="1"/>
          </p:cNvSpPr>
          <p:nvPr>
            <p:ph type="dt" sz="half" idx="10"/>
          </p:nvPr>
        </p:nvSpPr>
        <p:spPr/>
        <p:txBody>
          <a:body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6BA3E51B-540A-B897-409F-F56699AA6E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EBB06D-B0C0-4AC6-03C2-8CDF977E4EDD}"/>
              </a:ext>
            </a:extLst>
          </p:cNvPr>
          <p:cNvSpPr>
            <a:spLocks noGrp="1"/>
          </p:cNvSpPr>
          <p:nvPr>
            <p:ph type="sldNum" sz="quarter" idx="12"/>
          </p:nvPr>
        </p:nvSpPr>
        <p:spPr/>
        <p:txBody>
          <a:bodyPr/>
          <a:lstStyle/>
          <a:p>
            <a:fld id="{11DA6229-6767-4D42-BC3E-3B722F7BF8BE}" type="slidenum">
              <a:rPr lang="en-US" smtClean="0"/>
              <a:t>‹#›</a:t>
            </a:fld>
            <a:endParaRPr lang="en-US"/>
          </a:p>
        </p:txBody>
      </p:sp>
    </p:spTree>
    <p:extLst>
      <p:ext uri="{BB962C8B-B14F-4D97-AF65-F5344CB8AC3E}">
        <p14:creationId xmlns:p14="http://schemas.microsoft.com/office/powerpoint/2010/main" val="3291215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6BF1A5-8607-9300-9042-BA0560CB5F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88A727-88F7-61EA-F8CA-7A256F75FB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8E1471-9302-FC58-E241-151556438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CA6DFF-836A-4A39-B24F-575079E9A873}" type="datetimeFigureOut">
              <a:rPr lang="en-US" smtClean="0"/>
              <a:t>4/6/2026</a:t>
            </a:fld>
            <a:endParaRPr lang="en-US"/>
          </a:p>
        </p:txBody>
      </p:sp>
      <p:sp>
        <p:nvSpPr>
          <p:cNvPr id="5" name="Footer Placeholder 4">
            <a:extLst>
              <a:ext uri="{FF2B5EF4-FFF2-40B4-BE49-F238E27FC236}">
                <a16:creationId xmlns:a16="http://schemas.microsoft.com/office/drawing/2014/main" id="{503B1366-BFDE-8AEA-02EB-28456C28CE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C23813-B5C8-C503-44FF-75046DF6B2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DA6229-6767-4D42-BC3E-3B722F7BF8BE}" type="slidenum">
              <a:rPr lang="en-US" smtClean="0"/>
              <a:t>‹#›</a:t>
            </a:fld>
            <a:endParaRPr lang="en-US"/>
          </a:p>
        </p:txBody>
      </p:sp>
    </p:spTree>
    <p:extLst>
      <p:ext uri="{BB962C8B-B14F-4D97-AF65-F5344CB8AC3E}">
        <p14:creationId xmlns:p14="http://schemas.microsoft.com/office/powerpoint/2010/main" val="2608376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 name="Rectangle 105">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6AC2A78-9688-7A86-83D0-124EE403E4D4}"/>
              </a:ext>
            </a:extLst>
          </p:cNvPr>
          <p:cNvSpPr>
            <a:spLocks noGrp="1"/>
          </p:cNvSpPr>
          <p:nvPr>
            <p:ph type="ctrTitle"/>
          </p:nvPr>
        </p:nvSpPr>
        <p:spPr>
          <a:xfrm>
            <a:off x="4162567" y="818984"/>
            <a:ext cx="6714699" cy="3178689"/>
          </a:xfrm>
        </p:spPr>
        <p:txBody>
          <a:bodyPr>
            <a:normAutofit/>
          </a:bodyPr>
          <a:lstStyle/>
          <a:p>
            <a:pPr algn="l"/>
            <a:r>
              <a:rPr lang="en-US" sz="4800">
                <a:solidFill>
                  <a:srgbClr val="FFFFFF"/>
                </a:solidFill>
              </a:rPr>
              <a:t>iPSC Donor Selection  by Modelling Differentiation Efficiency</a:t>
            </a:r>
          </a:p>
        </p:txBody>
      </p:sp>
      <p:sp>
        <p:nvSpPr>
          <p:cNvPr id="107" name="Rectangle 10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BD43777F-7860-3883-BF2A-D4680B58D991}"/>
              </a:ext>
            </a:extLst>
          </p:cNvPr>
          <p:cNvSpPr>
            <a:spLocks noGrp="1"/>
          </p:cNvSpPr>
          <p:nvPr>
            <p:ph type="subTitle" idx="1"/>
          </p:nvPr>
        </p:nvSpPr>
        <p:spPr>
          <a:xfrm>
            <a:off x="4285397" y="4960961"/>
            <a:ext cx="7055893" cy="1078054"/>
          </a:xfrm>
        </p:spPr>
        <p:txBody>
          <a:bodyPr>
            <a:normAutofit/>
          </a:bodyPr>
          <a:lstStyle/>
          <a:p>
            <a:pPr algn="l"/>
            <a:r>
              <a:rPr lang="en-US" sz="1700">
                <a:solidFill>
                  <a:srgbClr val="FFFFFF"/>
                </a:solidFill>
              </a:rPr>
              <a:t>Devon Svoboda</a:t>
            </a:r>
          </a:p>
          <a:p>
            <a:pPr algn="l"/>
            <a:r>
              <a:rPr lang="en-US" sz="1700">
                <a:solidFill>
                  <a:srgbClr val="FFFFFF"/>
                </a:solidFill>
              </a:rPr>
              <a:t>Data Science Capstone #3</a:t>
            </a:r>
          </a:p>
          <a:p>
            <a:pPr algn="l"/>
            <a:r>
              <a:rPr lang="en-US" sz="1700">
                <a:solidFill>
                  <a:srgbClr val="FFFFFF"/>
                </a:solidFill>
              </a:rPr>
              <a:t>April 2026</a:t>
            </a:r>
          </a:p>
        </p:txBody>
      </p:sp>
    </p:spTree>
    <p:extLst>
      <p:ext uri="{BB962C8B-B14F-4D97-AF65-F5344CB8AC3E}">
        <p14:creationId xmlns:p14="http://schemas.microsoft.com/office/powerpoint/2010/main" val="2825848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DCE7FD-27CF-6444-5232-4F295F00682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8" name="Rectangle 37">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0C0FA8DF-59AB-D40B-EF88-A0ED9902BA8B}"/>
              </a:ext>
            </a:extLst>
          </p:cNvPr>
          <p:cNvSpPr txBox="1">
            <a:spLocks/>
          </p:cNvSpPr>
          <p:nvPr/>
        </p:nvSpPr>
        <p:spPr>
          <a:xfrm>
            <a:off x="699714" y="353160"/>
            <a:ext cx="7091300"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sz="4000" b="0" i="0" u="none" strike="noStrike" cap="none" spc="0" normalizeH="0" baseline="0" noProof="0">
                <a:ln>
                  <a:noFill/>
                </a:ln>
                <a:solidFill>
                  <a:srgbClr val="FFFFFF"/>
                </a:solidFill>
                <a:effectLst/>
                <a:uLnTx/>
                <a:uFillTx/>
              </a:rPr>
              <a:t>Cell Therapy Development</a:t>
            </a:r>
          </a:p>
        </p:txBody>
      </p:sp>
      <p:pic>
        <p:nvPicPr>
          <p:cNvPr id="3" name="Graphic 2">
            <a:extLst>
              <a:ext uri="{FF2B5EF4-FFF2-40B4-BE49-F238E27FC236}">
                <a16:creationId xmlns:a16="http://schemas.microsoft.com/office/drawing/2014/main" id="{CB52E61A-B3EA-5A9C-1B6F-81A520AF2C6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5521" y="2364229"/>
            <a:ext cx="5729890" cy="3223063"/>
          </a:xfrm>
          <a:prstGeom prst="rect">
            <a:avLst/>
          </a:prstGeom>
        </p:spPr>
      </p:pic>
      <p:pic>
        <p:nvPicPr>
          <p:cNvPr id="4" name="Graphic 3">
            <a:extLst>
              <a:ext uri="{FF2B5EF4-FFF2-40B4-BE49-F238E27FC236}">
                <a16:creationId xmlns:a16="http://schemas.microsoft.com/office/drawing/2014/main" id="{1B52BD39-3423-A206-6EC1-B7B13414C22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68761" y="2364229"/>
            <a:ext cx="5729889" cy="3226046"/>
          </a:xfrm>
          <a:prstGeom prst="rect">
            <a:avLst/>
          </a:prstGeom>
        </p:spPr>
      </p:pic>
      <p:sp>
        <p:nvSpPr>
          <p:cNvPr id="5" name="TextBox 4">
            <a:extLst>
              <a:ext uri="{FF2B5EF4-FFF2-40B4-BE49-F238E27FC236}">
                <a16:creationId xmlns:a16="http://schemas.microsoft.com/office/drawing/2014/main" id="{82647F32-181C-324C-FB27-7B84C183275C}"/>
              </a:ext>
            </a:extLst>
          </p:cNvPr>
          <p:cNvSpPr txBox="1"/>
          <p:nvPr/>
        </p:nvSpPr>
        <p:spPr>
          <a:xfrm>
            <a:off x="7581901" y="6378057"/>
            <a:ext cx="4610100" cy="253916"/>
          </a:xfrm>
          <a:prstGeom prst="rect">
            <a:avLst/>
          </a:prstGeom>
          <a:noFill/>
        </p:spPr>
        <p:txBody>
          <a:bodyPr wrap="square" rtlCol="0">
            <a:spAutoFit/>
          </a:bodyPr>
          <a:lstStyle/>
          <a:p>
            <a:r>
              <a:rPr lang="en-US" sz="1050" i="1" dirty="0"/>
              <a:t>https://www.evotec.com/solutions/next-gen-platforms/ipsc-cell-therapies</a:t>
            </a:r>
          </a:p>
        </p:txBody>
      </p:sp>
    </p:spTree>
    <p:extLst>
      <p:ext uri="{BB962C8B-B14F-4D97-AF65-F5344CB8AC3E}">
        <p14:creationId xmlns:p14="http://schemas.microsoft.com/office/powerpoint/2010/main" val="2618408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A69436-8B31-6FAC-7268-A1AB928ECCE3}"/>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392D0A5-E4B5-BC83-55E9-2A236F245770}"/>
              </a:ext>
            </a:extLst>
          </p:cNvPr>
          <p:cNvSpPr txBox="1">
            <a:spLocks/>
          </p:cNvSpPr>
          <p:nvPr/>
        </p:nvSpPr>
        <p:spPr>
          <a:xfrm>
            <a:off x="180975" y="248038"/>
            <a:ext cx="7582459"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sz="4000" b="0" i="0" u="none" strike="noStrike" kern="1200" cap="none" spc="0" normalizeH="0" baseline="0" noProof="0" dirty="0">
                <a:ln>
                  <a:noFill/>
                </a:ln>
                <a:solidFill>
                  <a:srgbClr val="FFFFFF"/>
                </a:solidFill>
                <a:effectLst/>
                <a:uLnTx/>
                <a:uFillTx/>
                <a:latin typeface="+mj-lt"/>
                <a:ea typeface="+mj-ea"/>
                <a:cs typeface="+mj-cs"/>
              </a:rPr>
              <a:t>Cell Therapy Development: Donors</a:t>
            </a:r>
          </a:p>
        </p:txBody>
      </p:sp>
      <p:pic>
        <p:nvPicPr>
          <p:cNvPr id="23" name="Picture 22">
            <a:extLst>
              <a:ext uri="{FF2B5EF4-FFF2-40B4-BE49-F238E27FC236}">
                <a16:creationId xmlns:a16="http://schemas.microsoft.com/office/drawing/2014/main" id="{52BCBC18-BA36-91C4-D62D-C09F479ACA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2247" y="1733550"/>
            <a:ext cx="9110135" cy="5124450"/>
          </a:xfrm>
          <a:prstGeom prst="rect">
            <a:avLst/>
          </a:prstGeom>
        </p:spPr>
      </p:pic>
      <p:sp>
        <p:nvSpPr>
          <p:cNvPr id="24" name="TextBox 23">
            <a:extLst>
              <a:ext uri="{FF2B5EF4-FFF2-40B4-BE49-F238E27FC236}">
                <a16:creationId xmlns:a16="http://schemas.microsoft.com/office/drawing/2014/main" id="{F2C6F92E-EBE4-C766-A133-06A1EA602D9C}"/>
              </a:ext>
            </a:extLst>
          </p:cNvPr>
          <p:cNvSpPr txBox="1"/>
          <p:nvPr/>
        </p:nvSpPr>
        <p:spPr>
          <a:xfrm>
            <a:off x="7348330" y="6318289"/>
            <a:ext cx="4686299" cy="415498"/>
          </a:xfrm>
          <a:prstGeom prst="rect">
            <a:avLst/>
          </a:prstGeom>
          <a:noFill/>
        </p:spPr>
        <p:txBody>
          <a:bodyPr wrap="square" rtlCol="0">
            <a:spAutoFit/>
          </a:bodyPr>
          <a:lstStyle/>
          <a:p>
            <a:r>
              <a:rPr lang="en-US" sz="1050" i="1" dirty="0"/>
              <a:t>https://www.reprocell.com/blog/key-challenges-in-clinical-ipsc-applications-how-reprocell-helps-you-succeed</a:t>
            </a:r>
          </a:p>
        </p:txBody>
      </p:sp>
    </p:spTree>
    <p:extLst>
      <p:ext uri="{BB962C8B-B14F-4D97-AF65-F5344CB8AC3E}">
        <p14:creationId xmlns:p14="http://schemas.microsoft.com/office/powerpoint/2010/main" val="239999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AD1B5A-5C44-C3D9-F340-A24C5989D39C}"/>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853D303D-B61C-FFAF-2BCA-6946699F6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Rectangle 37">
            <a:extLst>
              <a:ext uri="{FF2B5EF4-FFF2-40B4-BE49-F238E27FC236}">
                <a16:creationId xmlns:a16="http://schemas.microsoft.com/office/drawing/2014/main" id="{0F7A7799-C64F-BD0D-9CE4-D7C2A07DA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Rectangle 39">
            <a:extLst>
              <a:ext uri="{FF2B5EF4-FFF2-40B4-BE49-F238E27FC236}">
                <a16:creationId xmlns:a16="http://schemas.microsoft.com/office/drawing/2014/main" id="{EE8E36D6-3FAB-06D6-F00E-5BBFE8C6C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2" name="Rectangle 41">
            <a:extLst>
              <a:ext uri="{FF2B5EF4-FFF2-40B4-BE49-F238E27FC236}">
                <a16:creationId xmlns:a16="http://schemas.microsoft.com/office/drawing/2014/main" id="{3ABC7F17-B385-4405-48E6-4A9B979DE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F47207AE-7E41-1197-6E66-8B9FF2C9D5BE}"/>
              </a:ext>
            </a:extLst>
          </p:cNvPr>
          <p:cNvSpPr txBox="1">
            <a:spLocks/>
          </p:cNvSpPr>
          <p:nvPr/>
        </p:nvSpPr>
        <p:spPr>
          <a:xfrm>
            <a:off x="180975" y="248038"/>
            <a:ext cx="7582459" cy="11592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000" b="0" i="0" u="none" strike="noStrike" kern="1200" cap="none" spc="0" normalizeH="0" baseline="0" noProof="0" dirty="0">
                <a:ln>
                  <a:noFill/>
                </a:ln>
                <a:solidFill>
                  <a:srgbClr val="FFFFFF"/>
                </a:solidFill>
                <a:effectLst/>
                <a:uLnTx/>
                <a:uFillTx/>
                <a:latin typeface="Aptos Display" panose="02110004020202020204"/>
                <a:ea typeface="+mj-ea"/>
                <a:cs typeface="+mj-cs"/>
              </a:rPr>
              <a:t>Problem Statement</a:t>
            </a:r>
          </a:p>
        </p:txBody>
      </p:sp>
      <p:sp>
        <p:nvSpPr>
          <p:cNvPr id="3" name="TextBox 2">
            <a:extLst>
              <a:ext uri="{FF2B5EF4-FFF2-40B4-BE49-F238E27FC236}">
                <a16:creationId xmlns:a16="http://schemas.microsoft.com/office/drawing/2014/main" id="{EB3A56FB-6204-C0C5-3E62-672E9E1BC361}"/>
              </a:ext>
            </a:extLst>
          </p:cNvPr>
          <p:cNvSpPr txBox="1"/>
          <p:nvPr/>
        </p:nvSpPr>
        <p:spPr>
          <a:xfrm>
            <a:off x="1988340" y="2105025"/>
            <a:ext cx="8215315" cy="461665"/>
          </a:xfrm>
          <a:prstGeom prst="rect">
            <a:avLst/>
          </a:prstGeom>
          <a:noFill/>
        </p:spPr>
        <p:txBody>
          <a:bodyPr wrap="square" rtlCol="0">
            <a:spAutoFit/>
          </a:bodyPr>
          <a:lstStyle/>
          <a:p>
            <a:r>
              <a:rPr lang="en-US" sz="2400" dirty="0"/>
              <a:t>Can we use iPSC data to the success of differentiated cells?</a:t>
            </a:r>
          </a:p>
        </p:txBody>
      </p:sp>
      <p:sp>
        <p:nvSpPr>
          <p:cNvPr id="4" name="TextBox 3">
            <a:extLst>
              <a:ext uri="{FF2B5EF4-FFF2-40B4-BE49-F238E27FC236}">
                <a16:creationId xmlns:a16="http://schemas.microsoft.com/office/drawing/2014/main" id="{CD048767-602E-E302-9F3A-6E7D88BA0B79}"/>
              </a:ext>
            </a:extLst>
          </p:cNvPr>
          <p:cNvSpPr txBox="1"/>
          <p:nvPr/>
        </p:nvSpPr>
        <p:spPr>
          <a:xfrm>
            <a:off x="2469355" y="3095759"/>
            <a:ext cx="7600950" cy="1477328"/>
          </a:xfrm>
          <a:prstGeom prst="rect">
            <a:avLst/>
          </a:prstGeom>
          <a:noFill/>
        </p:spPr>
        <p:txBody>
          <a:bodyPr wrap="square" rtlCol="0">
            <a:spAutoFit/>
          </a:bodyPr>
          <a:lstStyle/>
          <a:p>
            <a:r>
              <a:rPr lang="en-US" i="1" dirty="0"/>
              <a:t>Which donor or clone will differentiate with the greatest efficiency?</a:t>
            </a:r>
          </a:p>
          <a:p>
            <a:endParaRPr lang="en-US" i="1" dirty="0"/>
          </a:p>
          <a:p>
            <a:r>
              <a:rPr lang="en-US" i="1" dirty="0"/>
              <a:t>Which clone will have the more robust function in our key assay?</a:t>
            </a:r>
          </a:p>
          <a:p>
            <a:endParaRPr lang="en-US" i="1" dirty="0"/>
          </a:p>
          <a:p>
            <a:r>
              <a:rPr lang="en-US" i="1" dirty="0"/>
              <a:t>Which clone will do the best in animal or human trials?</a:t>
            </a:r>
          </a:p>
        </p:txBody>
      </p:sp>
      <p:sp>
        <p:nvSpPr>
          <p:cNvPr id="7" name="TextBox 6">
            <a:extLst>
              <a:ext uri="{FF2B5EF4-FFF2-40B4-BE49-F238E27FC236}">
                <a16:creationId xmlns:a16="http://schemas.microsoft.com/office/drawing/2014/main" id="{C676D259-B686-433B-2153-3EC15AA66FAE}"/>
              </a:ext>
            </a:extLst>
          </p:cNvPr>
          <p:cNvSpPr txBox="1"/>
          <p:nvPr/>
        </p:nvSpPr>
        <p:spPr>
          <a:xfrm>
            <a:off x="434570" y="4892708"/>
            <a:ext cx="10713253" cy="1200329"/>
          </a:xfrm>
          <a:prstGeom prst="rect">
            <a:avLst/>
          </a:prstGeom>
          <a:noFill/>
        </p:spPr>
        <p:txBody>
          <a:bodyPr wrap="square" rtlCol="0">
            <a:spAutoFit/>
          </a:bodyPr>
          <a:lstStyle/>
          <a:p>
            <a:pPr algn="ctr"/>
            <a:r>
              <a:rPr lang="en-US" sz="2400" u="sng" dirty="0"/>
              <a:t>Project Goal</a:t>
            </a:r>
          </a:p>
          <a:p>
            <a:pPr algn="ctr"/>
            <a:r>
              <a:rPr lang="en-US" sz="2400" dirty="0"/>
              <a:t>Build a model that can predict differentiation efficiency of iPSC donors into definitive endoderm cells.</a:t>
            </a:r>
          </a:p>
        </p:txBody>
      </p:sp>
    </p:spTree>
    <p:extLst>
      <p:ext uri="{BB962C8B-B14F-4D97-AF65-F5344CB8AC3E}">
        <p14:creationId xmlns:p14="http://schemas.microsoft.com/office/powerpoint/2010/main" val="172843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D7BBB0-79BC-A3AF-EF17-07BB40759ED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C535D20-BCBD-7517-A8EB-AFADC611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6B530E2E-95B5-E43E-D4CD-D952B86CD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51194CD7-E579-18EA-A717-EB54D7169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E0C7C5B1-4719-E916-F167-8B17718B2A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CA2417A0-1509-C291-01A9-077B8381B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9A531091-7D75-2314-F3E2-EB5EF4E37A06}"/>
              </a:ext>
            </a:extLst>
          </p:cNvPr>
          <p:cNvSpPr txBox="1">
            <a:spLocks/>
          </p:cNvSpPr>
          <p:nvPr/>
        </p:nvSpPr>
        <p:spPr>
          <a:xfrm>
            <a:off x="302901" y="321828"/>
            <a:ext cx="7091300"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schemeClr val="bg1"/>
                </a:solidFill>
              </a:rPr>
              <a:t>Data Wrangling: Dataset</a:t>
            </a:r>
            <a:endParaRPr kumimoji="0" lang="en-US" sz="4000" b="0" i="0" u="none" strike="noStrike" kern="1200" cap="none" spc="0" normalizeH="0" baseline="0" noProof="0" dirty="0">
              <a:ln>
                <a:noFill/>
              </a:ln>
              <a:solidFill>
                <a:schemeClr val="bg1"/>
              </a:solidFill>
              <a:effectLst/>
              <a:uLnTx/>
              <a:uFillTx/>
              <a:latin typeface="Aptos Display" panose="02110004020202020204"/>
              <a:ea typeface="+mj-ea"/>
              <a:cs typeface="+mj-cs"/>
            </a:endParaRPr>
          </a:p>
        </p:txBody>
      </p:sp>
      <p:pic>
        <p:nvPicPr>
          <p:cNvPr id="5" name="Picture 4">
            <a:extLst>
              <a:ext uri="{FF2B5EF4-FFF2-40B4-BE49-F238E27FC236}">
                <a16:creationId xmlns:a16="http://schemas.microsoft.com/office/drawing/2014/main" id="{390C50B7-C02F-5628-D097-799D3BBE25BC}"/>
              </a:ext>
            </a:extLst>
          </p:cNvPr>
          <p:cNvPicPr>
            <a:picLocks noChangeAspect="1"/>
          </p:cNvPicPr>
          <p:nvPr/>
        </p:nvPicPr>
        <p:blipFill>
          <a:blip r:embed="rId2"/>
          <a:stretch>
            <a:fillRect/>
          </a:stretch>
        </p:blipFill>
        <p:spPr>
          <a:xfrm>
            <a:off x="249643" y="1787405"/>
            <a:ext cx="7144558" cy="4743518"/>
          </a:xfrm>
          <a:prstGeom prst="rect">
            <a:avLst/>
          </a:prstGeom>
        </p:spPr>
      </p:pic>
      <p:grpSp>
        <p:nvGrpSpPr>
          <p:cNvPr id="7" name="Group 6">
            <a:extLst>
              <a:ext uri="{FF2B5EF4-FFF2-40B4-BE49-F238E27FC236}">
                <a16:creationId xmlns:a16="http://schemas.microsoft.com/office/drawing/2014/main" id="{048F6840-1BDD-DE29-8688-2FBB7ED2956F}"/>
              </a:ext>
            </a:extLst>
          </p:cNvPr>
          <p:cNvGrpSpPr>
            <a:grpSpLocks noChangeAspect="1"/>
          </p:cNvGrpSpPr>
          <p:nvPr/>
        </p:nvGrpSpPr>
        <p:grpSpPr>
          <a:xfrm>
            <a:off x="5827351" y="69747"/>
            <a:ext cx="6089013" cy="1424086"/>
            <a:chOff x="838197" y="1551622"/>
            <a:chExt cx="8916647" cy="2085407"/>
          </a:xfrm>
        </p:grpSpPr>
        <p:pic>
          <p:nvPicPr>
            <p:cNvPr id="11" name="Picture 10">
              <a:extLst>
                <a:ext uri="{FF2B5EF4-FFF2-40B4-BE49-F238E27FC236}">
                  <a16:creationId xmlns:a16="http://schemas.microsoft.com/office/drawing/2014/main" id="{2CC697CA-D554-F052-A63E-AC285239B7B1}"/>
                </a:ext>
              </a:extLst>
            </p:cNvPr>
            <p:cNvPicPr>
              <a:picLocks noChangeAspect="1"/>
            </p:cNvPicPr>
            <p:nvPr/>
          </p:nvPicPr>
          <p:blipFill>
            <a:blip r:embed="rId3"/>
            <a:srcRect l="1660" t="-297" r="-1" b="-1"/>
            <a:stretch>
              <a:fillRect/>
            </a:stretch>
          </p:blipFill>
          <p:spPr>
            <a:xfrm>
              <a:off x="838197" y="1551622"/>
              <a:ext cx="3441110" cy="473387"/>
            </a:xfrm>
            <a:prstGeom prst="rect">
              <a:avLst/>
            </a:prstGeom>
          </p:spPr>
        </p:pic>
        <p:pic>
          <p:nvPicPr>
            <p:cNvPr id="13" name="Picture 12">
              <a:extLst>
                <a:ext uri="{FF2B5EF4-FFF2-40B4-BE49-F238E27FC236}">
                  <a16:creationId xmlns:a16="http://schemas.microsoft.com/office/drawing/2014/main" id="{B5EC5552-BFC1-8203-AA87-CBAA6806888D}"/>
                </a:ext>
              </a:extLst>
            </p:cNvPr>
            <p:cNvPicPr>
              <a:picLocks noChangeAspect="1"/>
            </p:cNvPicPr>
            <p:nvPr/>
          </p:nvPicPr>
          <p:blipFill>
            <a:blip r:embed="rId4"/>
            <a:srcRect b="40572"/>
            <a:stretch>
              <a:fillRect/>
            </a:stretch>
          </p:blipFill>
          <p:spPr>
            <a:xfrm>
              <a:off x="838200" y="1966953"/>
              <a:ext cx="8916644" cy="1670076"/>
            </a:xfrm>
            <a:prstGeom prst="rect">
              <a:avLst/>
            </a:prstGeom>
          </p:spPr>
        </p:pic>
      </p:grpSp>
      <p:sp>
        <p:nvSpPr>
          <p:cNvPr id="15" name="Rectangle 14">
            <a:extLst>
              <a:ext uri="{FF2B5EF4-FFF2-40B4-BE49-F238E27FC236}">
                <a16:creationId xmlns:a16="http://schemas.microsoft.com/office/drawing/2014/main" id="{8904C429-F3CB-5C26-2038-B1D3B1192CEE}"/>
              </a:ext>
            </a:extLst>
          </p:cNvPr>
          <p:cNvSpPr/>
          <p:nvPr/>
        </p:nvSpPr>
        <p:spPr>
          <a:xfrm>
            <a:off x="3476625" y="5822807"/>
            <a:ext cx="2430691" cy="558943"/>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79756B9F-9DB1-EDB6-88EA-4B0C5E804F79}"/>
              </a:ext>
            </a:extLst>
          </p:cNvPr>
          <p:cNvSpPr/>
          <p:nvPr/>
        </p:nvSpPr>
        <p:spPr>
          <a:xfrm>
            <a:off x="5943584" y="5942786"/>
            <a:ext cx="1313560" cy="3071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2C87EF-7A61-0193-7690-CB6187A0D0D5}"/>
              </a:ext>
            </a:extLst>
          </p:cNvPr>
          <p:cNvSpPr txBox="1"/>
          <p:nvPr/>
        </p:nvSpPr>
        <p:spPr>
          <a:xfrm>
            <a:off x="7293412" y="5601719"/>
            <a:ext cx="4027582" cy="1015663"/>
          </a:xfrm>
          <a:prstGeom prst="rect">
            <a:avLst/>
          </a:prstGeom>
          <a:noFill/>
        </p:spPr>
        <p:txBody>
          <a:bodyPr wrap="square" rtlCol="0">
            <a:spAutoFit/>
          </a:bodyPr>
          <a:lstStyle/>
          <a:p>
            <a:r>
              <a:rPr lang="en-US" sz="2000" dirty="0"/>
              <a:t>36,000 cells from 125 donors</a:t>
            </a:r>
          </a:p>
          <a:p>
            <a:r>
              <a:rPr lang="en-US" sz="2000" dirty="0"/>
              <a:t>11,000 genes in dense matrix</a:t>
            </a:r>
          </a:p>
          <a:p>
            <a:r>
              <a:rPr lang="en-US" sz="2000" dirty="0"/>
              <a:t>Relevant Metadata: day, donor</a:t>
            </a:r>
          </a:p>
        </p:txBody>
      </p:sp>
      <p:sp>
        <p:nvSpPr>
          <p:cNvPr id="21" name="TextBox 20">
            <a:extLst>
              <a:ext uri="{FF2B5EF4-FFF2-40B4-BE49-F238E27FC236}">
                <a16:creationId xmlns:a16="http://schemas.microsoft.com/office/drawing/2014/main" id="{9CA1EFEA-9C41-253A-6383-6AA2BC7FBB1A}"/>
              </a:ext>
            </a:extLst>
          </p:cNvPr>
          <p:cNvSpPr txBox="1"/>
          <p:nvPr/>
        </p:nvSpPr>
        <p:spPr>
          <a:xfrm>
            <a:off x="739373" y="1675403"/>
            <a:ext cx="10713253" cy="369332"/>
          </a:xfrm>
          <a:prstGeom prst="rect">
            <a:avLst/>
          </a:prstGeom>
          <a:noFill/>
        </p:spPr>
        <p:txBody>
          <a:bodyPr wrap="square" rtlCol="0">
            <a:spAutoFit/>
          </a:bodyPr>
          <a:lstStyle/>
          <a:p>
            <a:pPr algn="ctr"/>
            <a:r>
              <a:rPr lang="en-US" dirty="0"/>
              <a:t>Build a model that can predict differentiation efficiency of iPSC donors into definitive endoderm cells.</a:t>
            </a:r>
          </a:p>
        </p:txBody>
      </p:sp>
    </p:spTree>
    <p:extLst>
      <p:ext uri="{BB962C8B-B14F-4D97-AF65-F5344CB8AC3E}">
        <p14:creationId xmlns:p14="http://schemas.microsoft.com/office/powerpoint/2010/main" val="260499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90BA-9DB8-C0F6-7B32-9B998A35E819}"/>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6EFC99B0-E61D-89C8-8713-9389836C0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EC2B8F3-73C4-79D3-BBBE-0A147D1EEF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A4CCDCAB-63A0-18C4-933A-E56BF4DA3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6222952D-0A2F-913B-68EC-FED34ABBDF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0D97074A-CFEF-F17F-DE1B-D5DB2D5C9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A359A85F-2B5A-6C89-7424-A444673F62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45E448-D239-E6CB-91FA-FDE76860E0F4}"/>
              </a:ext>
            </a:extLst>
          </p:cNvPr>
          <p:cNvSpPr>
            <a:spLocks noGrp="1"/>
          </p:cNvSpPr>
          <p:nvPr>
            <p:ph type="title"/>
          </p:nvPr>
        </p:nvSpPr>
        <p:spPr>
          <a:xfrm>
            <a:off x="586478" y="1683756"/>
            <a:ext cx="3115265" cy="2396359"/>
          </a:xfrm>
        </p:spPr>
        <p:txBody>
          <a:bodyPr anchor="b">
            <a:normAutofit/>
          </a:bodyPr>
          <a:lstStyle/>
          <a:p>
            <a:pPr algn="r"/>
            <a:r>
              <a:rPr lang="en-US" sz="6000" dirty="0">
                <a:solidFill>
                  <a:srgbClr val="FFFFFF"/>
                </a:solidFill>
              </a:rPr>
              <a:t>Project Pipeline</a:t>
            </a:r>
          </a:p>
        </p:txBody>
      </p:sp>
      <p:graphicFrame>
        <p:nvGraphicFramePr>
          <p:cNvPr id="9" name="Content Placeholder 2">
            <a:extLst>
              <a:ext uri="{FF2B5EF4-FFF2-40B4-BE49-F238E27FC236}">
                <a16:creationId xmlns:a16="http://schemas.microsoft.com/office/drawing/2014/main" id="{29429BD6-5A83-2EF0-5C0E-A037CD388252}"/>
              </a:ext>
            </a:extLst>
          </p:cNvPr>
          <p:cNvGraphicFramePr>
            <a:graphicFrameLocks noGrp="1"/>
          </p:cNvGraphicFramePr>
          <p:nvPr>
            <p:ph idx="1"/>
            <p:extLst>
              <p:ext uri="{D42A27DB-BD31-4B8C-83A1-F6EECF244321}">
                <p14:modId xmlns:p14="http://schemas.microsoft.com/office/powerpoint/2010/main" val="2818398794"/>
              </p:ext>
            </p:extLst>
          </p:nvPr>
        </p:nvGraphicFramePr>
        <p:xfrm>
          <a:off x="5041903" y="58988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88861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AB281-BBB9-D8FF-B187-EC2B8BED7040}"/>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EDA626-2145-C312-6134-678C1A9B667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Data Wrangling: Data Cleaning</a:t>
            </a:r>
          </a:p>
        </p:txBody>
      </p:sp>
      <p:graphicFrame>
        <p:nvGraphicFramePr>
          <p:cNvPr id="5" name="Content Placeholder 2">
            <a:extLst>
              <a:ext uri="{FF2B5EF4-FFF2-40B4-BE49-F238E27FC236}">
                <a16:creationId xmlns:a16="http://schemas.microsoft.com/office/drawing/2014/main" id="{ED3061B1-071C-6884-72EB-A5487C43B20D}"/>
              </a:ext>
            </a:extLst>
          </p:cNvPr>
          <p:cNvGraphicFramePr>
            <a:graphicFrameLocks noGrp="1"/>
          </p:cNvGraphicFramePr>
          <p:nvPr>
            <p:ph idx="1"/>
            <p:extLst>
              <p:ext uri="{D42A27DB-BD31-4B8C-83A1-F6EECF244321}">
                <p14:modId xmlns:p14="http://schemas.microsoft.com/office/powerpoint/2010/main" val="659803582"/>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28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73F7C-EB9A-B98F-6F94-25BF1F20838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329D66E-1184-B6A4-0D93-ADB0BAC2D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2FA2A256-3F79-36E9-0A0C-807D97FE9A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0094D63D-71DC-43CF-8F7B-30853C86B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156B7B08-DAB2-790E-4E06-49974291C2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71024AFB-2C18-F041-B14E-B7D489DD2D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9D6B115F-AFFE-CF4B-6BD3-3D96EB11FA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DD1B9981-4062-4D3C-D1B6-6B40B96EA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C91B6373-9879-35BB-DC8F-6E1E03E1927C}"/>
              </a:ext>
            </a:extLst>
          </p:cNvPr>
          <p:cNvSpPr>
            <a:spLocks noGrp="1"/>
          </p:cNvSpPr>
          <p:nvPr>
            <p:ph type="title"/>
          </p:nvPr>
        </p:nvSpPr>
        <p:spPr>
          <a:xfrm>
            <a:off x="3673150" y="2531845"/>
            <a:ext cx="7284935"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Exploratory Data Analysis</a:t>
            </a:r>
          </a:p>
        </p:txBody>
      </p:sp>
    </p:spTree>
    <p:extLst>
      <p:ext uri="{BB962C8B-B14F-4D97-AF65-F5344CB8AC3E}">
        <p14:creationId xmlns:p14="http://schemas.microsoft.com/office/powerpoint/2010/main" val="3656892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A9F7FB-3AA1-39FB-FA31-C41CD01112A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BD00B8E-79CE-8CD1-31C7-F270F62CE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DFCE4F8-2ADB-8C57-55DA-3A0DAC05D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83F0062-234B-2E32-001D-E0EB210EB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5D74BC5-FE00-130F-23A5-94985DD91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6CF6AC2-A9E5-6FEE-52C2-A48BB5EBC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937A90D-FF58-99C4-87A4-89BEA200867A}"/>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EDA: Reproduce PCA from publication</a:t>
            </a:r>
          </a:p>
        </p:txBody>
      </p:sp>
      <p:pic>
        <p:nvPicPr>
          <p:cNvPr id="1026" name="Picture 2">
            <a:extLst>
              <a:ext uri="{FF2B5EF4-FFF2-40B4-BE49-F238E27FC236}">
                <a16:creationId xmlns:a16="http://schemas.microsoft.com/office/drawing/2014/main" id="{ED190213-FAA5-A5DC-8916-2A31DB758A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0733" y="1897289"/>
            <a:ext cx="4220810" cy="310632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93DA3120-14B3-8AD2-F6A1-5319953C0A59}"/>
              </a:ext>
            </a:extLst>
          </p:cNvPr>
          <p:cNvPicPr>
            <a:picLocks noChangeAspect="1"/>
          </p:cNvPicPr>
          <p:nvPr/>
        </p:nvPicPr>
        <p:blipFill>
          <a:blip r:embed="rId4"/>
          <a:srcRect t="11140"/>
          <a:stretch>
            <a:fillRect/>
          </a:stretch>
        </p:blipFill>
        <p:spPr>
          <a:xfrm>
            <a:off x="65100" y="2160754"/>
            <a:ext cx="3620533" cy="2438990"/>
          </a:xfrm>
          <a:prstGeom prst="rect">
            <a:avLst/>
          </a:prstGeom>
          <a:ln>
            <a:solidFill>
              <a:schemeClr val="tx1"/>
            </a:solidFill>
          </a:ln>
        </p:spPr>
      </p:pic>
      <p:sp>
        <p:nvSpPr>
          <p:cNvPr id="3" name="TextBox 2">
            <a:extLst>
              <a:ext uri="{FF2B5EF4-FFF2-40B4-BE49-F238E27FC236}">
                <a16:creationId xmlns:a16="http://schemas.microsoft.com/office/drawing/2014/main" id="{5762CE29-0203-8957-8B66-48D493D6058A}"/>
              </a:ext>
            </a:extLst>
          </p:cNvPr>
          <p:cNvSpPr txBox="1"/>
          <p:nvPr/>
        </p:nvSpPr>
        <p:spPr>
          <a:xfrm>
            <a:off x="65100" y="1899352"/>
            <a:ext cx="3620533" cy="307777"/>
          </a:xfrm>
          <a:prstGeom prst="rect">
            <a:avLst/>
          </a:prstGeom>
          <a:noFill/>
        </p:spPr>
        <p:txBody>
          <a:bodyPr wrap="square" rtlCol="0">
            <a:spAutoFit/>
          </a:bodyPr>
          <a:lstStyle/>
          <a:p>
            <a:pPr algn="ctr"/>
            <a:r>
              <a:rPr lang="en-US" sz="1400" dirty="0"/>
              <a:t>Corresponding PCA, from Cuomo et al</a:t>
            </a:r>
          </a:p>
        </p:txBody>
      </p:sp>
      <p:pic>
        <p:nvPicPr>
          <p:cNvPr id="4" name="Picture 4">
            <a:extLst>
              <a:ext uri="{FF2B5EF4-FFF2-40B4-BE49-F238E27FC236}">
                <a16:creationId xmlns:a16="http://schemas.microsoft.com/office/drawing/2014/main" id="{BA93B520-0922-3757-91BE-E160601EDB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6089" y="1897289"/>
            <a:ext cx="4220810" cy="3106326"/>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DED2905F-5278-DEE4-40E1-8D9EC632657F}"/>
              </a:ext>
            </a:extLst>
          </p:cNvPr>
          <p:cNvSpPr txBox="1"/>
          <p:nvPr/>
        </p:nvSpPr>
        <p:spPr>
          <a:xfrm>
            <a:off x="884142" y="5809577"/>
            <a:ext cx="10186006" cy="923330"/>
          </a:xfrm>
          <a:prstGeom prst="rect">
            <a:avLst/>
          </a:prstGeom>
          <a:noFill/>
        </p:spPr>
        <p:txBody>
          <a:bodyPr wrap="square" rtlCol="0">
            <a:spAutoFit/>
          </a:bodyPr>
          <a:lstStyle/>
          <a:p>
            <a:pPr algn="ctr"/>
            <a:r>
              <a:rPr lang="en-US" dirty="0"/>
              <a:t>Successful reproduction of this PCA plot with separate of cells by day of differentiation assures us that we understand the data organization and normalization correctly.  We can now safely move on with analysis.</a:t>
            </a:r>
          </a:p>
        </p:txBody>
      </p:sp>
      <p:sp>
        <p:nvSpPr>
          <p:cNvPr id="22" name="TextBox 21">
            <a:extLst>
              <a:ext uri="{FF2B5EF4-FFF2-40B4-BE49-F238E27FC236}">
                <a16:creationId xmlns:a16="http://schemas.microsoft.com/office/drawing/2014/main" id="{014E15ED-802A-87A6-30A1-7146C15EB07B}"/>
              </a:ext>
            </a:extLst>
          </p:cNvPr>
          <p:cNvSpPr txBox="1"/>
          <p:nvPr/>
        </p:nvSpPr>
        <p:spPr>
          <a:xfrm>
            <a:off x="884142" y="5003615"/>
            <a:ext cx="10186006" cy="646331"/>
          </a:xfrm>
          <a:prstGeom prst="rect">
            <a:avLst/>
          </a:prstGeom>
          <a:noFill/>
        </p:spPr>
        <p:txBody>
          <a:bodyPr wrap="square" rtlCol="0">
            <a:spAutoFit/>
          </a:bodyPr>
          <a:lstStyle/>
          <a:p>
            <a:pPr lvl="0"/>
            <a:r>
              <a:rPr lang="en-US" b="1" dirty="0"/>
              <a:t>Pseudotime: </a:t>
            </a:r>
            <a:r>
              <a:rPr lang="en-US" dirty="0"/>
              <a:t>A score based on how far a cell has progressed in the differentiation relative to a starting point (random day0 cell). Calculated using the ScanPy function dpt.</a:t>
            </a:r>
          </a:p>
        </p:txBody>
      </p:sp>
    </p:spTree>
    <p:extLst>
      <p:ext uri="{BB962C8B-B14F-4D97-AF65-F5344CB8AC3E}">
        <p14:creationId xmlns:p14="http://schemas.microsoft.com/office/powerpoint/2010/main" val="139718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8B9009-BFC1-AB77-1B79-053E8BE41D9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A531AFE-C79A-53D1-D6C9-9727D359A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1D21B63-1F61-CF5D-2C44-38816BDD7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EDEAB7E-177F-FA41-169B-8C50FACF4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93B29DAF-FE50-CD8F-3747-AE7849B9AD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D21DF58E-3533-3816-C7A9-58BF24461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B1F9281C-655F-059F-006B-1F1F0E6C83B3}"/>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EDA: Variable Gene Expression</a:t>
            </a:r>
          </a:p>
        </p:txBody>
      </p:sp>
      <p:grpSp>
        <p:nvGrpSpPr>
          <p:cNvPr id="5" name="Group 4">
            <a:extLst>
              <a:ext uri="{FF2B5EF4-FFF2-40B4-BE49-F238E27FC236}">
                <a16:creationId xmlns:a16="http://schemas.microsoft.com/office/drawing/2014/main" id="{C3C6D65A-4725-1439-B750-566B7800CE1F}"/>
              </a:ext>
            </a:extLst>
          </p:cNvPr>
          <p:cNvGrpSpPr>
            <a:grpSpLocks noChangeAspect="1"/>
          </p:cNvGrpSpPr>
          <p:nvPr/>
        </p:nvGrpSpPr>
        <p:grpSpPr>
          <a:xfrm>
            <a:off x="4596448" y="1699268"/>
            <a:ext cx="4926083" cy="4836904"/>
            <a:chOff x="2718253" y="1253848"/>
            <a:chExt cx="5435146" cy="5336751"/>
          </a:xfrm>
        </p:grpSpPr>
        <p:pic>
          <p:nvPicPr>
            <p:cNvPr id="2050" name="Picture 2">
              <a:extLst>
                <a:ext uri="{FF2B5EF4-FFF2-40B4-BE49-F238E27FC236}">
                  <a16:creationId xmlns:a16="http://schemas.microsoft.com/office/drawing/2014/main" id="{AA8E065D-1DDA-18F7-8710-7302823DD4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2831" b="2808"/>
            <a:stretch>
              <a:fillRect/>
            </a:stretch>
          </p:blipFill>
          <p:spPr bwMode="auto">
            <a:xfrm>
              <a:off x="2718253" y="4181695"/>
              <a:ext cx="5435146" cy="24089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2F4EB692-C6CA-0472-D620-24DEAC7BE8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115" b="52524"/>
            <a:stretch>
              <a:fillRect/>
            </a:stretch>
          </p:blipFill>
          <p:spPr bwMode="auto">
            <a:xfrm>
              <a:off x="2718253" y="1471853"/>
              <a:ext cx="5435146" cy="240890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B4D4D49-F9EF-C4C9-B8B1-3BE757C0692D}"/>
                </a:ext>
              </a:extLst>
            </p:cNvPr>
            <p:cNvSpPr txBox="1"/>
            <p:nvPr/>
          </p:nvSpPr>
          <p:spPr>
            <a:xfrm>
              <a:off x="3048001" y="125384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NANOG</a:t>
              </a:r>
            </a:p>
          </p:txBody>
        </p:sp>
        <p:sp>
          <p:nvSpPr>
            <p:cNvPr id="9" name="TextBox 8">
              <a:extLst>
                <a:ext uri="{FF2B5EF4-FFF2-40B4-BE49-F238E27FC236}">
                  <a16:creationId xmlns:a16="http://schemas.microsoft.com/office/drawing/2014/main" id="{4DCF09F5-AD81-6CF0-DEBF-CC6972C84E49}"/>
                </a:ext>
              </a:extLst>
            </p:cNvPr>
            <p:cNvSpPr txBox="1"/>
            <p:nvPr/>
          </p:nvSpPr>
          <p:spPr>
            <a:xfrm>
              <a:off x="5737491" y="125384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T</a:t>
              </a:r>
            </a:p>
          </p:txBody>
        </p:sp>
        <p:sp>
          <p:nvSpPr>
            <p:cNvPr id="11" name="TextBox 10">
              <a:extLst>
                <a:ext uri="{FF2B5EF4-FFF2-40B4-BE49-F238E27FC236}">
                  <a16:creationId xmlns:a16="http://schemas.microsoft.com/office/drawing/2014/main" id="{D050041A-6C63-EC59-A1A5-6244F9D8D53B}"/>
                </a:ext>
              </a:extLst>
            </p:cNvPr>
            <p:cNvSpPr txBox="1"/>
            <p:nvPr/>
          </p:nvSpPr>
          <p:spPr>
            <a:xfrm>
              <a:off x="3048001" y="395022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EOMES</a:t>
              </a:r>
            </a:p>
          </p:txBody>
        </p:sp>
        <p:sp>
          <p:nvSpPr>
            <p:cNvPr id="13" name="TextBox 12">
              <a:extLst>
                <a:ext uri="{FF2B5EF4-FFF2-40B4-BE49-F238E27FC236}">
                  <a16:creationId xmlns:a16="http://schemas.microsoft.com/office/drawing/2014/main" id="{B59E0D41-461A-8D08-BDC5-B04D20616616}"/>
                </a:ext>
              </a:extLst>
            </p:cNvPr>
            <p:cNvSpPr txBox="1"/>
            <p:nvPr/>
          </p:nvSpPr>
          <p:spPr>
            <a:xfrm>
              <a:off x="5737491" y="3950228"/>
              <a:ext cx="235974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GATA6</a:t>
              </a:r>
            </a:p>
          </p:txBody>
        </p:sp>
      </p:grpSp>
      <p:sp>
        <p:nvSpPr>
          <p:cNvPr id="2" name="TextBox 1">
            <a:extLst>
              <a:ext uri="{FF2B5EF4-FFF2-40B4-BE49-F238E27FC236}">
                <a16:creationId xmlns:a16="http://schemas.microsoft.com/office/drawing/2014/main" id="{456E5042-5483-D9BC-55BA-7FF9A1204CF1}"/>
              </a:ext>
            </a:extLst>
          </p:cNvPr>
          <p:cNvSpPr txBox="1"/>
          <p:nvPr/>
        </p:nvSpPr>
        <p:spPr>
          <a:xfrm>
            <a:off x="381079" y="2210430"/>
            <a:ext cx="3834799" cy="3139321"/>
          </a:xfrm>
          <a:prstGeom prst="rect">
            <a:avLst/>
          </a:prstGeom>
          <a:noFill/>
        </p:spPr>
        <p:txBody>
          <a:bodyPr wrap="square" rtlCol="0">
            <a:spAutoFit/>
          </a:bodyPr>
          <a:lstStyle/>
          <a:p>
            <a:pPr algn="ctr"/>
            <a:r>
              <a:rPr lang="en-US" b="1" u="sng" dirty="0"/>
              <a:t>Crucial Step</a:t>
            </a:r>
          </a:p>
          <a:p>
            <a:pPr algn="ctr"/>
            <a:r>
              <a:rPr lang="en-US" dirty="0"/>
              <a:t>Verify expected changes in gene expression</a:t>
            </a:r>
          </a:p>
          <a:p>
            <a:pPr algn="ctr"/>
            <a:endParaRPr lang="en-US" dirty="0"/>
          </a:p>
          <a:p>
            <a:pPr algn="ctr"/>
            <a:r>
              <a:rPr lang="en-US" dirty="0"/>
              <a:t>iPSC markers should be highest on day0, endoderm cells should be highest on day3.</a:t>
            </a:r>
          </a:p>
          <a:p>
            <a:pPr algn="ctr"/>
            <a:endParaRPr lang="en-US" dirty="0"/>
          </a:p>
          <a:p>
            <a:pPr algn="ctr"/>
            <a:r>
              <a:rPr lang="en-US" dirty="0"/>
              <a:t>If expected changes don’t occur, the differentiation didn’t work and dataset if not usable.</a:t>
            </a:r>
          </a:p>
        </p:txBody>
      </p:sp>
      <p:pic>
        <p:nvPicPr>
          <p:cNvPr id="4" name="Picture 3">
            <a:extLst>
              <a:ext uri="{FF2B5EF4-FFF2-40B4-BE49-F238E27FC236}">
                <a16:creationId xmlns:a16="http://schemas.microsoft.com/office/drawing/2014/main" id="{DB28626D-CBD2-08A0-5A72-7BBD4E523B0D}"/>
              </a:ext>
            </a:extLst>
          </p:cNvPr>
          <p:cNvPicPr>
            <a:picLocks noChangeAspect="1"/>
          </p:cNvPicPr>
          <p:nvPr/>
        </p:nvPicPr>
        <p:blipFill>
          <a:blip r:embed="rId4"/>
          <a:stretch>
            <a:fillRect/>
          </a:stretch>
        </p:blipFill>
        <p:spPr>
          <a:xfrm>
            <a:off x="9755704" y="1971213"/>
            <a:ext cx="2203123" cy="4186620"/>
          </a:xfrm>
          <a:prstGeom prst="rect">
            <a:avLst/>
          </a:prstGeom>
        </p:spPr>
      </p:pic>
      <p:sp>
        <p:nvSpPr>
          <p:cNvPr id="10" name="TextBox 9">
            <a:extLst>
              <a:ext uri="{FF2B5EF4-FFF2-40B4-BE49-F238E27FC236}">
                <a16:creationId xmlns:a16="http://schemas.microsoft.com/office/drawing/2014/main" id="{722FC759-5E0F-240D-51EF-DC76A16CF932}"/>
              </a:ext>
            </a:extLst>
          </p:cNvPr>
          <p:cNvSpPr txBox="1"/>
          <p:nvPr/>
        </p:nvSpPr>
        <p:spPr>
          <a:xfrm>
            <a:off x="10201716" y="6103393"/>
            <a:ext cx="1654201" cy="261610"/>
          </a:xfrm>
          <a:prstGeom prst="rect">
            <a:avLst/>
          </a:prstGeom>
          <a:noFill/>
        </p:spPr>
        <p:txBody>
          <a:bodyPr wrap="square" rtlCol="0">
            <a:spAutoFit/>
          </a:bodyPr>
          <a:lstStyle/>
          <a:p>
            <a:r>
              <a:rPr lang="en-US" sz="1100" i="1" dirty="0"/>
              <a:t>Figure 1d, Cuomo et al</a:t>
            </a:r>
          </a:p>
        </p:txBody>
      </p:sp>
    </p:spTree>
    <p:extLst>
      <p:ext uri="{BB962C8B-B14F-4D97-AF65-F5344CB8AC3E}">
        <p14:creationId xmlns:p14="http://schemas.microsoft.com/office/powerpoint/2010/main" val="2211674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1388A7-961D-1BEC-33F0-44FA7D73E23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7A480EF-B83D-D3C3-3F8C-B565350244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083FAF7D-1CA6-8098-AE5D-3C5B20613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F74C299D-0801-F5D4-B10D-4EF6A7AF8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B4FB90C-3613-1970-7FB7-6CD0A57ED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4A431E2A-2837-8B1B-78C6-AFC4B9E0A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8F5AB1DE-F532-A705-26FE-9FDB6FCA2449}"/>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prstClr val="white"/>
                </a:solidFill>
              </a:rPr>
              <a:t>EDA: Variable Gene Expression</a:t>
            </a:r>
          </a:p>
        </p:txBody>
      </p:sp>
      <p:pic>
        <p:nvPicPr>
          <p:cNvPr id="15" name="Picture 2">
            <a:extLst>
              <a:ext uri="{FF2B5EF4-FFF2-40B4-BE49-F238E27FC236}">
                <a16:creationId xmlns:a16="http://schemas.microsoft.com/office/drawing/2014/main" id="{E5B02806-38CC-4563-2ED7-8CDA501773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933"/>
          <a:stretch>
            <a:fillRect/>
          </a:stretch>
        </p:blipFill>
        <p:spPr bwMode="auto">
          <a:xfrm>
            <a:off x="554742" y="2685143"/>
            <a:ext cx="10844806" cy="3744410"/>
          </a:xfrm>
          <a:prstGeom prst="rect">
            <a:avLst/>
          </a:prstGeom>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A688EB64-56F6-2ACA-6702-6FB26654DD8F}"/>
              </a:ext>
            </a:extLst>
          </p:cNvPr>
          <p:cNvCxnSpPr/>
          <p:nvPr/>
        </p:nvCxnSpPr>
        <p:spPr>
          <a:xfrm>
            <a:off x="3752863" y="2728686"/>
            <a:ext cx="0" cy="2061028"/>
          </a:xfrm>
          <a:prstGeom prst="line">
            <a:avLst/>
          </a:prstGeom>
          <a:ln w="28575">
            <a:prstDash val="dash"/>
          </a:ln>
        </p:spPr>
        <p:style>
          <a:lnRef idx="2">
            <a:schemeClr val="accent1"/>
          </a:lnRef>
          <a:fillRef idx="0">
            <a:schemeClr val="accent1"/>
          </a:fillRef>
          <a:effectRef idx="1">
            <a:schemeClr val="accent1"/>
          </a:effectRef>
          <a:fontRef idx="minor">
            <a:schemeClr val="tx1"/>
          </a:fontRef>
        </p:style>
      </p:cxnSp>
      <p:sp>
        <p:nvSpPr>
          <p:cNvPr id="21" name="Right Brace 20">
            <a:extLst>
              <a:ext uri="{FF2B5EF4-FFF2-40B4-BE49-F238E27FC236}">
                <a16:creationId xmlns:a16="http://schemas.microsoft.com/office/drawing/2014/main" id="{D6D5B2D5-39DA-1D9B-5521-9C8ADA2ED697}"/>
              </a:ext>
            </a:extLst>
          </p:cNvPr>
          <p:cNvSpPr/>
          <p:nvPr/>
        </p:nvSpPr>
        <p:spPr>
          <a:xfrm rot="16200000">
            <a:off x="2692862" y="1544874"/>
            <a:ext cx="275769" cy="184423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Right Brace 21">
            <a:extLst>
              <a:ext uri="{FF2B5EF4-FFF2-40B4-BE49-F238E27FC236}">
                <a16:creationId xmlns:a16="http://schemas.microsoft.com/office/drawing/2014/main" id="{27664D7C-4A00-78B6-BAD4-3E71A1FB281A}"/>
              </a:ext>
            </a:extLst>
          </p:cNvPr>
          <p:cNvSpPr/>
          <p:nvPr/>
        </p:nvSpPr>
        <p:spPr>
          <a:xfrm rot="16200000">
            <a:off x="6448433" y="-366465"/>
            <a:ext cx="275769" cy="566691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CC3496F7-0561-CE1A-3E65-C843E4C0370F}"/>
              </a:ext>
            </a:extLst>
          </p:cNvPr>
          <p:cNvSpPr txBox="1"/>
          <p:nvPr/>
        </p:nvSpPr>
        <p:spPr>
          <a:xfrm>
            <a:off x="2336798" y="2094950"/>
            <a:ext cx="1270921" cy="307777"/>
          </a:xfrm>
          <a:prstGeom prst="rect">
            <a:avLst/>
          </a:prstGeom>
          <a:noFill/>
        </p:spPr>
        <p:txBody>
          <a:bodyPr wrap="square" rtlCol="0">
            <a:spAutoFit/>
          </a:bodyPr>
          <a:lstStyle/>
          <a:p>
            <a:r>
              <a:rPr lang="en-US" sz="1400" dirty="0"/>
              <a:t>iPSC Markers</a:t>
            </a:r>
          </a:p>
        </p:txBody>
      </p:sp>
      <p:sp>
        <p:nvSpPr>
          <p:cNvPr id="24" name="TextBox 23">
            <a:extLst>
              <a:ext uri="{FF2B5EF4-FFF2-40B4-BE49-F238E27FC236}">
                <a16:creationId xmlns:a16="http://schemas.microsoft.com/office/drawing/2014/main" id="{4531AF5A-41B3-558A-8C8E-131172343825}"/>
              </a:ext>
            </a:extLst>
          </p:cNvPr>
          <p:cNvSpPr txBox="1"/>
          <p:nvPr/>
        </p:nvSpPr>
        <p:spPr>
          <a:xfrm>
            <a:off x="5477814" y="2085329"/>
            <a:ext cx="2494617" cy="307777"/>
          </a:xfrm>
          <a:prstGeom prst="rect">
            <a:avLst/>
          </a:prstGeom>
          <a:noFill/>
        </p:spPr>
        <p:txBody>
          <a:bodyPr wrap="square" rtlCol="0">
            <a:spAutoFit/>
          </a:bodyPr>
          <a:lstStyle/>
          <a:p>
            <a:r>
              <a:rPr lang="en-US" sz="1400" dirty="0"/>
              <a:t>Definitive Endoderm Markers</a:t>
            </a:r>
          </a:p>
        </p:txBody>
      </p:sp>
      <p:sp>
        <p:nvSpPr>
          <p:cNvPr id="25" name="TextBox 24">
            <a:extLst>
              <a:ext uri="{FF2B5EF4-FFF2-40B4-BE49-F238E27FC236}">
                <a16:creationId xmlns:a16="http://schemas.microsoft.com/office/drawing/2014/main" id="{2F88C189-62D1-ECED-04AF-69F27DC63486}"/>
              </a:ext>
            </a:extLst>
          </p:cNvPr>
          <p:cNvSpPr txBox="1"/>
          <p:nvPr/>
        </p:nvSpPr>
        <p:spPr>
          <a:xfrm>
            <a:off x="2336798" y="1685219"/>
            <a:ext cx="6652961" cy="400110"/>
          </a:xfrm>
          <a:prstGeom prst="rect">
            <a:avLst/>
          </a:prstGeom>
          <a:noFill/>
        </p:spPr>
        <p:txBody>
          <a:bodyPr wrap="square" rtlCol="0">
            <a:spAutoFit/>
          </a:bodyPr>
          <a:lstStyle/>
          <a:p>
            <a:pPr algn="ctr"/>
            <a:r>
              <a:rPr lang="en-US" sz="2000" u="sng" dirty="0"/>
              <a:t>iPSC and DE Marker Expression by Day of Differentiation</a:t>
            </a:r>
          </a:p>
        </p:txBody>
      </p:sp>
    </p:spTree>
    <p:extLst>
      <p:ext uri="{BB962C8B-B14F-4D97-AF65-F5344CB8AC3E}">
        <p14:creationId xmlns:p14="http://schemas.microsoft.com/office/powerpoint/2010/main" val="406853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CC097-3393-8CB7-845C-84719FD2D38C}"/>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58A85BEF-68C2-3D09-8F48-53A75A749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774188-B6DA-9F5A-8425-D418CC5E37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9F885F6E-7018-EFA6-F369-570B145EE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B14DEE7-B139-7471-C4A4-92206A97D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8785AAC-1226-C5B7-0AEA-9CEBD2FE52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55DD7EA2-BEE0-4309-9636-C74EA4240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05AB9D-6C8B-0B51-6F86-D93C025CEF83}"/>
              </a:ext>
            </a:extLst>
          </p:cNvPr>
          <p:cNvSpPr>
            <a:spLocks noGrp="1"/>
          </p:cNvSpPr>
          <p:nvPr>
            <p:ph type="title"/>
          </p:nvPr>
        </p:nvSpPr>
        <p:spPr>
          <a:xfrm>
            <a:off x="261256" y="2240958"/>
            <a:ext cx="3440487" cy="2396359"/>
          </a:xfrm>
        </p:spPr>
        <p:txBody>
          <a:bodyPr anchor="b">
            <a:normAutofit fontScale="90000"/>
          </a:bodyPr>
          <a:lstStyle/>
          <a:p>
            <a:pPr algn="r"/>
            <a:r>
              <a:rPr lang="en-US" sz="4000" dirty="0">
                <a:solidFill>
                  <a:srgbClr val="FFFFFF"/>
                </a:solidFill>
              </a:rPr>
              <a:t>Target Design</a:t>
            </a:r>
            <a:br>
              <a:rPr lang="en-US" sz="4000" dirty="0">
                <a:solidFill>
                  <a:srgbClr val="FFFFFF"/>
                </a:solidFill>
              </a:rPr>
            </a:br>
            <a:br>
              <a:rPr lang="en-US" sz="4000" dirty="0">
                <a:solidFill>
                  <a:srgbClr val="FFFFFF"/>
                </a:solidFill>
              </a:rPr>
            </a:br>
            <a:r>
              <a:rPr lang="en-US" sz="4000" dirty="0">
                <a:solidFill>
                  <a:srgbClr val="FFFFFF"/>
                </a:solidFill>
              </a:rPr>
              <a:t> aka</a:t>
            </a:r>
            <a:br>
              <a:rPr lang="en-US" sz="4000" dirty="0">
                <a:solidFill>
                  <a:srgbClr val="FFFFFF"/>
                </a:solidFill>
              </a:rPr>
            </a:br>
            <a:r>
              <a:rPr lang="en-US" sz="4000" dirty="0">
                <a:solidFill>
                  <a:srgbClr val="FFFFFF"/>
                </a:solidFill>
              </a:rPr>
              <a:t> </a:t>
            </a:r>
            <a:br>
              <a:rPr lang="en-US" sz="4000" dirty="0">
                <a:solidFill>
                  <a:srgbClr val="FFFFFF"/>
                </a:solidFill>
              </a:rPr>
            </a:br>
            <a:r>
              <a:rPr lang="en-US" sz="4000" dirty="0">
                <a:solidFill>
                  <a:srgbClr val="FFFFFF"/>
                </a:solidFill>
              </a:rPr>
              <a:t>Donor Ranking</a:t>
            </a:r>
          </a:p>
        </p:txBody>
      </p:sp>
      <p:graphicFrame>
        <p:nvGraphicFramePr>
          <p:cNvPr id="5" name="Content Placeholder 2">
            <a:extLst>
              <a:ext uri="{FF2B5EF4-FFF2-40B4-BE49-F238E27FC236}">
                <a16:creationId xmlns:a16="http://schemas.microsoft.com/office/drawing/2014/main" id="{6FB36961-D85C-AAAB-4151-6CDA9CEE0687}"/>
              </a:ext>
            </a:extLst>
          </p:cNvPr>
          <p:cNvGraphicFramePr>
            <a:graphicFrameLocks noGrp="1"/>
          </p:cNvGraphicFramePr>
          <p:nvPr>
            <p:ph idx="1"/>
            <p:extLst>
              <p:ext uri="{D42A27DB-BD31-4B8C-83A1-F6EECF244321}">
                <p14:modId xmlns:p14="http://schemas.microsoft.com/office/powerpoint/2010/main" val="2865761177"/>
              </p:ext>
            </p:extLst>
          </p:nvPr>
        </p:nvGraphicFramePr>
        <p:xfrm>
          <a:off x="4288222" y="304800"/>
          <a:ext cx="7642522" cy="64153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5768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49C1F2-2528-0247-8532-1BC56A00588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0AD212D-49CB-5029-DBFC-4C494665D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83FA70A-C4BA-6BA3-17A7-DC513F8F5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64CF6780-E388-DC8D-7457-F304CA5A82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A013E009-1199-8433-6F75-B28466081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F3CFCC6-78DC-4638-A839-A0BA841ED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D3B72FC2-56A3-3658-6EC8-F46E7F488B1C}"/>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Donor Ranking: Pseudorank</a:t>
            </a:r>
          </a:p>
        </p:txBody>
      </p:sp>
      <p:pic>
        <p:nvPicPr>
          <p:cNvPr id="3" name="Picture 2">
            <a:extLst>
              <a:ext uri="{FF2B5EF4-FFF2-40B4-BE49-F238E27FC236}">
                <a16:creationId xmlns:a16="http://schemas.microsoft.com/office/drawing/2014/main" id="{FE1683BB-410D-97B2-AFC7-B857D647B2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30329" y="1709094"/>
            <a:ext cx="4303423" cy="3457643"/>
          </a:xfrm>
          <a:prstGeom prst="rect">
            <a:avLst/>
          </a:prstGeom>
          <a:noFill/>
          <a:ln>
            <a:noFill/>
          </a:ln>
        </p:spPr>
      </p:pic>
      <p:pic>
        <p:nvPicPr>
          <p:cNvPr id="7" name="Picture 2">
            <a:extLst>
              <a:ext uri="{FF2B5EF4-FFF2-40B4-BE49-F238E27FC236}">
                <a16:creationId xmlns:a16="http://schemas.microsoft.com/office/drawing/2014/main" id="{C7718DEB-FC0B-8A65-A773-C6E831628C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246" y="1651563"/>
            <a:ext cx="3318551" cy="24423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7A21C50-BDB1-7B54-9A3C-0A5BB77933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8248" y="4093867"/>
            <a:ext cx="3318552" cy="244230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59BE6F1-0FE1-F952-718C-C9C675AD8C34}"/>
              </a:ext>
            </a:extLst>
          </p:cNvPr>
          <p:cNvSpPr txBox="1"/>
          <p:nvPr/>
        </p:nvSpPr>
        <p:spPr>
          <a:xfrm>
            <a:off x="5239657" y="5315019"/>
            <a:ext cx="6952343" cy="923330"/>
          </a:xfrm>
          <a:prstGeom prst="rect">
            <a:avLst/>
          </a:prstGeom>
          <a:noFill/>
        </p:spPr>
        <p:txBody>
          <a:bodyPr wrap="square" rtlCol="0">
            <a:spAutoFit/>
          </a:bodyPr>
          <a:lstStyle/>
          <a:p>
            <a:r>
              <a:rPr lang="en-US" dirty="0"/>
              <a:t>Pseudotime prediction of day of differentiation resembles real time.</a:t>
            </a:r>
          </a:p>
          <a:p>
            <a:endParaRPr lang="en-US" dirty="0"/>
          </a:p>
          <a:p>
            <a:r>
              <a:rPr lang="en-US" dirty="0"/>
              <a:t>Mean Pseudotime increases by day across donors as expected.</a:t>
            </a:r>
          </a:p>
        </p:txBody>
      </p:sp>
    </p:spTree>
    <p:extLst>
      <p:ext uri="{BB962C8B-B14F-4D97-AF65-F5344CB8AC3E}">
        <p14:creationId xmlns:p14="http://schemas.microsoft.com/office/powerpoint/2010/main" val="513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E15C8F-3A9A-4DE8-C2C7-AA5B43D26B74}"/>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BD4A2B6-BCD9-5F6F-BA99-EF1CA1AA6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40F0B371-41C3-3161-97F0-32B6C841B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BC493D0-721E-DDFB-8381-B6F3333D4A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F0DF6498-B16D-891E-AE1A-2BB9AA233B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3EDD6FE8-9A06-94AC-5EC4-25F7FF37A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63CF23D5-219E-E930-6B79-A8000936B63E}"/>
              </a:ext>
            </a:extLst>
          </p:cNvPr>
          <p:cNvSpPr txBox="1">
            <a:spLocks/>
          </p:cNvSpPr>
          <p:nvPr/>
        </p:nvSpPr>
        <p:spPr>
          <a:xfrm>
            <a:off x="302901" y="321828"/>
            <a:ext cx="7825954" cy="89858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Donor Ranking: DE Score</a:t>
            </a:r>
          </a:p>
        </p:txBody>
      </p:sp>
      <p:pic>
        <p:nvPicPr>
          <p:cNvPr id="4" name="Picture 2">
            <a:extLst>
              <a:ext uri="{FF2B5EF4-FFF2-40B4-BE49-F238E27FC236}">
                <a16:creationId xmlns:a16="http://schemas.microsoft.com/office/drawing/2014/main" id="{ECFEF53B-AA1A-D245-1DCE-FE5D2DCBF9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551" y="4264579"/>
            <a:ext cx="3318551" cy="244230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DB61AE96-5C53-B01C-960C-F6A5143167CC}"/>
              </a:ext>
            </a:extLst>
          </p:cNvPr>
          <p:cNvGrpSpPr>
            <a:grpSpLocks noChangeAspect="1"/>
          </p:cNvGrpSpPr>
          <p:nvPr/>
        </p:nvGrpSpPr>
        <p:grpSpPr>
          <a:xfrm>
            <a:off x="4052722" y="1898928"/>
            <a:ext cx="7632395" cy="3060144"/>
            <a:chOff x="5782262" y="3210027"/>
            <a:chExt cx="6188656" cy="2481289"/>
          </a:xfrm>
        </p:grpSpPr>
        <p:pic>
          <p:nvPicPr>
            <p:cNvPr id="5" name="Picture 4">
              <a:extLst>
                <a:ext uri="{FF2B5EF4-FFF2-40B4-BE49-F238E27FC236}">
                  <a16:creationId xmlns:a16="http://schemas.microsoft.com/office/drawing/2014/main" id="{63E2AF8E-825F-0D33-D71A-5D6F4624F8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9756" y="3210027"/>
              <a:ext cx="3081162" cy="248128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3B217FA-B106-6E5F-EEAE-6BBF13DA52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2262" y="3210027"/>
              <a:ext cx="3081162" cy="2425482"/>
            </a:xfrm>
            <a:prstGeom prst="rect">
              <a:avLst/>
            </a:prstGeom>
            <a:noFill/>
            <a:extLst>
              <a:ext uri="{909E8E84-426E-40DD-AFC4-6F175D3DCCD1}">
                <a14:hiddenFill xmlns:a14="http://schemas.microsoft.com/office/drawing/2010/main">
                  <a:solidFill>
                    <a:srgbClr val="FFFFFF"/>
                  </a:solidFill>
                </a14:hiddenFill>
              </a:ext>
            </a:extLst>
          </p:spPr>
        </p:pic>
      </p:grpSp>
      <p:pic>
        <p:nvPicPr>
          <p:cNvPr id="1030" name="Picture 6">
            <a:extLst>
              <a:ext uri="{FF2B5EF4-FFF2-40B4-BE49-F238E27FC236}">
                <a16:creationId xmlns:a16="http://schemas.microsoft.com/office/drawing/2014/main" id="{5CF3824D-5CFC-E673-92FB-F94F9C5D10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83" y="1727563"/>
            <a:ext cx="3318551" cy="244230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D457F6B-657C-453F-29A0-58A1ADE6D849}"/>
              </a:ext>
            </a:extLst>
          </p:cNvPr>
          <p:cNvSpPr txBox="1"/>
          <p:nvPr/>
        </p:nvSpPr>
        <p:spPr>
          <a:xfrm>
            <a:off x="4732774" y="5045613"/>
            <a:ext cx="6952343" cy="1477328"/>
          </a:xfrm>
          <a:prstGeom prst="rect">
            <a:avLst/>
          </a:prstGeom>
          <a:noFill/>
        </p:spPr>
        <p:txBody>
          <a:bodyPr wrap="square" rtlCol="0">
            <a:spAutoFit/>
          </a:bodyPr>
          <a:lstStyle/>
          <a:p>
            <a:r>
              <a:rPr lang="en-US" dirty="0"/>
              <a:t>DE </a:t>
            </a:r>
            <a:r>
              <a:rPr lang="en-US" dirty="0" err="1"/>
              <a:t>score_long</a:t>
            </a:r>
            <a:r>
              <a:rPr lang="en-US" dirty="0"/>
              <a:t> prediction of day of resembles real time, while DE </a:t>
            </a:r>
            <a:r>
              <a:rPr lang="en-US" dirty="0" err="1"/>
              <a:t>score_short</a:t>
            </a:r>
            <a:r>
              <a:rPr lang="en-US" dirty="0"/>
              <a:t> mixes day0 and day1.</a:t>
            </a:r>
          </a:p>
          <a:p>
            <a:endParaRPr lang="en-US" dirty="0"/>
          </a:p>
          <a:p>
            <a:r>
              <a:rPr lang="en-US" dirty="0"/>
              <a:t>Mean DE </a:t>
            </a:r>
            <a:r>
              <a:rPr lang="en-US" dirty="0" err="1"/>
              <a:t>score_long</a:t>
            </a:r>
            <a:r>
              <a:rPr lang="en-US" dirty="0"/>
              <a:t> increases by day across donors as expected, while DE </a:t>
            </a:r>
            <a:r>
              <a:rPr lang="en-US" dirty="0" err="1"/>
              <a:t>score_short</a:t>
            </a:r>
            <a:r>
              <a:rPr lang="en-US" dirty="0"/>
              <a:t> decreased from day2 to day3 in some donors.</a:t>
            </a:r>
          </a:p>
        </p:txBody>
      </p:sp>
    </p:spTree>
    <p:extLst>
      <p:ext uri="{BB962C8B-B14F-4D97-AF65-F5344CB8AC3E}">
        <p14:creationId xmlns:p14="http://schemas.microsoft.com/office/powerpoint/2010/main" val="1192546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8CEE0-545A-C579-FA1D-85469A642F44}"/>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B1E7F1A8-E01B-1E2A-6D9C-A78FF9A16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F75F0059-E0F5-3493-1D95-6C21CBF205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82BE4983-4571-D51E-52E9-3CF895461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FCBE536B-E191-BE71-00E5-AA9BD1B6B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F3B002FE-B4E3-592C-95C3-AF22D1AF9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F646AEC5-AABB-C07A-6A99-C24095ADC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E36D97B-0C20-BB6F-E297-7C526A23C6A6}"/>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Data Preprocessing</a:t>
            </a:r>
          </a:p>
        </p:txBody>
      </p:sp>
      <p:graphicFrame>
        <p:nvGraphicFramePr>
          <p:cNvPr id="15" name="Content Placeholder 2">
            <a:extLst>
              <a:ext uri="{FF2B5EF4-FFF2-40B4-BE49-F238E27FC236}">
                <a16:creationId xmlns:a16="http://schemas.microsoft.com/office/drawing/2014/main" id="{1CA56196-B1BD-039C-0F2A-8293C195FC93}"/>
              </a:ext>
            </a:extLst>
          </p:cNvPr>
          <p:cNvGraphicFramePr>
            <a:graphicFrameLocks noGrp="1"/>
          </p:cNvGraphicFramePr>
          <p:nvPr>
            <p:ph idx="1"/>
            <p:extLst>
              <p:ext uri="{D42A27DB-BD31-4B8C-83A1-F6EECF244321}">
                <p14:modId xmlns:p14="http://schemas.microsoft.com/office/powerpoint/2010/main" val="1772789033"/>
              </p:ext>
            </p:extLst>
          </p:nvPr>
        </p:nvGraphicFramePr>
        <p:xfrm>
          <a:off x="4624302" y="624114"/>
          <a:ext cx="6981220" cy="5660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22418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088891-E561-D8C7-1747-48990D17ABAC}"/>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6A4D20C6-627C-DAFF-2D66-45333713C1D2}"/>
              </a:ext>
            </a:extLst>
          </p:cNvPr>
          <p:cNvSpPr>
            <a:spLocks noGrp="1"/>
          </p:cNvSpPr>
          <p:nvPr>
            <p:ph type="title"/>
          </p:nvPr>
        </p:nvSpPr>
        <p:spPr>
          <a:xfrm>
            <a:off x="3673150" y="2531845"/>
            <a:ext cx="7618964"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Model Building</a:t>
            </a:r>
          </a:p>
        </p:txBody>
      </p:sp>
    </p:spTree>
    <p:extLst>
      <p:ext uri="{BB962C8B-B14F-4D97-AF65-F5344CB8AC3E}">
        <p14:creationId xmlns:p14="http://schemas.microsoft.com/office/powerpoint/2010/main" val="499522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03E32-CED9-B311-2F2F-1FDF45EE44F3}"/>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D9E91A94-AFC2-98F0-09CB-FE24731AC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D9864F5-8E8D-9CEC-BCF2-4308517F7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5C3CD1A1-903E-4884-77D1-884607115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D3FB2DAA-073A-2FDE-8C17-9E6C06F38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C963DDDD-9E9B-4CDB-1564-018FD7010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B6C0B6A8-EEBE-8F4F-974C-A9932626B4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2F8A9C8-05BE-7EB5-90C5-D05D3E220835}"/>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Dimension Reduction</a:t>
            </a:r>
          </a:p>
        </p:txBody>
      </p:sp>
      <p:graphicFrame>
        <p:nvGraphicFramePr>
          <p:cNvPr id="15" name="Content Placeholder 2">
            <a:extLst>
              <a:ext uri="{FF2B5EF4-FFF2-40B4-BE49-F238E27FC236}">
                <a16:creationId xmlns:a16="http://schemas.microsoft.com/office/drawing/2014/main" id="{3A7F16F4-EB78-07C4-FBAC-E562AB1B5E31}"/>
              </a:ext>
            </a:extLst>
          </p:cNvPr>
          <p:cNvGraphicFramePr>
            <a:graphicFrameLocks noGrp="1"/>
          </p:cNvGraphicFramePr>
          <p:nvPr>
            <p:ph idx="1"/>
            <p:extLst>
              <p:ext uri="{D42A27DB-BD31-4B8C-83A1-F6EECF244321}">
                <p14:modId xmlns:p14="http://schemas.microsoft.com/office/powerpoint/2010/main" val="823016318"/>
              </p:ext>
            </p:extLst>
          </p:nvPr>
        </p:nvGraphicFramePr>
        <p:xfrm>
          <a:off x="4624301" y="624114"/>
          <a:ext cx="7329573" cy="5660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2787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AD3067-3000-047D-5693-8736C86C4D0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D6FAAE0-7CC0-3CA6-1ECB-24B55DB10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23427F2A-24ED-175F-3868-FDBC2CE69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50EA851-A230-381A-DF3F-E61566748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CC1FACA-6B07-C101-A27C-A35603DE6C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B8AD433A-4890-AA20-DF96-48DAF4711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B29CBB42-787D-1F10-99E3-BFB9FFE6012C}"/>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Model Screening Results: MAE and MAPE</a:t>
            </a:r>
          </a:p>
        </p:txBody>
      </p:sp>
      <p:graphicFrame>
        <p:nvGraphicFramePr>
          <p:cNvPr id="2" name="Table 1">
            <a:extLst>
              <a:ext uri="{FF2B5EF4-FFF2-40B4-BE49-F238E27FC236}">
                <a16:creationId xmlns:a16="http://schemas.microsoft.com/office/drawing/2014/main" id="{80068210-65B9-B5D9-4067-08D8D66E04A5}"/>
              </a:ext>
            </a:extLst>
          </p:cNvPr>
          <p:cNvGraphicFramePr>
            <a:graphicFrameLocks noGrp="1"/>
          </p:cNvGraphicFramePr>
          <p:nvPr>
            <p:extLst>
              <p:ext uri="{D42A27DB-BD31-4B8C-83A1-F6EECF244321}">
                <p14:modId xmlns:p14="http://schemas.microsoft.com/office/powerpoint/2010/main" val="1724478167"/>
              </p:ext>
            </p:extLst>
          </p:nvPr>
        </p:nvGraphicFramePr>
        <p:xfrm>
          <a:off x="970116" y="1690688"/>
          <a:ext cx="8694995" cy="2484120"/>
        </p:xfrm>
        <a:graphic>
          <a:graphicData uri="http://schemas.openxmlformats.org/drawingml/2006/table">
            <a:tbl>
              <a:tblPr firstRow="1" bandRow="1">
                <a:tableStyleId>{5C22544A-7EE6-4342-B048-85BDC9FD1C3A}</a:tableStyleId>
              </a:tblPr>
              <a:tblGrid>
                <a:gridCol w="1738999">
                  <a:extLst>
                    <a:ext uri="{9D8B030D-6E8A-4147-A177-3AD203B41FA5}">
                      <a16:colId xmlns:a16="http://schemas.microsoft.com/office/drawing/2014/main" val="2705248776"/>
                    </a:ext>
                  </a:extLst>
                </a:gridCol>
                <a:gridCol w="1738999">
                  <a:extLst>
                    <a:ext uri="{9D8B030D-6E8A-4147-A177-3AD203B41FA5}">
                      <a16:colId xmlns:a16="http://schemas.microsoft.com/office/drawing/2014/main" val="1236755579"/>
                    </a:ext>
                  </a:extLst>
                </a:gridCol>
                <a:gridCol w="1738999">
                  <a:extLst>
                    <a:ext uri="{9D8B030D-6E8A-4147-A177-3AD203B41FA5}">
                      <a16:colId xmlns:a16="http://schemas.microsoft.com/office/drawing/2014/main" val="3260544379"/>
                    </a:ext>
                  </a:extLst>
                </a:gridCol>
                <a:gridCol w="1738999">
                  <a:extLst>
                    <a:ext uri="{9D8B030D-6E8A-4147-A177-3AD203B41FA5}">
                      <a16:colId xmlns:a16="http://schemas.microsoft.com/office/drawing/2014/main" val="1337475425"/>
                    </a:ext>
                  </a:extLst>
                </a:gridCol>
                <a:gridCol w="1738999">
                  <a:extLst>
                    <a:ext uri="{9D8B030D-6E8A-4147-A177-3AD203B41FA5}">
                      <a16:colId xmlns:a16="http://schemas.microsoft.com/office/drawing/2014/main" val="3691986778"/>
                    </a:ext>
                  </a:extLst>
                </a:gridCol>
              </a:tblGrid>
              <a:tr h="370840">
                <a:tc>
                  <a:txBody>
                    <a:bodyPr/>
                    <a:lstStyle/>
                    <a:p>
                      <a:r>
                        <a:rPr lang="en-US" sz="1200" dirty="0"/>
                        <a:t>Learner</a:t>
                      </a:r>
                    </a:p>
                  </a:txBody>
                  <a:tcPr/>
                </a:tc>
                <a:tc>
                  <a:txBody>
                    <a:bodyPr/>
                    <a:lstStyle/>
                    <a:p>
                      <a:pPr fontAlgn="t">
                        <a:buNone/>
                      </a:pPr>
                      <a:r>
                        <a:rPr lang="en-US" sz="1200" dirty="0" err="1">
                          <a:effectLst/>
                        </a:rPr>
                        <a:t>genes_DE_MAE</a:t>
                      </a:r>
                      <a:endParaRPr lang="en-US" sz="1200" dirty="0">
                        <a:effectLst/>
                      </a:endParaRPr>
                    </a:p>
                  </a:txBody>
                  <a:tcPr/>
                </a:tc>
                <a:tc>
                  <a:txBody>
                    <a:bodyPr/>
                    <a:lstStyle/>
                    <a:p>
                      <a:pPr fontAlgn="t">
                        <a:buNone/>
                      </a:pPr>
                      <a:r>
                        <a:rPr lang="en-US" sz="1200" dirty="0" err="1">
                          <a:effectLst/>
                        </a:rPr>
                        <a:t>genes_PR_MAE</a:t>
                      </a:r>
                      <a:endParaRPr lang="en-US" sz="1200" dirty="0">
                        <a:effectLst/>
                      </a:endParaRPr>
                    </a:p>
                  </a:txBody>
                  <a:tcPr/>
                </a:tc>
                <a:tc>
                  <a:txBody>
                    <a:bodyPr/>
                    <a:lstStyle/>
                    <a:p>
                      <a:pPr fontAlgn="t">
                        <a:buNone/>
                      </a:pPr>
                      <a:r>
                        <a:rPr lang="en-US" sz="1200" dirty="0" err="1">
                          <a:effectLst/>
                        </a:rPr>
                        <a:t>pathways_DE_MAE</a:t>
                      </a:r>
                      <a:endParaRPr lang="en-US" sz="1200" dirty="0">
                        <a:effectLst/>
                      </a:endParaRPr>
                    </a:p>
                  </a:txBody>
                  <a:tcPr/>
                </a:tc>
                <a:tc>
                  <a:txBody>
                    <a:bodyPr/>
                    <a:lstStyle/>
                    <a:p>
                      <a:pPr fontAlgn="t">
                        <a:buNone/>
                      </a:pPr>
                      <a:r>
                        <a:rPr lang="en-US" sz="1200" dirty="0" err="1">
                          <a:effectLst/>
                        </a:rPr>
                        <a:t>pathways_PR_MAE</a:t>
                      </a:r>
                      <a:endParaRPr lang="en-US" sz="1200" dirty="0">
                        <a:effectLst/>
                      </a:endParaRPr>
                    </a:p>
                  </a:txBody>
                  <a:tcPr/>
                </a:tc>
                <a:extLst>
                  <a:ext uri="{0D108BD9-81ED-4DB2-BD59-A6C34878D82A}">
                    <a16:rowId xmlns:a16="http://schemas.microsoft.com/office/drawing/2014/main" val="2012924259"/>
                  </a:ext>
                </a:extLst>
              </a:tr>
              <a:tr h="370840">
                <a:tc>
                  <a:txBody>
                    <a:bodyPr/>
                    <a:lstStyle/>
                    <a:p>
                      <a:pPr fontAlgn="t">
                        <a:buNone/>
                      </a:pPr>
                      <a:r>
                        <a:rPr lang="en-US" sz="1200" dirty="0">
                          <a:effectLst/>
                        </a:rPr>
                        <a:t>Multiple Linear Regression</a:t>
                      </a:r>
                    </a:p>
                  </a:txBody>
                  <a:tcPr/>
                </a:tc>
                <a:tc>
                  <a:txBody>
                    <a:bodyPr/>
                    <a:lstStyle/>
                    <a:p>
                      <a:pPr algn="r">
                        <a:buNone/>
                      </a:pPr>
                      <a:r>
                        <a:rPr lang="en-US" sz="1200" dirty="0">
                          <a:effectLst/>
                        </a:rPr>
                        <a:t>0.568602</a:t>
                      </a:r>
                    </a:p>
                  </a:txBody>
                  <a:tcPr anchor="ctr"/>
                </a:tc>
                <a:tc>
                  <a:txBody>
                    <a:bodyPr/>
                    <a:lstStyle/>
                    <a:p>
                      <a:pPr algn="r">
                        <a:buNone/>
                      </a:pPr>
                      <a:r>
                        <a:rPr lang="en-US" sz="1200" dirty="0">
                          <a:effectLst/>
                        </a:rPr>
                        <a:t>0.047347</a:t>
                      </a:r>
                    </a:p>
                  </a:txBody>
                  <a:tcPr anchor="ctr"/>
                </a:tc>
                <a:tc>
                  <a:txBody>
                    <a:bodyPr/>
                    <a:lstStyle/>
                    <a:p>
                      <a:pPr algn="r">
                        <a:buNone/>
                      </a:pPr>
                      <a:r>
                        <a:rPr lang="en-US" sz="1200" dirty="0">
                          <a:effectLst/>
                        </a:rPr>
                        <a:t>0.630935</a:t>
                      </a:r>
                    </a:p>
                  </a:txBody>
                  <a:tcPr anchor="ctr"/>
                </a:tc>
                <a:tc>
                  <a:txBody>
                    <a:bodyPr/>
                    <a:lstStyle/>
                    <a:p>
                      <a:pPr algn="r">
                        <a:buNone/>
                      </a:pPr>
                      <a:r>
                        <a:rPr lang="en-US" sz="1200">
                          <a:effectLst/>
                        </a:rPr>
                        <a:t>0.036782</a:t>
                      </a:r>
                    </a:p>
                  </a:txBody>
                  <a:tcPr anchor="ctr"/>
                </a:tc>
                <a:extLst>
                  <a:ext uri="{0D108BD9-81ED-4DB2-BD59-A6C34878D82A}">
                    <a16:rowId xmlns:a16="http://schemas.microsoft.com/office/drawing/2014/main" val="2818554779"/>
                  </a:ext>
                </a:extLst>
              </a:tr>
              <a:tr h="370840">
                <a:tc>
                  <a:txBody>
                    <a:bodyPr/>
                    <a:lstStyle/>
                    <a:p>
                      <a:pPr fontAlgn="t">
                        <a:buNone/>
                      </a:pPr>
                      <a:r>
                        <a:rPr lang="en-US" sz="1200" dirty="0">
                          <a:effectLst/>
                        </a:rPr>
                        <a:t>Random Forest Regressor</a:t>
                      </a:r>
                    </a:p>
                  </a:txBody>
                  <a:tcPr/>
                </a:tc>
                <a:tc>
                  <a:txBody>
                    <a:bodyPr/>
                    <a:lstStyle/>
                    <a:p>
                      <a:pPr algn="r">
                        <a:buNone/>
                      </a:pPr>
                      <a:r>
                        <a:rPr lang="en-US" sz="1200" dirty="0">
                          <a:effectLst/>
                        </a:rPr>
                        <a:t>0.404805</a:t>
                      </a:r>
                    </a:p>
                  </a:txBody>
                  <a:tcPr anchor="ctr"/>
                </a:tc>
                <a:tc>
                  <a:txBody>
                    <a:bodyPr/>
                    <a:lstStyle/>
                    <a:p>
                      <a:pPr algn="r">
                        <a:buNone/>
                      </a:pPr>
                      <a:r>
                        <a:rPr lang="en-US" sz="1200" dirty="0">
                          <a:effectLst/>
                        </a:rPr>
                        <a:t>0.016204</a:t>
                      </a:r>
                    </a:p>
                  </a:txBody>
                  <a:tcPr anchor="ctr"/>
                </a:tc>
                <a:tc>
                  <a:txBody>
                    <a:bodyPr/>
                    <a:lstStyle/>
                    <a:p>
                      <a:pPr algn="r">
                        <a:buNone/>
                      </a:pPr>
                      <a:r>
                        <a:rPr lang="en-US" sz="1200" dirty="0">
                          <a:effectLst/>
                        </a:rPr>
                        <a:t>0.477658</a:t>
                      </a:r>
                    </a:p>
                  </a:txBody>
                  <a:tcPr anchor="ctr"/>
                </a:tc>
                <a:tc>
                  <a:txBody>
                    <a:bodyPr/>
                    <a:lstStyle/>
                    <a:p>
                      <a:pPr algn="r">
                        <a:buNone/>
                      </a:pPr>
                      <a:r>
                        <a:rPr lang="en-US" sz="1200">
                          <a:effectLst/>
                        </a:rPr>
                        <a:t>0.020233</a:t>
                      </a:r>
                    </a:p>
                  </a:txBody>
                  <a:tcPr anchor="ctr"/>
                </a:tc>
                <a:extLst>
                  <a:ext uri="{0D108BD9-81ED-4DB2-BD59-A6C34878D82A}">
                    <a16:rowId xmlns:a16="http://schemas.microsoft.com/office/drawing/2014/main" val="4085303284"/>
                  </a:ext>
                </a:extLst>
              </a:tr>
              <a:tr h="370840">
                <a:tc>
                  <a:txBody>
                    <a:bodyPr/>
                    <a:lstStyle/>
                    <a:p>
                      <a:pPr fontAlgn="t">
                        <a:buNone/>
                      </a:pPr>
                      <a:r>
                        <a:rPr lang="en-US" sz="1200" dirty="0">
                          <a:effectLst/>
                        </a:rPr>
                        <a:t>Gradient Boost Regressor</a:t>
                      </a:r>
                    </a:p>
                  </a:txBody>
                  <a:tcPr/>
                </a:tc>
                <a:tc>
                  <a:txBody>
                    <a:bodyPr/>
                    <a:lstStyle/>
                    <a:p>
                      <a:pPr algn="r">
                        <a:buNone/>
                      </a:pPr>
                      <a:r>
                        <a:rPr lang="en-US" sz="1200">
                          <a:effectLst/>
                        </a:rPr>
                        <a:t>0.401236</a:t>
                      </a:r>
                    </a:p>
                  </a:txBody>
                  <a:tcPr anchor="ctr"/>
                </a:tc>
                <a:tc>
                  <a:txBody>
                    <a:bodyPr/>
                    <a:lstStyle/>
                    <a:p>
                      <a:pPr algn="r">
                        <a:buNone/>
                      </a:pPr>
                      <a:r>
                        <a:rPr lang="en-US" sz="1200" dirty="0">
                          <a:effectLst/>
                        </a:rPr>
                        <a:t>0.015706</a:t>
                      </a:r>
                    </a:p>
                  </a:txBody>
                  <a:tcPr anchor="ctr"/>
                </a:tc>
                <a:tc>
                  <a:txBody>
                    <a:bodyPr/>
                    <a:lstStyle/>
                    <a:p>
                      <a:pPr algn="r">
                        <a:buNone/>
                      </a:pPr>
                      <a:r>
                        <a:rPr lang="en-US" sz="1200" dirty="0">
                          <a:effectLst/>
                        </a:rPr>
                        <a:t>0.474108</a:t>
                      </a:r>
                    </a:p>
                  </a:txBody>
                  <a:tcPr anchor="ctr"/>
                </a:tc>
                <a:tc>
                  <a:txBody>
                    <a:bodyPr/>
                    <a:lstStyle/>
                    <a:p>
                      <a:pPr algn="r">
                        <a:buNone/>
                      </a:pPr>
                      <a:r>
                        <a:rPr lang="en-US" sz="1200" dirty="0">
                          <a:effectLst/>
                        </a:rPr>
                        <a:t>0.019064</a:t>
                      </a:r>
                    </a:p>
                  </a:txBody>
                  <a:tcPr anchor="ctr"/>
                </a:tc>
                <a:extLst>
                  <a:ext uri="{0D108BD9-81ED-4DB2-BD59-A6C34878D82A}">
                    <a16:rowId xmlns:a16="http://schemas.microsoft.com/office/drawing/2014/main" val="3547049010"/>
                  </a:ext>
                </a:extLst>
              </a:tr>
              <a:tr h="370840">
                <a:tc>
                  <a:txBody>
                    <a:bodyPr/>
                    <a:lstStyle/>
                    <a:p>
                      <a:pPr fontAlgn="t">
                        <a:buNone/>
                      </a:pPr>
                      <a:r>
                        <a:rPr lang="en-US" sz="1200" dirty="0" err="1">
                          <a:effectLst/>
                        </a:rPr>
                        <a:t>XGBoost</a:t>
                      </a:r>
                      <a:r>
                        <a:rPr lang="en-US" sz="1200" dirty="0">
                          <a:effectLst/>
                        </a:rPr>
                        <a:t> Regressor</a:t>
                      </a:r>
                    </a:p>
                  </a:txBody>
                  <a:tcPr/>
                </a:tc>
                <a:tc>
                  <a:txBody>
                    <a:bodyPr/>
                    <a:lstStyle/>
                    <a:p>
                      <a:pPr algn="r">
                        <a:buNone/>
                      </a:pPr>
                      <a:r>
                        <a:rPr lang="en-US" sz="1200">
                          <a:effectLst/>
                        </a:rPr>
                        <a:t>0.456879</a:t>
                      </a:r>
                    </a:p>
                  </a:txBody>
                  <a:tcPr anchor="ctr"/>
                </a:tc>
                <a:tc>
                  <a:txBody>
                    <a:bodyPr/>
                    <a:lstStyle/>
                    <a:p>
                      <a:pPr algn="r">
                        <a:buNone/>
                      </a:pPr>
                      <a:r>
                        <a:rPr lang="en-US" sz="1200">
                          <a:effectLst/>
                        </a:rPr>
                        <a:t>0.016859</a:t>
                      </a:r>
                    </a:p>
                  </a:txBody>
                  <a:tcPr anchor="ctr"/>
                </a:tc>
                <a:tc>
                  <a:txBody>
                    <a:bodyPr/>
                    <a:lstStyle/>
                    <a:p>
                      <a:pPr algn="r">
                        <a:buNone/>
                      </a:pPr>
                      <a:r>
                        <a:rPr lang="en-US" sz="1200" dirty="0">
                          <a:effectLst/>
                        </a:rPr>
                        <a:t>0.532262</a:t>
                      </a:r>
                    </a:p>
                  </a:txBody>
                  <a:tcPr anchor="ctr"/>
                </a:tc>
                <a:tc>
                  <a:txBody>
                    <a:bodyPr/>
                    <a:lstStyle/>
                    <a:p>
                      <a:pPr algn="r">
                        <a:buNone/>
                      </a:pPr>
                      <a:r>
                        <a:rPr lang="en-US" sz="1200" dirty="0">
                          <a:effectLst/>
                        </a:rPr>
                        <a:t>0.021314</a:t>
                      </a:r>
                    </a:p>
                  </a:txBody>
                  <a:tcPr anchor="ctr"/>
                </a:tc>
                <a:extLst>
                  <a:ext uri="{0D108BD9-81ED-4DB2-BD59-A6C34878D82A}">
                    <a16:rowId xmlns:a16="http://schemas.microsoft.com/office/drawing/2014/main" val="3475923966"/>
                  </a:ext>
                </a:extLst>
              </a:tr>
              <a:tr h="370840">
                <a:tc>
                  <a:txBody>
                    <a:bodyPr/>
                    <a:lstStyle/>
                    <a:p>
                      <a:pPr fontAlgn="t">
                        <a:buNone/>
                      </a:pPr>
                      <a:r>
                        <a:rPr lang="en-US" sz="1200" dirty="0">
                          <a:effectLst/>
                        </a:rPr>
                        <a:t>CatBoost Regressor</a:t>
                      </a:r>
                    </a:p>
                  </a:txBody>
                  <a:tcPr/>
                </a:tc>
                <a:tc>
                  <a:txBody>
                    <a:bodyPr/>
                    <a:lstStyle/>
                    <a:p>
                      <a:pPr algn="r">
                        <a:buNone/>
                      </a:pPr>
                      <a:r>
                        <a:rPr lang="en-US" sz="1200">
                          <a:effectLst/>
                        </a:rPr>
                        <a:t>0.410011</a:t>
                      </a:r>
                    </a:p>
                  </a:txBody>
                  <a:tcPr anchor="ctr"/>
                </a:tc>
                <a:tc>
                  <a:txBody>
                    <a:bodyPr/>
                    <a:lstStyle/>
                    <a:p>
                      <a:pPr algn="r">
                        <a:buNone/>
                      </a:pPr>
                      <a:r>
                        <a:rPr lang="en-US" sz="1200">
                          <a:effectLst/>
                        </a:rPr>
                        <a:t>0.015049</a:t>
                      </a:r>
                    </a:p>
                  </a:txBody>
                  <a:tcPr anchor="ctr"/>
                </a:tc>
                <a:tc>
                  <a:txBody>
                    <a:bodyPr/>
                    <a:lstStyle/>
                    <a:p>
                      <a:pPr algn="r">
                        <a:buNone/>
                      </a:pPr>
                      <a:r>
                        <a:rPr lang="en-US" sz="1200" dirty="0">
                          <a:effectLst/>
                        </a:rPr>
                        <a:t>0.510991</a:t>
                      </a:r>
                    </a:p>
                  </a:txBody>
                  <a:tcPr anchor="ctr"/>
                </a:tc>
                <a:tc>
                  <a:txBody>
                    <a:bodyPr/>
                    <a:lstStyle/>
                    <a:p>
                      <a:pPr algn="r">
                        <a:buNone/>
                      </a:pPr>
                      <a:r>
                        <a:rPr lang="en-US" sz="1200" dirty="0">
                          <a:effectLst/>
                        </a:rPr>
                        <a:t>0.019033</a:t>
                      </a:r>
                    </a:p>
                  </a:txBody>
                  <a:tcPr anchor="ctr"/>
                </a:tc>
                <a:extLst>
                  <a:ext uri="{0D108BD9-81ED-4DB2-BD59-A6C34878D82A}">
                    <a16:rowId xmlns:a16="http://schemas.microsoft.com/office/drawing/2014/main" val="4249286562"/>
                  </a:ext>
                </a:extLst>
              </a:tr>
            </a:tbl>
          </a:graphicData>
        </a:graphic>
      </p:graphicFrame>
      <p:graphicFrame>
        <p:nvGraphicFramePr>
          <p:cNvPr id="3" name="Table 2">
            <a:extLst>
              <a:ext uri="{FF2B5EF4-FFF2-40B4-BE49-F238E27FC236}">
                <a16:creationId xmlns:a16="http://schemas.microsoft.com/office/drawing/2014/main" id="{14F63291-D5CF-4CED-6A89-20D525561054}"/>
              </a:ext>
            </a:extLst>
          </p:cNvPr>
          <p:cNvGraphicFramePr>
            <a:graphicFrameLocks noGrp="1"/>
          </p:cNvGraphicFramePr>
          <p:nvPr>
            <p:extLst>
              <p:ext uri="{D42A27DB-BD31-4B8C-83A1-F6EECF244321}">
                <p14:modId xmlns:p14="http://schemas.microsoft.com/office/powerpoint/2010/main" val="3656511043"/>
              </p:ext>
            </p:extLst>
          </p:nvPr>
        </p:nvGraphicFramePr>
        <p:xfrm>
          <a:off x="970115" y="4258311"/>
          <a:ext cx="8694995" cy="2484120"/>
        </p:xfrm>
        <a:graphic>
          <a:graphicData uri="http://schemas.openxmlformats.org/drawingml/2006/table">
            <a:tbl>
              <a:tblPr firstRow="1" bandRow="1">
                <a:tableStyleId>{5C22544A-7EE6-4342-B048-85BDC9FD1C3A}</a:tableStyleId>
              </a:tblPr>
              <a:tblGrid>
                <a:gridCol w="1738999">
                  <a:extLst>
                    <a:ext uri="{9D8B030D-6E8A-4147-A177-3AD203B41FA5}">
                      <a16:colId xmlns:a16="http://schemas.microsoft.com/office/drawing/2014/main" val="2455685547"/>
                    </a:ext>
                  </a:extLst>
                </a:gridCol>
                <a:gridCol w="1738999">
                  <a:extLst>
                    <a:ext uri="{9D8B030D-6E8A-4147-A177-3AD203B41FA5}">
                      <a16:colId xmlns:a16="http://schemas.microsoft.com/office/drawing/2014/main" val="254858693"/>
                    </a:ext>
                  </a:extLst>
                </a:gridCol>
                <a:gridCol w="1738999">
                  <a:extLst>
                    <a:ext uri="{9D8B030D-6E8A-4147-A177-3AD203B41FA5}">
                      <a16:colId xmlns:a16="http://schemas.microsoft.com/office/drawing/2014/main" val="3675816253"/>
                    </a:ext>
                  </a:extLst>
                </a:gridCol>
                <a:gridCol w="1738999">
                  <a:extLst>
                    <a:ext uri="{9D8B030D-6E8A-4147-A177-3AD203B41FA5}">
                      <a16:colId xmlns:a16="http://schemas.microsoft.com/office/drawing/2014/main" val="1599258102"/>
                    </a:ext>
                  </a:extLst>
                </a:gridCol>
                <a:gridCol w="1738999">
                  <a:extLst>
                    <a:ext uri="{9D8B030D-6E8A-4147-A177-3AD203B41FA5}">
                      <a16:colId xmlns:a16="http://schemas.microsoft.com/office/drawing/2014/main" val="2385735589"/>
                    </a:ext>
                  </a:extLst>
                </a:gridCol>
              </a:tblGrid>
              <a:tr h="370840">
                <a:tc>
                  <a:txBody>
                    <a:bodyPr/>
                    <a:lstStyle/>
                    <a:p>
                      <a:endParaRPr lang="en-US" sz="1200"/>
                    </a:p>
                  </a:txBody>
                  <a:tcPr/>
                </a:tc>
                <a:tc>
                  <a:txBody>
                    <a:bodyPr/>
                    <a:lstStyle/>
                    <a:p>
                      <a:pPr fontAlgn="t">
                        <a:buNone/>
                      </a:pPr>
                      <a:r>
                        <a:rPr lang="en-US" sz="1200" dirty="0" err="1">
                          <a:effectLst/>
                        </a:rPr>
                        <a:t>genes_DE_MAPE</a:t>
                      </a:r>
                      <a:endParaRPr lang="en-US" sz="1200" dirty="0">
                        <a:effectLst/>
                      </a:endParaRPr>
                    </a:p>
                  </a:txBody>
                  <a:tcPr/>
                </a:tc>
                <a:tc>
                  <a:txBody>
                    <a:bodyPr/>
                    <a:lstStyle/>
                    <a:p>
                      <a:pPr fontAlgn="t">
                        <a:buNone/>
                      </a:pPr>
                      <a:r>
                        <a:rPr lang="en-US" sz="1200" dirty="0" err="1">
                          <a:effectLst/>
                        </a:rPr>
                        <a:t>genes_PR_MAPE</a:t>
                      </a:r>
                      <a:endParaRPr lang="en-US" sz="1200" dirty="0">
                        <a:effectLst/>
                      </a:endParaRPr>
                    </a:p>
                  </a:txBody>
                  <a:tcPr/>
                </a:tc>
                <a:tc>
                  <a:txBody>
                    <a:bodyPr/>
                    <a:lstStyle/>
                    <a:p>
                      <a:pPr fontAlgn="t">
                        <a:buNone/>
                      </a:pPr>
                      <a:r>
                        <a:rPr lang="en-US" sz="1200" dirty="0" err="1">
                          <a:effectLst/>
                        </a:rPr>
                        <a:t>pathways_DE_MAPE</a:t>
                      </a:r>
                      <a:endParaRPr lang="en-US" sz="1200" dirty="0">
                        <a:effectLst/>
                      </a:endParaRPr>
                    </a:p>
                  </a:txBody>
                  <a:tcPr/>
                </a:tc>
                <a:tc>
                  <a:txBody>
                    <a:bodyPr/>
                    <a:lstStyle/>
                    <a:p>
                      <a:pPr fontAlgn="t">
                        <a:buNone/>
                      </a:pPr>
                      <a:r>
                        <a:rPr lang="en-US" sz="1200" dirty="0" err="1">
                          <a:effectLst/>
                        </a:rPr>
                        <a:t>pathways_PR_MAPE</a:t>
                      </a:r>
                      <a:endParaRPr lang="en-US" sz="1200" dirty="0">
                        <a:effectLst/>
                      </a:endParaRPr>
                    </a:p>
                  </a:txBody>
                  <a:tcPr/>
                </a:tc>
                <a:extLst>
                  <a:ext uri="{0D108BD9-81ED-4DB2-BD59-A6C34878D82A}">
                    <a16:rowId xmlns:a16="http://schemas.microsoft.com/office/drawing/2014/main" val="986988619"/>
                  </a:ext>
                </a:extLst>
              </a:tr>
              <a:tr h="370840">
                <a:tc>
                  <a:txBody>
                    <a:bodyPr/>
                    <a:lstStyle/>
                    <a:p>
                      <a:pPr fontAlgn="t">
                        <a:buNone/>
                      </a:pPr>
                      <a:r>
                        <a:rPr lang="en-US" sz="1200" dirty="0">
                          <a:effectLst/>
                        </a:rPr>
                        <a:t>Multiple Linear Regression</a:t>
                      </a:r>
                    </a:p>
                  </a:txBody>
                  <a:tcPr/>
                </a:tc>
                <a:tc>
                  <a:txBody>
                    <a:bodyPr/>
                    <a:lstStyle/>
                    <a:p>
                      <a:pPr algn="r">
                        <a:buNone/>
                      </a:pPr>
                      <a:r>
                        <a:rPr lang="en-US" sz="1200" dirty="0">
                          <a:effectLst/>
                        </a:rPr>
                        <a:t>0.204038</a:t>
                      </a:r>
                    </a:p>
                  </a:txBody>
                  <a:tcPr anchor="ctr"/>
                </a:tc>
                <a:tc>
                  <a:txBody>
                    <a:bodyPr/>
                    <a:lstStyle/>
                    <a:p>
                      <a:pPr algn="r">
                        <a:buNone/>
                      </a:pPr>
                      <a:r>
                        <a:rPr lang="en-US" sz="1200" dirty="0">
                          <a:effectLst/>
                        </a:rPr>
                        <a:t>0.062277</a:t>
                      </a:r>
                    </a:p>
                  </a:txBody>
                  <a:tcPr anchor="ctr"/>
                </a:tc>
                <a:tc>
                  <a:txBody>
                    <a:bodyPr/>
                    <a:lstStyle/>
                    <a:p>
                      <a:pPr algn="r">
                        <a:buNone/>
                      </a:pPr>
                      <a:r>
                        <a:rPr lang="en-US" sz="1200">
                          <a:effectLst/>
                        </a:rPr>
                        <a:t>0.302210</a:t>
                      </a:r>
                    </a:p>
                  </a:txBody>
                  <a:tcPr anchor="ctr"/>
                </a:tc>
                <a:tc>
                  <a:txBody>
                    <a:bodyPr/>
                    <a:lstStyle/>
                    <a:p>
                      <a:pPr algn="r">
                        <a:buNone/>
                      </a:pPr>
                      <a:r>
                        <a:rPr lang="en-US" sz="1200">
                          <a:effectLst/>
                        </a:rPr>
                        <a:t>0.048444</a:t>
                      </a:r>
                    </a:p>
                  </a:txBody>
                  <a:tcPr anchor="ctr"/>
                </a:tc>
                <a:extLst>
                  <a:ext uri="{0D108BD9-81ED-4DB2-BD59-A6C34878D82A}">
                    <a16:rowId xmlns:a16="http://schemas.microsoft.com/office/drawing/2014/main" val="598367555"/>
                  </a:ext>
                </a:extLst>
              </a:tr>
              <a:tr h="370840">
                <a:tc>
                  <a:txBody>
                    <a:bodyPr/>
                    <a:lstStyle/>
                    <a:p>
                      <a:pPr fontAlgn="t">
                        <a:buNone/>
                      </a:pPr>
                      <a:r>
                        <a:rPr lang="en-US" sz="1200" dirty="0">
                          <a:effectLst/>
                        </a:rPr>
                        <a:t>Random Forest Regressor</a:t>
                      </a:r>
                    </a:p>
                  </a:txBody>
                  <a:tcPr/>
                </a:tc>
                <a:tc>
                  <a:txBody>
                    <a:bodyPr/>
                    <a:lstStyle/>
                    <a:p>
                      <a:pPr algn="r">
                        <a:buNone/>
                      </a:pPr>
                      <a:r>
                        <a:rPr lang="en-US" sz="1200">
                          <a:effectLst/>
                        </a:rPr>
                        <a:t>0.151211</a:t>
                      </a:r>
                    </a:p>
                  </a:txBody>
                  <a:tcPr anchor="ctr"/>
                </a:tc>
                <a:tc>
                  <a:txBody>
                    <a:bodyPr/>
                    <a:lstStyle/>
                    <a:p>
                      <a:pPr algn="r">
                        <a:buNone/>
                      </a:pPr>
                      <a:r>
                        <a:rPr lang="en-US" sz="1200" dirty="0">
                          <a:effectLst/>
                        </a:rPr>
                        <a:t>0.021715</a:t>
                      </a:r>
                    </a:p>
                  </a:txBody>
                  <a:tcPr anchor="ctr"/>
                </a:tc>
                <a:tc>
                  <a:txBody>
                    <a:bodyPr/>
                    <a:lstStyle/>
                    <a:p>
                      <a:pPr algn="r">
                        <a:buNone/>
                      </a:pPr>
                      <a:r>
                        <a:rPr lang="en-US" sz="1200" dirty="0">
                          <a:effectLst/>
                        </a:rPr>
                        <a:t>0.215585</a:t>
                      </a:r>
                    </a:p>
                  </a:txBody>
                  <a:tcPr anchor="ctr"/>
                </a:tc>
                <a:tc>
                  <a:txBody>
                    <a:bodyPr/>
                    <a:lstStyle/>
                    <a:p>
                      <a:pPr algn="r">
                        <a:buNone/>
                      </a:pPr>
                      <a:r>
                        <a:rPr lang="en-US" sz="1200">
                          <a:effectLst/>
                        </a:rPr>
                        <a:t>0.026956</a:t>
                      </a:r>
                    </a:p>
                  </a:txBody>
                  <a:tcPr anchor="ctr"/>
                </a:tc>
                <a:extLst>
                  <a:ext uri="{0D108BD9-81ED-4DB2-BD59-A6C34878D82A}">
                    <a16:rowId xmlns:a16="http://schemas.microsoft.com/office/drawing/2014/main" val="3281614109"/>
                  </a:ext>
                </a:extLst>
              </a:tr>
              <a:tr h="370840">
                <a:tc>
                  <a:txBody>
                    <a:bodyPr/>
                    <a:lstStyle/>
                    <a:p>
                      <a:pPr fontAlgn="t">
                        <a:buNone/>
                      </a:pPr>
                      <a:r>
                        <a:rPr lang="en-US" sz="1200">
                          <a:effectLst/>
                        </a:rPr>
                        <a:t>Gradient Boost Regressor</a:t>
                      </a:r>
                    </a:p>
                  </a:txBody>
                  <a:tcPr/>
                </a:tc>
                <a:tc>
                  <a:txBody>
                    <a:bodyPr/>
                    <a:lstStyle/>
                    <a:p>
                      <a:pPr algn="r">
                        <a:buNone/>
                      </a:pPr>
                      <a:r>
                        <a:rPr lang="en-US" sz="1200">
                          <a:effectLst/>
                        </a:rPr>
                        <a:t>0.150670</a:t>
                      </a:r>
                    </a:p>
                  </a:txBody>
                  <a:tcPr anchor="ctr"/>
                </a:tc>
                <a:tc>
                  <a:txBody>
                    <a:bodyPr/>
                    <a:lstStyle/>
                    <a:p>
                      <a:pPr algn="r">
                        <a:buNone/>
                      </a:pPr>
                      <a:r>
                        <a:rPr lang="en-US" sz="1200">
                          <a:effectLst/>
                        </a:rPr>
                        <a:t>0.021009</a:t>
                      </a:r>
                    </a:p>
                  </a:txBody>
                  <a:tcPr anchor="ctr"/>
                </a:tc>
                <a:tc>
                  <a:txBody>
                    <a:bodyPr/>
                    <a:lstStyle/>
                    <a:p>
                      <a:pPr algn="r">
                        <a:buNone/>
                      </a:pPr>
                      <a:r>
                        <a:rPr lang="en-US" sz="1200" dirty="0">
                          <a:effectLst/>
                        </a:rPr>
                        <a:t>0.216221</a:t>
                      </a:r>
                    </a:p>
                  </a:txBody>
                  <a:tcPr anchor="ctr"/>
                </a:tc>
                <a:tc>
                  <a:txBody>
                    <a:bodyPr/>
                    <a:lstStyle/>
                    <a:p>
                      <a:pPr algn="r">
                        <a:buNone/>
                      </a:pPr>
                      <a:r>
                        <a:rPr lang="en-US" sz="1200" dirty="0">
                          <a:effectLst/>
                        </a:rPr>
                        <a:t>0.025477</a:t>
                      </a:r>
                    </a:p>
                  </a:txBody>
                  <a:tcPr anchor="ctr"/>
                </a:tc>
                <a:extLst>
                  <a:ext uri="{0D108BD9-81ED-4DB2-BD59-A6C34878D82A}">
                    <a16:rowId xmlns:a16="http://schemas.microsoft.com/office/drawing/2014/main" val="3409776727"/>
                  </a:ext>
                </a:extLst>
              </a:tr>
              <a:tr h="370840">
                <a:tc>
                  <a:txBody>
                    <a:bodyPr/>
                    <a:lstStyle/>
                    <a:p>
                      <a:pPr fontAlgn="t">
                        <a:buNone/>
                      </a:pPr>
                      <a:r>
                        <a:rPr lang="en-US" sz="1200">
                          <a:effectLst/>
                        </a:rPr>
                        <a:t>XGBoost Regressor</a:t>
                      </a:r>
                    </a:p>
                  </a:txBody>
                  <a:tcPr/>
                </a:tc>
                <a:tc>
                  <a:txBody>
                    <a:bodyPr/>
                    <a:lstStyle/>
                    <a:p>
                      <a:pPr algn="r">
                        <a:buNone/>
                      </a:pPr>
                      <a:r>
                        <a:rPr lang="en-US" sz="1200">
                          <a:effectLst/>
                        </a:rPr>
                        <a:t>0.173794</a:t>
                      </a:r>
                    </a:p>
                  </a:txBody>
                  <a:tcPr anchor="ctr"/>
                </a:tc>
                <a:tc>
                  <a:txBody>
                    <a:bodyPr/>
                    <a:lstStyle/>
                    <a:p>
                      <a:pPr algn="r">
                        <a:buNone/>
                      </a:pPr>
                      <a:r>
                        <a:rPr lang="en-US" sz="1200">
                          <a:effectLst/>
                        </a:rPr>
                        <a:t>0.022656</a:t>
                      </a:r>
                    </a:p>
                  </a:txBody>
                  <a:tcPr anchor="ctr"/>
                </a:tc>
                <a:tc>
                  <a:txBody>
                    <a:bodyPr/>
                    <a:lstStyle/>
                    <a:p>
                      <a:pPr algn="r">
                        <a:buNone/>
                      </a:pPr>
                      <a:r>
                        <a:rPr lang="en-US" sz="1200" dirty="0">
                          <a:effectLst/>
                        </a:rPr>
                        <a:t>0.230050</a:t>
                      </a:r>
                    </a:p>
                  </a:txBody>
                  <a:tcPr anchor="ctr"/>
                </a:tc>
                <a:tc>
                  <a:txBody>
                    <a:bodyPr/>
                    <a:lstStyle/>
                    <a:p>
                      <a:pPr algn="r">
                        <a:buNone/>
                      </a:pPr>
                      <a:r>
                        <a:rPr lang="en-US" sz="1200" dirty="0">
                          <a:effectLst/>
                        </a:rPr>
                        <a:t>0.028511</a:t>
                      </a:r>
                    </a:p>
                  </a:txBody>
                  <a:tcPr anchor="ctr"/>
                </a:tc>
                <a:extLst>
                  <a:ext uri="{0D108BD9-81ED-4DB2-BD59-A6C34878D82A}">
                    <a16:rowId xmlns:a16="http://schemas.microsoft.com/office/drawing/2014/main" val="1592865302"/>
                  </a:ext>
                </a:extLst>
              </a:tr>
              <a:tr h="370840">
                <a:tc>
                  <a:txBody>
                    <a:bodyPr/>
                    <a:lstStyle/>
                    <a:p>
                      <a:pPr fontAlgn="t">
                        <a:buNone/>
                      </a:pPr>
                      <a:r>
                        <a:rPr lang="en-US" sz="1200">
                          <a:effectLst/>
                        </a:rPr>
                        <a:t>CatBoost Regressor</a:t>
                      </a:r>
                    </a:p>
                  </a:txBody>
                  <a:tcPr/>
                </a:tc>
                <a:tc>
                  <a:txBody>
                    <a:bodyPr/>
                    <a:lstStyle/>
                    <a:p>
                      <a:pPr algn="r">
                        <a:buNone/>
                      </a:pPr>
                      <a:r>
                        <a:rPr lang="en-US" sz="1200">
                          <a:effectLst/>
                        </a:rPr>
                        <a:t>0.153956</a:t>
                      </a:r>
                    </a:p>
                  </a:txBody>
                  <a:tcPr anchor="ctr"/>
                </a:tc>
                <a:tc>
                  <a:txBody>
                    <a:bodyPr/>
                    <a:lstStyle/>
                    <a:p>
                      <a:pPr algn="r">
                        <a:buNone/>
                      </a:pPr>
                      <a:r>
                        <a:rPr lang="en-US" sz="1200">
                          <a:effectLst/>
                        </a:rPr>
                        <a:t>0.020189</a:t>
                      </a:r>
                    </a:p>
                  </a:txBody>
                  <a:tcPr anchor="ctr"/>
                </a:tc>
                <a:tc>
                  <a:txBody>
                    <a:bodyPr/>
                    <a:lstStyle/>
                    <a:p>
                      <a:pPr algn="r">
                        <a:buNone/>
                      </a:pPr>
                      <a:r>
                        <a:rPr lang="en-US" sz="1200">
                          <a:effectLst/>
                        </a:rPr>
                        <a:t>0.230386</a:t>
                      </a:r>
                    </a:p>
                  </a:txBody>
                  <a:tcPr anchor="ctr"/>
                </a:tc>
                <a:tc>
                  <a:txBody>
                    <a:bodyPr/>
                    <a:lstStyle/>
                    <a:p>
                      <a:pPr algn="r">
                        <a:buNone/>
                      </a:pPr>
                      <a:r>
                        <a:rPr lang="en-US" sz="1200" dirty="0">
                          <a:effectLst/>
                        </a:rPr>
                        <a:t>0.025454</a:t>
                      </a:r>
                    </a:p>
                  </a:txBody>
                  <a:tcPr anchor="ctr"/>
                </a:tc>
                <a:extLst>
                  <a:ext uri="{0D108BD9-81ED-4DB2-BD59-A6C34878D82A}">
                    <a16:rowId xmlns:a16="http://schemas.microsoft.com/office/drawing/2014/main" val="2612499678"/>
                  </a:ext>
                </a:extLst>
              </a:tr>
            </a:tbl>
          </a:graphicData>
        </a:graphic>
      </p:graphicFrame>
      <p:sp>
        <p:nvSpPr>
          <p:cNvPr id="7" name="Rectangle 6">
            <a:extLst>
              <a:ext uri="{FF2B5EF4-FFF2-40B4-BE49-F238E27FC236}">
                <a16:creationId xmlns:a16="http://schemas.microsoft.com/office/drawing/2014/main" id="{9CCD2C07-C9D8-671E-D0E5-087DCF2E78A0}"/>
              </a:ext>
            </a:extLst>
          </p:cNvPr>
          <p:cNvSpPr/>
          <p:nvPr/>
        </p:nvSpPr>
        <p:spPr>
          <a:xfrm>
            <a:off x="2754908" y="2104942"/>
            <a:ext cx="3407767" cy="203779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0CCDBD-371F-F8AF-566D-F1159370EC74}"/>
              </a:ext>
            </a:extLst>
          </p:cNvPr>
          <p:cNvSpPr/>
          <p:nvPr/>
        </p:nvSpPr>
        <p:spPr>
          <a:xfrm>
            <a:off x="2754908" y="4704632"/>
            <a:ext cx="3407767" cy="2037799"/>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1EB329-D6F9-A217-0DFB-9D9FA19C4554}"/>
              </a:ext>
            </a:extLst>
          </p:cNvPr>
          <p:cNvSpPr/>
          <p:nvPr/>
        </p:nvSpPr>
        <p:spPr>
          <a:xfrm>
            <a:off x="4458792" y="2104941"/>
            <a:ext cx="1703884" cy="20377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51489A9-7B0B-9988-1DA2-8BCE3AAB6595}"/>
              </a:ext>
            </a:extLst>
          </p:cNvPr>
          <p:cNvSpPr/>
          <p:nvPr/>
        </p:nvSpPr>
        <p:spPr>
          <a:xfrm>
            <a:off x="7961228" y="2104940"/>
            <a:ext cx="1703884" cy="20377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9B8BDDB-0AA2-D6EB-ED7F-9ED69627C22B}"/>
              </a:ext>
            </a:extLst>
          </p:cNvPr>
          <p:cNvSpPr/>
          <p:nvPr/>
        </p:nvSpPr>
        <p:spPr>
          <a:xfrm>
            <a:off x="5353048" y="3813015"/>
            <a:ext cx="809625" cy="329724"/>
          </a:xfrm>
          <a:prstGeom prst="rect">
            <a:avLst/>
          </a:prstGeom>
          <a:no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1068B06-75D7-2020-EC2F-6F9608A95167}"/>
              </a:ext>
            </a:extLst>
          </p:cNvPr>
          <p:cNvSpPr/>
          <p:nvPr/>
        </p:nvSpPr>
        <p:spPr>
          <a:xfrm>
            <a:off x="5353049" y="2587655"/>
            <a:ext cx="809625" cy="329724"/>
          </a:xfrm>
          <a:prstGeom prst="rect">
            <a:avLst/>
          </a:prstGeom>
          <a:noFill/>
          <a:ln w="381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80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hidden"/>
                                      </p:to>
                                    </p:set>
                                  </p:childTnLst>
                                </p:cTn>
                              </p:par>
                              <p:par>
                                <p:cTn id="19" presetID="1" presetClass="exit" presetSubtype="0" fill="hold" grpId="1"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3" grpId="0" animBg="1"/>
      <p:bldP spid="13" grpId="1" animBg="1"/>
      <p:bldP spid="15" grpId="0" animBg="1"/>
      <p:bldP spid="15" grpId="1" animBg="1"/>
      <p:bldP spid="17" grpId="0" animBg="1"/>
      <p:bldP spid="17" grpId="1" animBg="1"/>
      <p:bldP spid="19"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7C3BE8-BC12-5967-C5B9-BA2236F2D3D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8818111-5C7B-D8EB-4267-AAF040ECC9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413E00F-39D3-CAB3-BDB8-2C5E5B819D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B0205BFD-EF41-B25D-12D8-664F43822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ABB6702-4A40-3337-A2B6-FDC2962D35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6B90449C-48FF-35A0-AD75-71C25B38F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D113A5D0-DDB3-D6EE-A94A-90B2BDFD6286}"/>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sz="4000" dirty="0">
                <a:solidFill>
                  <a:prstClr val="white"/>
                </a:solidFill>
              </a:rPr>
              <a:t>Model Screening Results: Donor Order</a:t>
            </a:r>
          </a:p>
        </p:txBody>
      </p:sp>
      <p:sp>
        <p:nvSpPr>
          <p:cNvPr id="17" name="TextBox 16">
            <a:extLst>
              <a:ext uri="{FF2B5EF4-FFF2-40B4-BE49-F238E27FC236}">
                <a16:creationId xmlns:a16="http://schemas.microsoft.com/office/drawing/2014/main" id="{0B0758EB-856F-DE4B-5A2D-4F2EA5E5A53E}"/>
              </a:ext>
            </a:extLst>
          </p:cNvPr>
          <p:cNvSpPr txBox="1"/>
          <p:nvPr/>
        </p:nvSpPr>
        <p:spPr>
          <a:xfrm>
            <a:off x="6786360" y="5896514"/>
            <a:ext cx="829664" cy="482842"/>
          </a:xfrm>
          <a:prstGeom prst="rect">
            <a:avLst/>
          </a:prstGeom>
          <a:noFill/>
        </p:spPr>
        <p:txBody>
          <a:bodyPr wrap="square" rtlCol="0">
            <a:spAutoFit/>
          </a:bodyPr>
          <a:lstStyle/>
          <a:p>
            <a:pPr algn="ctr"/>
            <a:r>
              <a:rPr lang="en-US" sz="1200" dirty="0"/>
              <a:t>Predicted</a:t>
            </a:r>
          </a:p>
        </p:txBody>
      </p:sp>
      <p:grpSp>
        <p:nvGrpSpPr>
          <p:cNvPr id="3" name="Group 2">
            <a:extLst>
              <a:ext uri="{FF2B5EF4-FFF2-40B4-BE49-F238E27FC236}">
                <a16:creationId xmlns:a16="http://schemas.microsoft.com/office/drawing/2014/main" id="{584DD44B-3AF4-00B9-E142-ADDD42886E19}"/>
              </a:ext>
            </a:extLst>
          </p:cNvPr>
          <p:cNvGrpSpPr>
            <a:grpSpLocks noChangeAspect="1"/>
          </p:cNvGrpSpPr>
          <p:nvPr/>
        </p:nvGrpSpPr>
        <p:grpSpPr>
          <a:xfrm>
            <a:off x="751900" y="1609145"/>
            <a:ext cx="9985731" cy="4577074"/>
            <a:chOff x="751900" y="1609145"/>
            <a:chExt cx="9985731" cy="4577074"/>
          </a:xfrm>
        </p:grpSpPr>
        <p:pic>
          <p:nvPicPr>
            <p:cNvPr id="2054" name="Picture 6">
              <a:extLst>
                <a:ext uri="{FF2B5EF4-FFF2-40B4-BE49-F238E27FC236}">
                  <a16:creationId xmlns:a16="http://schemas.microsoft.com/office/drawing/2014/main" id="{3E53A68B-C3B6-C272-37F2-5C3DC15F96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800" b="3008"/>
            <a:stretch>
              <a:fillRect/>
            </a:stretch>
          </p:blipFill>
          <p:spPr bwMode="auto">
            <a:xfrm>
              <a:off x="7449186" y="1897289"/>
              <a:ext cx="3275551" cy="40130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6C8184-DAD2-3C9F-AA60-93669D02E82E}"/>
                </a:ext>
              </a:extLst>
            </p:cNvPr>
            <p:cNvSpPr txBox="1"/>
            <p:nvPr/>
          </p:nvSpPr>
          <p:spPr>
            <a:xfrm>
              <a:off x="7678537" y="1609145"/>
              <a:ext cx="3059094" cy="354083"/>
            </a:xfrm>
            <a:prstGeom prst="rect">
              <a:avLst/>
            </a:prstGeom>
            <a:noFill/>
          </p:spPr>
          <p:txBody>
            <a:bodyPr wrap="square" rtlCol="0">
              <a:spAutoFit/>
            </a:bodyPr>
            <a:lstStyle/>
            <a:p>
              <a:pPr algn="ctr"/>
              <a:r>
                <a:rPr lang="en-US" sz="1600" dirty="0"/>
                <a:t>Random Forest: Pseudorank</a:t>
              </a:r>
            </a:p>
          </p:txBody>
        </p:sp>
        <p:sp>
          <p:nvSpPr>
            <p:cNvPr id="5" name="TextBox 4">
              <a:extLst>
                <a:ext uri="{FF2B5EF4-FFF2-40B4-BE49-F238E27FC236}">
                  <a16:creationId xmlns:a16="http://schemas.microsoft.com/office/drawing/2014/main" id="{1E04AA39-CB06-738A-4E24-A7C98B01151A}"/>
                </a:ext>
              </a:extLst>
            </p:cNvPr>
            <p:cNvSpPr txBox="1"/>
            <p:nvPr/>
          </p:nvSpPr>
          <p:spPr>
            <a:xfrm>
              <a:off x="7543086" y="5896514"/>
              <a:ext cx="714534" cy="289705"/>
            </a:xfrm>
            <a:prstGeom prst="rect">
              <a:avLst/>
            </a:prstGeom>
            <a:noFill/>
          </p:spPr>
          <p:txBody>
            <a:bodyPr wrap="square" rtlCol="0">
              <a:spAutoFit/>
            </a:bodyPr>
            <a:lstStyle/>
            <a:p>
              <a:pPr algn="ctr"/>
              <a:r>
                <a:rPr lang="en-US" sz="1200" dirty="0"/>
                <a:t>Actual</a:t>
              </a:r>
            </a:p>
          </p:txBody>
        </p:sp>
        <p:sp>
          <p:nvSpPr>
            <p:cNvPr id="9" name="TextBox 8">
              <a:extLst>
                <a:ext uri="{FF2B5EF4-FFF2-40B4-BE49-F238E27FC236}">
                  <a16:creationId xmlns:a16="http://schemas.microsoft.com/office/drawing/2014/main" id="{75CDC103-B24F-2AA1-A7D2-459BB61302D7}"/>
                </a:ext>
              </a:extLst>
            </p:cNvPr>
            <p:cNvSpPr txBox="1"/>
            <p:nvPr/>
          </p:nvSpPr>
          <p:spPr>
            <a:xfrm>
              <a:off x="9886720" y="5896514"/>
              <a:ext cx="850910" cy="289705"/>
            </a:xfrm>
            <a:prstGeom prst="rect">
              <a:avLst/>
            </a:prstGeom>
            <a:noFill/>
          </p:spPr>
          <p:txBody>
            <a:bodyPr wrap="square" rtlCol="0">
              <a:spAutoFit/>
            </a:bodyPr>
            <a:lstStyle/>
            <a:p>
              <a:pPr algn="ctr"/>
              <a:r>
                <a:rPr lang="en-US" sz="1200" dirty="0"/>
                <a:t>Predicted</a:t>
              </a:r>
            </a:p>
          </p:txBody>
        </p:sp>
        <p:sp>
          <p:nvSpPr>
            <p:cNvPr id="11" name="TextBox 10">
              <a:extLst>
                <a:ext uri="{FF2B5EF4-FFF2-40B4-BE49-F238E27FC236}">
                  <a16:creationId xmlns:a16="http://schemas.microsoft.com/office/drawing/2014/main" id="{E1A31D37-D1EA-F228-45EA-DF589B8AD31B}"/>
                </a:ext>
              </a:extLst>
            </p:cNvPr>
            <p:cNvSpPr txBox="1"/>
            <p:nvPr/>
          </p:nvSpPr>
          <p:spPr>
            <a:xfrm>
              <a:off x="4584606" y="1609145"/>
              <a:ext cx="2667136" cy="354083"/>
            </a:xfrm>
            <a:prstGeom prst="rect">
              <a:avLst/>
            </a:prstGeom>
            <a:noFill/>
          </p:spPr>
          <p:txBody>
            <a:bodyPr wrap="square" rtlCol="0">
              <a:spAutoFit/>
            </a:bodyPr>
            <a:lstStyle/>
            <a:p>
              <a:pPr algn="ctr"/>
              <a:r>
                <a:rPr lang="en-US" sz="1600" dirty="0"/>
                <a:t>CatBoost: DE Score</a:t>
              </a:r>
            </a:p>
          </p:txBody>
        </p:sp>
        <p:sp>
          <p:nvSpPr>
            <p:cNvPr id="13" name="TextBox 12">
              <a:extLst>
                <a:ext uri="{FF2B5EF4-FFF2-40B4-BE49-F238E27FC236}">
                  <a16:creationId xmlns:a16="http://schemas.microsoft.com/office/drawing/2014/main" id="{AFB8761D-6573-9A8F-697F-6BFEF72320A7}"/>
                </a:ext>
              </a:extLst>
            </p:cNvPr>
            <p:cNvSpPr txBox="1"/>
            <p:nvPr/>
          </p:nvSpPr>
          <p:spPr>
            <a:xfrm>
              <a:off x="1467263" y="1609145"/>
              <a:ext cx="2667136" cy="354083"/>
            </a:xfrm>
            <a:prstGeom prst="rect">
              <a:avLst/>
            </a:prstGeom>
            <a:noFill/>
          </p:spPr>
          <p:txBody>
            <a:bodyPr wrap="square" rtlCol="0">
              <a:spAutoFit/>
            </a:bodyPr>
            <a:lstStyle/>
            <a:p>
              <a:pPr algn="ctr"/>
              <a:r>
                <a:rPr lang="en-US" sz="1600" dirty="0"/>
                <a:t>CatBoost: Pseudorank</a:t>
              </a:r>
            </a:p>
          </p:txBody>
        </p:sp>
        <p:sp>
          <p:nvSpPr>
            <p:cNvPr id="15" name="TextBox 14">
              <a:extLst>
                <a:ext uri="{FF2B5EF4-FFF2-40B4-BE49-F238E27FC236}">
                  <a16:creationId xmlns:a16="http://schemas.microsoft.com/office/drawing/2014/main" id="{57C068A4-D814-C00D-61EB-39ABCA6AFFD5}"/>
                </a:ext>
              </a:extLst>
            </p:cNvPr>
            <p:cNvSpPr txBox="1"/>
            <p:nvPr/>
          </p:nvSpPr>
          <p:spPr>
            <a:xfrm>
              <a:off x="4384814" y="5896514"/>
              <a:ext cx="714534" cy="289705"/>
            </a:xfrm>
            <a:prstGeom prst="rect">
              <a:avLst/>
            </a:prstGeom>
            <a:noFill/>
          </p:spPr>
          <p:txBody>
            <a:bodyPr wrap="square" rtlCol="0">
              <a:spAutoFit/>
            </a:bodyPr>
            <a:lstStyle/>
            <a:p>
              <a:pPr algn="ctr"/>
              <a:r>
                <a:rPr lang="en-US" sz="1200" dirty="0"/>
                <a:t>Actual</a:t>
              </a:r>
            </a:p>
          </p:txBody>
        </p:sp>
        <p:sp>
          <p:nvSpPr>
            <p:cNvPr id="19" name="TextBox 18">
              <a:extLst>
                <a:ext uri="{FF2B5EF4-FFF2-40B4-BE49-F238E27FC236}">
                  <a16:creationId xmlns:a16="http://schemas.microsoft.com/office/drawing/2014/main" id="{E30CD391-7924-C564-F4D9-97493AA3475C}"/>
                </a:ext>
              </a:extLst>
            </p:cNvPr>
            <p:cNvSpPr txBox="1"/>
            <p:nvPr/>
          </p:nvSpPr>
          <p:spPr>
            <a:xfrm>
              <a:off x="1232050" y="5896514"/>
              <a:ext cx="714534" cy="289705"/>
            </a:xfrm>
            <a:prstGeom prst="rect">
              <a:avLst/>
            </a:prstGeom>
            <a:noFill/>
          </p:spPr>
          <p:txBody>
            <a:bodyPr wrap="square" rtlCol="0">
              <a:spAutoFit/>
            </a:bodyPr>
            <a:lstStyle/>
            <a:p>
              <a:pPr algn="ctr"/>
              <a:r>
                <a:rPr lang="en-US" sz="1200" dirty="0"/>
                <a:t>Actual</a:t>
              </a:r>
            </a:p>
          </p:txBody>
        </p:sp>
        <p:sp>
          <p:nvSpPr>
            <p:cNvPr id="21" name="TextBox 20">
              <a:extLst>
                <a:ext uri="{FF2B5EF4-FFF2-40B4-BE49-F238E27FC236}">
                  <a16:creationId xmlns:a16="http://schemas.microsoft.com/office/drawing/2014/main" id="{96810A7A-37A2-3D78-DB61-87242C4487CA}"/>
                </a:ext>
              </a:extLst>
            </p:cNvPr>
            <p:cNvSpPr txBox="1"/>
            <p:nvPr/>
          </p:nvSpPr>
          <p:spPr>
            <a:xfrm>
              <a:off x="3633597" y="5896514"/>
              <a:ext cx="882068" cy="276999"/>
            </a:xfrm>
            <a:prstGeom prst="rect">
              <a:avLst/>
            </a:prstGeom>
            <a:noFill/>
          </p:spPr>
          <p:txBody>
            <a:bodyPr wrap="square" rtlCol="0">
              <a:spAutoFit/>
            </a:bodyPr>
            <a:lstStyle/>
            <a:p>
              <a:pPr algn="ctr"/>
              <a:r>
                <a:rPr lang="en-US" sz="1200" dirty="0"/>
                <a:t>Predicted</a:t>
              </a:r>
            </a:p>
          </p:txBody>
        </p:sp>
        <p:sp>
          <p:nvSpPr>
            <p:cNvPr id="22" name="TextBox 21">
              <a:extLst>
                <a:ext uri="{FF2B5EF4-FFF2-40B4-BE49-F238E27FC236}">
                  <a16:creationId xmlns:a16="http://schemas.microsoft.com/office/drawing/2014/main" id="{09348AB6-7D1E-C2E6-5A35-A31208D38668}"/>
                </a:ext>
              </a:extLst>
            </p:cNvPr>
            <p:cNvSpPr txBox="1"/>
            <p:nvPr/>
          </p:nvSpPr>
          <p:spPr>
            <a:xfrm rot="16200000">
              <a:off x="570575" y="3747832"/>
              <a:ext cx="644409" cy="281760"/>
            </a:xfrm>
            <a:prstGeom prst="rect">
              <a:avLst/>
            </a:prstGeom>
            <a:noFill/>
          </p:spPr>
          <p:txBody>
            <a:bodyPr wrap="square" rtlCol="0">
              <a:spAutoFit/>
            </a:bodyPr>
            <a:lstStyle/>
            <a:p>
              <a:pPr algn="ctr"/>
              <a:r>
                <a:rPr lang="en-US" sz="1200" dirty="0"/>
                <a:t>Rank</a:t>
              </a:r>
            </a:p>
          </p:txBody>
        </p:sp>
        <p:pic>
          <p:nvPicPr>
            <p:cNvPr id="3078" name="Picture 6">
              <a:extLst>
                <a:ext uri="{FF2B5EF4-FFF2-40B4-BE49-F238E27FC236}">
                  <a16:creationId xmlns:a16="http://schemas.microsoft.com/office/drawing/2014/main" id="{FCD25B1A-536C-F1D3-5D55-CACF5544A4E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851" b="3320"/>
            <a:stretch>
              <a:fillRect/>
            </a:stretch>
          </p:blipFill>
          <p:spPr bwMode="auto">
            <a:xfrm>
              <a:off x="4036426" y="1883443"/>
              <a:ext cx="3579598" cy="40130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F3F7479-8FFA-87ED-02F1-C267A057519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08" t="3850" b="3321"/>
            <a:stretch>
              <a:fillRect/>
            </a:stretch>
          </p:blipFill>
          <p:spPr bwMode="auto">
            <a:xfrm>
              <a:off x="989663" y="1883443"/>
              <a:ext cx="3432565" cy="4013072"/>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Box 22">
            <a:extLst>
              <a:ext uri="{FF2B5EF4-FFF2-40B4-BE49-F238E27FC236}">
                <a16:creationId xmlns:a16="http://schemas.microsoft.com/office/drawing/2014/main" id="{95C354A1-E9F5-B52A-9837-E0493650979D}"/>
              </a:ext>
            </a:extLst>
          </p:cNvPr>
          <p:cNvSpPr txBox="1"/>
          <p:nvPr/>
        </p:nvSpPr>
        <p:spPr>
          <a:xfrm>
            <a:off x="1770006" y="6382283"/>
            <a:ext cx="8109805" cy="307777"/>
          </a:xfrm>
          <a:prstGeom prst="rect">
            <a:avLst/>
          </a:prstGeom>
          <a:noFill/>
        </p:spPr>
        <p:txBody>
          <a:bodyPr wrap="square" rtlCol="0">
            <a:spAutoFit/>
          </a:bodyPr>
          <a:lstStyle/>
          <a:p>
            <a:pPr algn="ctr"/>
            <a:r>
              <a:rPr lang="en-US" sz="1400" dirty="0"/>
              <a:t>CatBoost learner trained on top genes predicting Pseudorank is the best at finding the top donors.</a:t>
            </a:r>
          </a:p>
        </p:txBody>
      </p:sp>
    </p:spTree>
    <p:extLst>
      <p:ext uri="{BB962C8B-B14F-4D97-AF65-F5344CB8AC3E}">
        <p14:creationId xmlns:p14="http://schemas.microsoft.com/office/powerpoint/2010/main" val="45105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3405C-C0EC-A013-5112-7F96AE9AA10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B578007-B04A-3EFD-0171-F257E2CB5D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AF26CE3-4A08-F7A3-AEB0-8198BC146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AC89FC76-300D-EE01-564F-861617471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B179B819-11E8-0F4B-E086-E327A0D39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9D28179-7A8A-88E1-928C-B43A412CBE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1B3DDB08-EF79-8999-BA93-A3ECB28A80BE}"/>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Molecular Pathways Make Biological Sense </a:t>
            </a:r>
          </a:p>
        </p:txBody>
      </p:sp>
      <p:graphicFrame>
        <p:nvGraphicFramePr>
          <p:cNvPr id="4" name="Table 3">
            <a:extLst>
              <a:ext uri="{FF2B5EF4-FFF2-40B4-BE49-F238E27FC236}">
                <a16:creationId xmlns:a16="http://schemas.microsoft.com/office/drawing/2014/main" id="{A642D659-26F1-9BE0-9DC7-4F70E59A2718}"/>
              </a:ext>
            </a:extLst>
          </p:cNvPr>
          <p:cNvGraphicFramePr>
            <a:graphicFrameLocks noGrp="1"/>
          </p:cNvGraphicFramePr>
          <p:nvPr>
            <p:extLst>
              <p:ext uri="{D42A27DB-BD31-4B8C-83A1-F6EECF244321}">
                <p14:modId xmlns:p14="http://schemas.microsoft.com/office/powerpoint/2010/main" val="2004414315"/>
              </p:ext>
            </p:extLst>
          </p:nvPr>
        </p:nvGraphicFramePr>
        <p:xfrm>
          <a:off x="838200" y="1655881"/>
          <a:ext cx="10277457" cy="1554480"/>
        </p:xfrm>
        <a:graphic>
          <a:graphicData uri="http://schemas.openxmlformats.org/drawingml/2006/table">
            <a:tbl>
              <a:tblPr firstRow="1" bandRow="1">
                <a:tableStyleId>{5C22544A-7EE6-4342-B048-85BDC9FD1C3A}</a:tableStyleId>
              </a:tblPr>
              <a:tblGrid>
                <a:gridCol w="2340864">
                  <a:extLst>
                    <a:ext uri="{9D8B030D-6E8A-4147-A177-3AD203B41FA5}">
                      <a16:colId xmlns:a16="http://schemas.microsoft.com/office/drawing/2014/main" val="1320727671"/>
                    </a:ext>
                  </a:extLst>
                </a:gridCol>
                <a:gridCol w="1399032">
                  <a:extLst>
                    <a:ext uri="{9D8B030D-6E8A-4147-A177-3AD203B41FA5}">
                      <a16:colId xmlns:a16="http://schemas.microsoft.com/office/drawing/2014/main" val="1706435905"/>
                    </a:ext>
                  </a:extLst>
                </a:gridCol>
                <a:gridCol w="1399032">
                  <a:extLst>
                    <a:ext uri="{9D8B030D-6E8A-4147-A177-3AD203B41FA5}">
                      <a16:colId xmlns:a16="http://schemas.microsoft.com/office/drawing/2014/main" val="2394500683"/>
                    </a:ext>
                  </a:extLst>
                </a:gridCol>
                <a:gridCol w="2340465">
                  <a:extLst>
                    <a:ext uri="{9D8B030D-6E8A-4147-A177-3AD203B41FA5}">
                      <a16:colId xmlns:a16="http://schemas.microsoft.com/office/drawing/2014/main" val="1569373963"/>
                    </a:ext>
                  </a:extLst>
                </a:gridCol>
                <a:gridCol w="1399032">
                  <a:extLst>
                    <a:ext uri="{9D8B030D-6E8A-4147-A177-3AD203B41FA5}">
                      <a16:colId xmlns:a16="http://schemas.microsoft.com/office/drawing/2014/main" val="1964990630"/>
                    </a:ext>
                  </a:extLst>
                </a:gridCol>
                <a:gridCol w="1399032">
                  <a:extLst>
                    <a:ext uri="{9D8B030D-6E8A-4147-A177-3AD203B41FA5}">
                      <a16:colId xmlns:a16="http://schemas.microsoft.com/office/drawing/2014/main" val="3463768572"/>
                    </a:ext>
                  </a:extLst>
                </a:gridCol>
              </a:tblGrid>
              <a:tr h="239957">
                <a:tc>
                  <a:txBody>
                    <a:bodyPr/>
                    <a:lstStyle/>
                    <a:p>
                      <a:pPr algn="ctr"/>
                      <a:r>
                        <a:rPr lang="en-US" sz="1100" dirty="0"/>
                        <a:t>Pathway (Pos)</a:t>
                      </a:r>
                    </a:p>
                  </a:txBody>
                  <a:tcPr anchor="ctr"/>
                </a:tc>
                <a:tc>
                  <a:txBody>
                    <a:bodyPr/>
                    <a:lstStyle/>
                    <a:p>
                      <a:pPr algn="ctr"/>
                      <a:r>
                        <a:rPr lang="en-US" sz="1100" dirty="0"/>
                        <a:t>Correlation DE</a:t>
                      </a:r>
                    </a:p>
                  </a:txBody>
                  <a:tcPr anchor="ctr"/>
                </a:tc>
                <a:tc>
                  <a:txBody>
                    <a:bodyPr/>
                    <a:lstStyle/>
                    <a:p>
                      <a:pPr algn="ctr"/>
                      <a:r>
                        <a:rPr lang="en-US" sz="1100" dirty="0"/>
                        <a:t>Correlation PR</a:t>
                      </a:r>
                    </a:p>
                  </a:txBody>
                  <a:tcPr anchor="ctr"/>
                </a:tc>
                <a:tc>
                  <a:txBody>
                    <a:bodyPr/>
                    <a:lstStyle/>
                    <a:p>
                      <a:pPr algn="ctr"/>
                      <a:r>
                        <a:rPr lang="en-US" sz="1100" dirty="0"/>
                        <a:t>Pathway (Neg)</a:t>
                      </a:r>
                    </a:p>
                  </a:txBody>
                  <a:tcPr anchor="ctr">
                    <a:solidFill>
                      <a:schemeClr val="accent3">
                        <a:lumMod val="75000"/>
                      </a:schemeClr>
                    </a:solidFill>
                  </a:tcPr>
                </a:tc>
                <a:tc>
                  <a:txBody>
                    <a:bodyPr/>
                    <a:lstStyle/>
                    <a:p>
                      <a:pPr algn="ctr"/>
                      <a:r>
                        <a:rPr lang="en-US" sz="1100" dirty="0"/>
                        <a:t>Correlation DE</a:t>
                      </a:r>
                    </a:p>
                  </a:txBody>
                  <a:tcPr anchor="ctr">
                    <a:solidFill>
                      <a:schemeClr val="accent3">
                        <a:lumMod val="75000"/>
                      </a:schemeClr>
                    </a:solidFill>
                  </a:tcPr>
                </a:tc>
                <a:tc>
                  <a:txBody>
                    <a:bodyPr/>
                    <a:lstStyle/>
                    <a:p>
                      <a:pPr algn="ctr"/>
                      <a:r>
                        <a:rPr lang="en-US" sz="1100" dirty="0"/>
                        <a:t>Correlation PR</a:t>
                      </a:r>
                    </a:p>
                  </a:txBody>
                  <a:tcPr anchor="ctr">
                    <a:solidFill>
                      <a:schemeClr val="accent3">
                        <a:lumMod val="75000"/>
                      </a:schemeClr>
                    </a:solidFill>
                  </a:tcPr>
                </a:tc>
                <a:extLst>
                  <a:ext uri="{0D108BD9-81ED-4DB2-BD59-A6C34878D82A}">
                    <a16:rowId xmlns:a16="http://schemas.microsoft.com/office/drawing/2014/main" val="2129381648"/>
                  </a:ext>
                </a:extLst>
              </a:tr>
              <a:tr h="239957">
                <a:tc>
                  <a:txBody>
                    <a:bodyPr/>
                    <a:lstStyle/>
                    <a:p>
                      <a:pPr algn="ctr"/>
                      <a:r>
                        <a:rPr lang="en-US" sz="1100" dirty="0" err="1"/>
                        <a:t>Myc</a:t>
                      </a:r>
                      <a:r>
                        <a:rPr lang="en-US" sz="1100" dirty="0"/>
                        <a:t> Targets V2</a:t>
                      </a:r>
                    </a:p>
                  </a:txBody>
                  <a:tcPr anchor="ctr"/>
                </a:tc>
                <a:tc>
                  <a:txBody>
                    <a:bodyPr/>
                    <a:lstStyle/>
                    <a:p>
                      <a:pPr algn="ctr"/>
                      <a:r>
                        <a:rPr lang="en-US" sz="1100" dirty="0"/>
                        <a:t>0.539</a:t>
                      </a:r>
                    </a:p>
                  </a:txBody>
                  <a:tcPr anchor="ctr"/>
                </a:tc>
                <a:tc>
                  <a:txBody>
                    <a:bodyPr/>
                    <a:lstStyle/>
                    <a:p>
                      <a:pPr algn="ctr"/>
                      <a:r>
                        <a:rPr lang="en-US" sz="1100" dirty="0"/>
                        <a:t>0.327</a:t>
                      </a:r>
                    </a:p>
                  </a:txBody>
                  <a:tcPr anchor="ctr"/>
                </a:tc>
                <a:tc>
                  <a:txBody>
                    <a:bodyPr/>
                    <a:lstStyle/>
                    <a:p>
                      <a:pPr algn="ctr"/>
                      <a:r>
                        <a:rPr lang="en-US" sz="1100" dirty="0" err="1"/>
                        <a:t>Interferon_Alpha_Response</a:t>
                      </a:r>
                      <a:endParaRPr lang="en-US" sz="1100" dirty="0"/>
                    </a:p>
                  </a:txBody>
                  <a:tcPr anchor="ctr">
                    <a:solidFill>
                      <a:srgbClr val="C8D5C5"/>
                    </a:solidFill>
                  </a:tcPr>
                </a:tc>
                <a:tc>
                  <a:txBody>
                    <a:bodyPr/>
                    <a:lstStyle/>
                    <a:p>
                      <a:pPr algn="ctr"/>
                      <a:r>
                        <a:rPr lang="en-US" sz="1100" dirty="0"/>
                        <a:t>-0.360</a:t>
                      </a:r>
                    </a:p>
                  </a:txBody>
                  <a:tcPr anchor="ctr">
                    <a:solidFill>
                      <a:srgbClr val="C8D5C5"/>
                    </a:solidFill>
                  </a:tcPr>
                </a:tc>
                <a:tc>
                  <a:txBody>
                    <a:bodyPr/>
                    <a:lstStyle/>
                    <a:p>
                      <a:pPr algn="ctr"/>
                      <a:r>
                        <a:rPr lang="en-US" sz="1100" dirty="0"/>
                        <a:t>-0.531</a:t>
                      </a:r>
                    </a:p>
                  </a:txBody>
                  <a:tcPr anchor="ctr">
                    <a:solidFill>
                      <a:srgbClr val="C8D5C5"/>
                    </a:solidFill>
                  </a:tcPr>
                </a:tc>
                <a:extLst>
                  <a:ext uri="{0D108BD9-81ED-4DB2-BD59-A6C34878D82A}">
                    <a16:rowId xmlns:a16="http://schemas.microsoft.com/office/drawing/2014/main" val="1560694335"/>
                  </a:ext>
                </a:extLst>
              </a:tr>
              <a:tr h="239957">
                <a:tc>
                  <a:txBody>
                    <a:bodyPr/>
                    <a:lstStyle/>
                    <a:p>
                      <a:pPr algn="ctr"/>
                      <a:r>
                        <a:rPr lang="en-US" sz="1100" dirty="0"/>
                        <a:t>DNA Repair</a:t>
                      </a:r>
                    </a:p>
                  </a:txBody>
                  <a:tcPr anchor="ctr"/>
                </a:tc>
                <a:tc>
                  <a:txBody>
                    <a:bodyPr/>
                    <a:lstStyle/>
                    <a:p>
                      <a:pPr algn="ctr"/>
                      <a:r>
                        <a:rPr lang="en-US" sz="1100" dirty="0"/>
                        <a:t>0.376</a:t>
                      </a:r>
                    </a:p>
                  </a:txBody>
                  <a:tcPr anchor="ctr"/>
                </a:tc>
                <a:tc>
                  <a:txBody>
                    <a:bodyPr/>
                    <a:lstStyle/>
                    <a:p>
                      <a:pPr algn="ctr"/>
                      <a:r>
                        <a:rPr lang="en-US" sz="1100" dirty="0"/>
                        <a:t>0.315</a:t>
                      </a:r>
                    </a:p>
                  </a:txBody>
                  <a:tcPr anchor="ctr"/>
                </a:tc>
                <a:tc>
                  <a:txBody>
                    <a:bodyPr/>
                    <a:lstStyle/>
                    <a:p>
                      <a:pPr algn="ctr"/>
                      <a:r>
                        <a:rPr lang="en-US" sz="1100" dirty="0"/>
                        <a:t>Apoptosis</a:t>
                      </a:r>
                    </a:p>
                  </a:txBody>
                  <a:tcPr anchor="ctr"/>
                </a:tc>
                <a:tc>
                  <a:txBody>
                    <a:bodyPr/>
                    <a:lstStyle/>
                    <a:p>
                      <a:pPr algn="ctr"/>
                      <a:r>
                        <a:rPr lang="en-US" sz="1100" dirty="0"/>
                        <a:t>-0.225</a:t>
                      </a:r>
                    </a:p>
                  </a:txBody>
                  <a:tcPr anchor="ctr"/>
                </a:tc>
                <a:tc>
                  <a:txBody>
                    <a:bodyPr/>
                    <a:lstStyle/>
                    <a:p>
                      <a:pPr algn="ctr"/>
                      <a:r>
                        <a:rPr lang="en-US" sz="1100" dirty="0"/>
                        <a:t>-0.511</a:t>
                      </a:r>
                    </a:p>
                  </a:txBody>
                  <a:tcPr anchor="ctr"/>
                </a:tc>
                <a:extLst>
                  <a:ext uri="{0D108BD9-81ED-4DB2-BD59-A6C34878D82A}">
                    <a16:rowId xmlns:a16="http://schemas.microsoft.com/office/drawing/2014/main" val="2888942639"/>
                  </a:ext>
                </a:extLst>
              </a:tr>
              <a:tr h="239957">
                <a:tc>
                  <a:txBody>
                    <a:bodyPr/>
                    <a:lstStyle/>
                    <a:p>
                      <a:pPr algn="ctr"/>
                      <a:r>
                        <a:rPr lang="en-US" sz="1100" dirty="0"/>
                        <a:t>E2F Targets</a:t>
                      </a:r>
                    </a:p>
                  </a:txBody>
                  <a:tcPr anchor="ctr"/>
                </a:tc>
                <a:tc>
                  <a:txBody>
                    <a:bodyPr/>
                    <a:lstStyle/>
                    <a:p>
                      <a:pPr algn="ctr"/>
                      <a:r>
                        <a:rPr lang="en-US" sz="1100" dirty="0"/>
                        <a:t>0.353</a:t>
                      </a:r>
                    </a:p>
                  </a:txBody>
                  <a:tcPr anchor="ctr"/>
                </a:tc>
                <a:tc>
                  <a:txBody>
                    <a:bodyPr/>
                    <a:lstStyle/>
                    <a:p>
                      <a:pPr algn="ctr"/>
                      <a:r>
                        <a:rPr lang="en-US" sz="1100" dirty="0"/>
                        <a:t>0.162</a:t>
                      </a:r>
                    </a:p>
                  </a:txBody>
                  <a:tcPr anchor="ctr"/>
                </a:tc>
                <a:tc>
                  <a:txBody>
                    <a:bodyPr/>
                    <a:lstStyle/>
                    <a:p>
                      <a:pPr algn="ctr"/>
                      <a:r>
                        <a:rPr lang="en-US" sz="1100" dirty="0"/>
                        <a:t>Inflammatory Response</a:t>
                      </a:r>
                    </a:p>
                  </a:txBody>
                  <a:tcPr anchor="ctr">
                    <a:solidFill>
                      <a:srgbClr val="C8D5C5"/>
                    </a:solidFill>
                  </a:tcPr>
                </a:tc>
                <a:tc>
                  <a:txBody>
                    <a:bodyPr/>
                    <a:lstStyle/>
                    <a:p>
                      <a:pPr algn="ctr"/>
                      <a:r>
                        <a:rPr lang="en-US" sz="1100" dirty="0"/>
                        <a:t>-0.273</a:t>
                      </a:r>
                    </a:p>
                  </a:txBody>
                  <a:tcPr anchor="ctr">
                    <a:solidFill>
                      <a:srgbClr val="C8D5C5"/>
                    </a:solidFill>
                  </a:tcPr>
                </a:tc>
                <a:tc>
                  <a:txBody>
                    <a:bodyPr/>
                    <a:lstStyle/>
                    <a:p>
                      <a:pPr algn="ctr"/>
                      <a:r>
                        <a:rPr lang="en-US" sz="1100" dirty="0"/>
                        <a:t>-0.479</a:t>
                      </a:r>
                    </a:p>
                  </a:txBody>
                  <a:tcPr anchor="ctr">
                    <a:solidFill>
                      <a:srgbClr val="C8D5C5"/>
                    </a:solidFill>
                  </a:tcPr>
                </a:tc>
                <a:extLst>
                  <a:ext uri="{0D108BD9-81ED-4DB2-BD59-A6C34878D82A}">
                    <a16:rowId xmlns:a16="http://schemas.microsoft.com/office/drawing/2014/main" val="890819305"/>
                  </a:ext>
                </a:extLst>
              </a:tr>
              <a:tr h="2399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err="1"/>
                        <a:t>Myc</a:t>
                      </a:r>
                      <a:r>
                        <a:rPr lang="en-US" sz="1100" dirty="0"/>
                        <a:t> Targets V1</a:t>
                      </a:r>
                    </a:p>
                  </a:txBody>
                  <a:tcPr anchor="ctr"/>
                </a:tc>
                <a:tc>
                  <a:txBody>
                    <a:bodyPr/>
                    <a:lstStyle/>
                    <a:p>
                      <a:pPr algn="ctr"/>
                      <a:r>
                        <a:rPr lang="en-US" sz="1100" dirty="0"/>
                        <a:t>0.333</a:t>
                      </a:r>
                    </a:p>
                  </a:txBody>
                  <a:tcPr anchor="ctr"/>
                </a:tc>
                <a:tc>
                  <a:txBody>
                    <a:bodyPr/>
                    <a:lstStyle/>
                    <a:p>
                      <a:pPr algn="ctr"/>
                      <a:r>
                        <a:rPr lang="en-US" sz="1100" dirty="0"/>
                        <a:t>0.167</a:t>
                      </a:r>
                    </a:p>
                  </a:txBody>
                  <a:tcPr anchor="ctr"/>
                </a:tc>
                <a:tc>
                  <a:txBody>
                    <a:bodyPr/>
                    <a:lstStyle/>
                    <a:p>
                      <a:pPr algn="ctr"/>
                      <a:r>
                        <a:rPr lang="en-US" sz="1100" dirty="0"/>
                        <a:t>TNFA Signaling via NFKB</a:t>
                      </a:r>
                    </a:p>
                  </a:txBody>
                  <a:tcPr anchor="ctr"/>
                </a:tc>
                <a:tc>
                  <a:txBody>
                    <a:bodyPr/>
                    <a:lstStyle/>
                    <a:p>
                      <a:pPr algn="ctr"/>
                      <a:r>
                        <a:rPr lang="en-US" sz="1100" dirty="0"/>
                        <a:t>-0.430</a:t>
                      </a:r>
                    </a:p>
                  </a:txBody>
                  <a:tcPr anchor="ctr"/>
                </a:tc>
                <a:tc>
                  <a:txBody>
                    <a:bodyPr/>
                    <a:lstStyle/>
                    <a:p>
                      <a:pPr algn="ctr"/>
                      <a:r>
                        <a:rPr lang="en-US" sz="1100" dirty="0"/>
                        <a:t>-0.441</a:t>
                      </a:r>
                    </a:p>
                  </a:txBody>
                  <a:tcPr anchor="ctr"/>
                </a:tc>
                <a:extLst>
                  <a:ext uri="{0D108BD9-81ED-4DB2-BD59-A6C34878D82A}">
                    <a16:rowId xmlns:a16="http://schemas.microsoft.com/office/drawing/2014/main" val="1428390422"/>
                  </a:ext>
                </a:extLst>
              </a:tr>
              <a:tr h="239957">
                <a:tc>
                  <a:txBody>
                    <a:bodyPr/>
                    <a:lstStyle/>
                    <a:p>
                      <a:pPr algn="ctr"/>
                      <a:r>
                        <a:rPr lang="en-US" sz="1100" dirty="0"/>
                        <a:t>G2M Checkpoint</a:t>
                      </a:r>
                    </a:p>
                  </a:txBody>
                  <a:tcPr anchor="ctr"/>
                </a:tc>
                <a:tc>
                  <a:txBody>
                    <a:bodyPr/>
                    <a:lstStyle/>
                    <a:p>
                      <a:pPr algn="ctr"/>
                      <a:r>
                        <a:rPr lang="en-US" sz="1100" dirty="0"/>
                        <a:t>0.327</a:t>
                      </a:r>
                    </a:p>
                  </a:txBody>
                  <a:tcPr anchor="ctr"/>
                </a:tc>
                <a:tc>
                  <a:txBody>
                    <a:bodyPr/>
                    <a:lstStyle/>
                    <a:p>
                      <a:pPr algn="ctr"/>
                      <a:r>
                        <a:rPr lang="en-US" sz="1100" dirty="0"/>
                        <a:t>0.148</a:t>
                      </a:r>
                    </a:p>
                  </a:txBody>
                  <a:tcPr anchor="ctr"/>
                </a:tc>
                <a:tc>
                  <a:txBody>
                    <a:bodyPr/>
                    <a:lstStyle/>
                    <a:p>
                      <a:pPr algn="ctr"/>
                      <a:r>
                        <a:rPr lang="en-US" sz="1100" dirty="0"/>
                        <a:t>P53 Pathway</a:t>
                      </a:r>
                    </a:p>
                  </a:txBody>
                  <a:tcPr anchor="ctr">
                    <a:solidFill>
                      <a:srgbClr val="C8D5C5"/>
                    </a:solidFill>
                  </a:tcPr>
                </a:tc>
                <a:tc>
                  <a:txBody>
                    <a:bodyPr/>
                    <a:lstStyle/>
                    <a:p>
                      <a:pPr algn="ctr"/>
                      <a:r>
                        <a:rPr lang="en-US" sz="1100" dirty="0"/>
                        <a:t>-0.430</a:t>
                      </a:r>
                    </a:p>
                  </a:txBody>
                  <a:tcPr anchor="ctr">
                    <a:solidFill>
                      <a:srgbClr val="C8D5C5"/>
                    </a:solidFill>
                  </a:tcPr>
                </a:tc>
                <a:tc>
                  <a:txBody>
                    <a:bodyPr/>
                    <a:lstStyle/>
                    <a:p>
                      <a:pPr algn="ctr"/>
                      <a:r>
                        <a:rPr lang="en-US" sz="1100" dirty="0"/>
                        <a:t>-0.431</a:t>
                      </a:r>
                    </a:p>
                  </a:txBody>
                  <a:tcPr anchor="ctr">
                    <a:solidFill>
                      <a:srgbClr val="C8D5C5"/>
                    </a:solidFill>
                  </a:tcPr>
                </a:tc>
                <a:extLst>
                  <a:ext uri="{0D108BD9-81ED-4DB2-BD59-A6C34878D82A}">
                    <a16:rowId xmlns:a16="http://schemas.microsoft.com/office/drawing/2014/main" val="2768268046"/>
                  </a:ext>
                </a:extLst>
              </a:tr>
            </a:tbl>
          </a:graphicData>
        </a:graphic>
      </p:graphicFrame>
      <p:grpSp>
        <p:nvGrpSpPr>
          <p:cNvPr id="11" name="Group 10">
            <a:extLst>
              <a:ext uri="{FF2B5EF4-FFF2-40B4-BE49-F238E27FC236}">
                <a16:creationId xmlns:a16="http://schemas.microsoft.com/office/drawing/2014/main" id="{BF28BDC4-FF5B-A4F3-5D33-B1AF3FEE199D}"/>
              </a:ext>
            </a:extLst>
          </p:cNvPr>
          <p:cNvGrpSpPr>
            <a:grpSpLocks noChangeAspect="1"/>
          </p:cNvGrpSpPr>
          <p:nvPr/>
        </p:nvGrpSpPr>
        <p:grpSpPr>
          <a:xfrm>
            <a:off x="1327481" y="3351120"/>
            <a:ext cx="6144149" cy="3366121"/>
            <a:chOff x="2003756" y="2590165"/>
            <a:chExt cx="7728311" cy="4234017"/>
          </a:xfrm>
        </p:grpSpPr>
        <p:pic>
          <p:nvPicPr>
            <p:cNvPr id="3080" name="Picture 8">
              <a:extLst>
                <a:ext uri="{FF2B5EF4-FFF2-40B4-BE49-F238E27FC236}">
                  <a16:creationId xmlns:a16="http://schemas.microsoft.com/office/drawing/2014/main" id="{6E24C5D5-A435-858E-5CBA-A190B3DA22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13" t="20208" r="27524" b="60278"/>
            <a:stretch>
              <a:fillRect/>
            </a:stretch>
          </p:blipFill>
          <p:spPr bwMode="auto">
            <a:xfrm>
              <a:off x="4574449" y="2593804"/>
              <a:ext cx="2524615" cy="204442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C6F000CD-299A-A948-7B60-C62897302A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7" r="76007" b="79931"/>
            <a:stretch>
              <a:fillRect/>
            </a:stretch>
          </p:blipFill>
          <p:spPr bwMode="auto">
            <a:xfrm>
              <a:off x="2003756" y="2593804"/>
              <a:ext cx="2570693" cy="20808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14C41A11-9EE9-5D0F-2489-940CE5FD15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0069" r="76007" b="60209"/>
            <a:stretch>
              <a:fillRect/>
            </a:stretch>
          </p:blipFill>
          <p:spPr bwMode="auto">
            <a:xfrm>
              <a:off x="2003756" y="4750652"/>
              <a:ext cx="2570693" cy="206625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6B15DA3B-9422-89FF-7ED7-765B886716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8913" t="40139" r="27524" b="40278"/>
            <a:stretch>
              <a:fillRect/>
            </a:stretch>
          </p:blipFill>
          <p:spPr bwMode="auto">
            <a:xfrm>
              <a:off x="7112870" y="2590165"/>
              <a:ext cx="2524615" cy="205170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EE0B160-3BFB-C95D-E1E8-F63AD2ED3B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3342" t="80186" r="2213" b="231"/>
            <a:stretch>
              <a:fillRect/>
            </a:stretch>
          </p:blipFill>
          <p:spPr bwMode="auto">
            <a:xfrm>
              <a:off x="7112870" y="4750652"/>
              <a:ext cx="2619197" cy="205170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A6A9C1A1-BCDB-1255-D166-19710FA4A72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208" r="76007" b="40070"/>
            <a:stretch>
              <a:fillRect/>
            </a:stretch>
          </p:blipFill>
          <p:spPr bwMode="auto">
            <a:xfrm>
              <a:off x="4534668" y="4757927"/>
              <a:ext cx="2570693" cy="2066255"/>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Box 22">
            <a:extLst>
              <a:ext uri="{FF2B5EF4-FFF2-40B4-BE49-F238E27FC236}">
                <a16:creationId xmlns:a16="http://schemas.microsoft.com/office/drawing/2014/main" id="{05D98A2B-9662-923C-9B5C-13EE648751DF}"/>
              </a:ext>
            </a:extLst>
          </p:cNvPr>
          <p:cNvSpPr txBox="1"/>
          <p:nvPr/>
        </p:nvSpPr>
        <p:spPr>
          <a:xfrm>
            <a:off x="7774172" y="3723602"/>
            <a:ext cx="3431098" cy="2462213"/>
          </a:xfrm>
          <a:prstGeom prst="rect">
            <a:avLst/>
          </a:prstGeom>
          <a:noFill/>
        </p:spPr>
        <p:txBody>
          <a:bodyPr wrap="square" rtlCol="0">
            <a:spAutoFit/>
          </a:bodyPr>
          <a:lstStyle/>
          <a:p>
            <a:pPr algn="ctr"/>
            <a:r>
              <a:rPr lang="en-US" sz="1400" dirty="0"/>
              <a:t>Despite not being the most useful data for model building, these results show us the type of donors that have high ranks.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E2F, </a:t>
            </a:r>
            <a:r>
              <a:rPr lang="en-US" sz="1400" dirty="0" err="1"/>
              <a:t>Myc</a:t>
            </a:r>
            <a:r>
              <a:rPr lang="en-US" sz="1400" dirty="0"/>
              <a:t> driven gene expression</a:t>
            </a:r>
          </a:p>
          <a:p>
            <a:pPr marL="285750" indent="-285750">
              <a:buFont typeface="Arial" panose="020B0604020202020204" pitchFamily="34" charset="0"/>
              <a:buChar char="•"/>
            </a:pPr>
            <a:r>
              <a:rPr lang="en-US" sz="1400" dirty="0"/>
              <a:t>Proliferation</a:t>
            </a:r>
          </a:p>
          <a:p>
            <a:pPr marL="285750" indent="-285750">
              <a:buFont typeface="Arial" panose="020B0604020202020204" pitchFamily="34" charset="0"/>
              <a:buChar char="•"/>
            </a:pPr>
            <a:r>
              <a:rPr lang="en-US" sz="1400" dirty="0"/>
              <a:t>Low Apoptosis</a:t>
            </a:r>
          </a:p>
          <a:p>
            <a:pPr marL="285750" indent="-285750">
              <a:buFont typeface="Arial" panose="020B0604020202020204" pitchFamily="34" charset="0"/>
              <a:buChar char="•"/>
            </a:pPr>
            <a:r>
              <a:rPr lang="en-US" sz="1400" dirty="0"/>
              <a:t>Low Inflammation</a:t>
            </a:r>
          </a:p>
          <a:p>
            <a:pPr marL="285750" indent="-285750">
              <a:buFont typeface="Arial" panose="020B0604020202020204" pitchFamily="34" charset="0"/>
              <a:buChar char="•"/>
            </a:pPr>
            <a:endParaRPr lang="en-US" sz="1400" dirty="0"/>
          </a:p>
          <a:p>
            <a:r>
              <a:rPr lang="en-US" sz="1400" dirty="0"/>
              <a:t>This makes biological sense and validates our approach to donor ranking.</a:t>
            </a:r>
          </a:p>
        </p:txBody>
      </p:sp>
    </p:spTree>
    <p:extLst>
      <p:ext uri="{BB962C8B-B14F-4D97-AF65-F5344CB8AC3E}">
        <p14:creationId xmlns:p14="http://schemas.microsoft.com/office/powerpoint/2010/main" val="244931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3805A2-7ADA-324B-D248-F793ED957A5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E4E593D-486D-C115-A7E5-D2A777EE2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AACBB357-7E95-2504-516E-21A37B1820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971334A7-329C-CAE6-DDFE-165450D6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8EE18F6F-161A-DF85-0144-8C022BC99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4F936AC-E3DB-A8F6-10D0-F97944CDC5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C2376E2-05CB-6AB5-6000-0D964E82656F}"/>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23" name="TextBox 22">
            <a:extLst>
              <a:ext uri="{FF2B5EF4-FFF2-40B4-BE49-F238E27FC236}">
                <a16:creationId xmlns:a16="http://schemas.microsoft.com/office/drawing/2014/main" id="{207E3865-0FE1-E885-EAA2-F7E47D4B33D8}"/>
              </a:ext>
            </a:extLst>
          </p:cNvPr>
          <p:cNvSpPr txBox="1"/>
          <p:nvPr/>
        </p:nvSpPr>
        <p:spPr>
          <a:xfrm>
            <a:off x="1808106" y="5832893"/>
            <a:ext cx="810980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prstClr val="black"/>
                </a:solidFill>
                <a:latin typeface="Aptos" panose="02110004020202020204"/>
              </a:rPr>
              <a:t>These plots suggest high variability in the error from different models.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Anything</a:t>
            </a:r>
            <a:r>
              <a:rPr kumimoji="0" lang="en-US" sz="1400" b="0" i="0" u="none" strike="noStrike" kern="1200" cap="none" spc="0" normalizeH="0" noProof="0" dirty="0">
                <a:ln>
                  <a:noFill/>
                </a:ln>
                <a:solidFill>
                  <a:prstClr val="black"/>
                </a:solidFill>
                <a:effectLst/>
                <a:uLnTx/>
                <a:uFillTx/>
                <a:latin typeface="Aptos" panose="02110004020202020204"/>
                <a:ea typeface="+mn-ea"/>
                <a:cs typeface="+mn-cs"/>
              </a:rPr>
              <a:t> less than 50 genes could work, but it’s hard to tell the optimal value.</a:t>
            </a:r>
          </a:p>
        </p:txBody>
      </p:sp>
      <p:grpSp>
        <p:nvGrpSpPr>
          <p:cNvPr id="3" name="Group 2">
            <a:extLst>
              <a:ext uri="{FF2B5EF4-FFF2-40B4-BE49-F238E27FC236}">
                <a16:creationId xmlns:a16="http://schemas.microsoft.com/office/drawing/2014/main" id="{113DA890-8C12-F444-89F7-54205B02ACE0}"/>
              </a:ext>
            </a:extLst>
          </p:cNvPr>
          <p:cNvGrpSpPr>
            <a:grpSpLocks noChangeAspect="1"/>
          </p:cNvGrpSpPr>
          <p:nvPr/>
        </p:nvGrpSpPr>
        <p:grpSpPr>
          <a:xfrm>
            <a:off x="1446620" y="2268057"/>
            <a:ext cx="8279541" cy="3265968"/>
            <a:chOff x="190500" y="1045020"/>
            <a:chExt cx="11718108" cy="4622354"/>
          </a:xfrm>
        </p:grpSpPr>
        <p:sp>
          <p:nvSpPr>
            <p:cNvPr id="7" name="TextBox 6">
              <a:extLst>
                <a:ext uri="{FF2B5EF4-FFF2-40B4-BE49-F238E27FC236}">
                  <a16:creationId xmlns:a16="http://schemas.microsoft.com/office/drawing/2014/main" id="{ADB85A06-E867-3240-7825-39223F119C12}"/>
                </a:ext>
              </a:extLst>
            </p:cNvPr>
            <p:cNvSpPr txBox="1"/>
            <p:nvPr/>
          </p:nvSpPr>
          <p:spPr>
            <a:xfrm>
              <a:off x="1523400" y="1045020"/>
              <a:ext cx="3991574" cy="429629"/>
            </a:xfrm>
            <a:prstGeom prst="rect">
              <a:avLst/>
            </a:prstGeom>
            <a:noFill/>
          </p:spPr>
          <p:txBody>
            <a:bodyPr wrap="square" rtlCol="0">
              <a:spAutoFit/>
            </a:bodyPr>
            <a:lstStyle/>
            <a:p>
              <a:pPr algn="ctr"/>
              <a:r>
                <a:rPr lang="en-US" sz="1100" dirty="0"/>
                <a:t>CatBoost MAE with 5 to 100 Features</a:t>
              </a:r>
            </a:p>
          </p:txBody>
        </p:sp>
        <p:sp>
          <p:nvSpPr>
            <p:cNvPr id="8" name="TextBox 7">
              <a:extLst>
                <a:ext uri="{FF2B5EF4-FFF2-40B4-BE49-F238E27FC236}">
                  <a16:creationId xmlns:a16="http://schemas.microsoft.com/office/drawing/2014/main" id="{ED366314-C642-279E-0C72-350D8EDEF625}"/>
                </a:ext>
              </a:extLst>
            </p:cNvPr>
            <p:cNvSpPr txBox="1"/>
            <p:nvPr/>
          </p:nvSpPr>
          <p:spPr>
            <a:xfrm>
              <a:off x="7524150" y="1051661"/>
              <a:ext cx="3991574" cy="429629"/>
            </a:xfrm>
            <a:prstGeom prst="rect">
              <a:avLst/>
            </a:prstGeom>
            <a:noFill/>
          </p:spPr>
          <p:txBody>
            <a:bodyPr wrap="square" rtlCol="0">
              <a:spAutoFit/>
            </a:bodyPr>
            <a:lstStyle/>
            <a:p>
              <a:pPr algn="ctr"/>
              <a:r>
                <a:rPr lang="en-US" sz="1100" dirty="0"/>
                <a:t>CatBoost MAE with 1 to 20 Features</a:t>
              </a:r>
            </a:p>
          </p:txBody>
        </p:sp>
        <p:pic>
          <p:nvPicPr>
            <p:cNvPr id="5124" name="Picture 4">
              <a:extLst>
                <a:ext uri="{FF2B5EF4-FFF2-40B4-BE49-F238E27FC236}">
                  <a16:creationId xmlns:a16="http://schemas.microsoft.com/office/drawing/2014/main" id="{52F2CA8D-B5F8-19FA-1756-4318D95776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44"/>
            <a:stretch>
              <a:fillRect/>
            </a:stretch>
          </p:blipFill>
          <p:spPr bwMode="auto">
            <a:xfrm>
              <a:off x="5907858" y="1474651"/>
              <a:ext cx="6000750" cy="4192723"/>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a:extLst>
                <a:ext uri="{FF2B5EF4-FFF2-40B4-BE49-F238E27FC236}">
                  <a16:creationId xmlns:a16="http://schemas.microsoft.com/office/drawing/2014/main" id="{ABE7A131-282E-C7A5-1125-AFC7525B8D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344"/>
            <a:stretch>
              <a:fillRect/>
            </a:stretch>
          </p:blipFill>
          <p:spPr bwMode="auto">
            <a:xfrm>
              <a:off x="190500" y="1474649"/>
              <a:ext cx="6000750" cy="4192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7223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B8FC6D-9F00-7A80-392A-485F9BDD8CA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0D33240-8946-82C7-BF4D-913627795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100E0209-6CF4-8D01-0DD3-40DD07951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3A34091C-C147-3324-6269-82092C4EF4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72535A6-CDD7-9E80-2D83-85210FEC9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D220C3B7-86DF-4241-1453-D69B35621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8E5D628D-767A-530A-8526-D86DAB2F811A}"/>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23" name="TextBox 22">
            <a:extLst>
              <a:ext uri="{FF2B5EF4-FFF2-40B4-BE49-F238E27FC236}">
                <a16:creationId xmlns:a16="http://schemas.microsoft.com/office/drawing/2014/main" id="{0B04B1D2-B8AC-FA72-045D-7809192506EE}"/>
              </a:ext>
            </a:extLst>
          </p:cNvPr>
          <p:cNvSpPr txBox="1"/>
          <p:nvPr/>
        </p:nvSpPr>
        <p:spPr>
          <a:xfrm>
            <a:off x="4172948" y="6490508"/>
            <a:ext cx="295037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Optimal Feature Number = 22</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4" name="TextBox 23">
            <a:extLst>
              <a:ext uri="{FF2B5EF4-FFF2-40B4-BE49-F238E27FC236}">
                <a16:creationId xmlns:a16="http://schemas.microsoft.com/office/drawing/2014/main" id="{BE2B4F5B-1C69-7450-D474-2FE2858B1ACF}"/>
              </a:ext>
            </a:extLst>
          </p:cNvPr>
          <p:cNvSpPr txBox="1"/>
          <p:nvPr/>
        </p:nvSpPr>
        <p:spPr>
          <a:xfrm>
            <a:off x="2418735" y="1602353"/>
            <a:ext cx="3371786"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CatBoost MAE with 1 to 30 Features, N = 20 Splits</a:t>
            </a:r>
          </a:p>
        </p:txBody>
      </p:sp>
      <p:sp>
        <p:nvSpPr>
          <p:cNvPr id="25" name="TextBox 24">
            <a:extLst>
              <a:ext uri="{FF2B5EF4-FFF2-40B4-BE49-F238E27FC236}">
                <a16:creationId xmlns:a16="http://schemas.microsoft.com/office/drawing/2014/main" id="{E82DDB06-B41E-30B5-53D0-1F9B5084C00D}"/>
              </a:ext>
            </a:extLst>
          </p:cNvPr>
          <p:cNvSpPr txBox="1"/>
          <p:nvPr/>
        </p:nvSpPr>
        <p:spPr>
          <a:xfrm>
            <a:off x="6244869" y="1602353"/>
            <a:ext cx="3632258" cy="261610"/>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CatBoost MAE with 1 to 30 Features, Mean of 20 Splits</a:t>
            </a:r>
          </a:p>
        </p:txBody>
      </p:sp>
      <p:sp>
        <p:nvSpPr>
          <p:cNvPr id="29" name="TextBox 28">
            <a:extLst>
              <a:ext uri="{FF2B5EF4-FFF2-40B4-BE49-F238E27FC236}">
                <a16:creationId xmlns:a16="http://schemas.microsoft.com/office/drawing/2014/main" id="{1DBCABF2-3276-ADD1-5BA1-1CFD32AE7C1D}"/>
              </a:ext>
            </a:extLst>
          </p:cNvPr>
          <p:cNvSpPr txBox="1"/>
          <p:nvPr/>
        </p:nvSpPr>
        <p:spPr>
          <a:xfrm rot="16200000">
            <a:off x="1728002" y="2711887"/>
            <a:ext cx="537537"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MAE</a:t>
            </a:r>
          </a:p>
        </p:txBody>
      </p:sp>
      <p:pic>
        <p:nvPicPr>
          <p:cNvPr id="6148" name="Picture 4">
            <a:extLst>
              <a:ext uri="{FF2B5EF4-FFF2-40B4-BE49-F238E27FC236}">
                <a16:creationId xmlns:a16="http://schemas.microsoft.com/office/drawing/2014/main" id="{09156853-4762-531E-8E91-A73265BAC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92" t="4951"/>
          <a:stretch>
            <a:fillRect/>
          </a:stretch>
        </p:blipFill>
        <p:spPr bwMode="auto">
          <a:xfrm>
            <a:off x="2060002" y="1829342"/>
            <a:ext cx="3787469" cy="252921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F0709AA7-174E-A5D6-5C62-73361AFEA5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54" t="4885" b="-115"/>
          <a:stretch>
            <a:fillRect/>
          </a:stretch>
        </p:blipFill>
        <p:spPr bwMode="auto">
          <a:xfrm>
            <a:off x="5941970" y="1840691"/>
            <a:ext cx="3779130" cy="252489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646AD91F-1DFB-74B8-A745-D8219F4E7433}"/>
              </a:ext>
            </a:extLst>
          </p:cNvPr>
          <p:cNvGrpSpPr>
            <a:grpSpLocks noChangeAspect="1"/>
          </p:cNvGrpSpPr>
          <p:nvPr/>
        </p:nvGrpSpPr>
        <p:grpSpPr>
          <a:xfrm>
            <a:off x="1004222" y="4430957"/>
            <a:ext cx="3115327" cy="1924460"/>
            <a:chOff x="4995274" y="912249"/>
            <a:chExt cx="3115327" cy="1924460"/>
          </a:xfrm>
        </p:grpSpPr>
        <p:sp>
          <p:nvSpPr>
            <p:cNvPr id="26" name="TextBox 25">
              <a:extLst>
                <a:ext uri="{FF2B5EF4-FFF2-40B4-BE49-F238E27FC236}">
                  <a16:creationId xmlns:a16="http://schemas.microsoft.com/office/drawing/2014/main" id="{3801FC18-61AE-6576-7C27-B580141A90D7}"/>
                </a:ext>
              </a:extLst>
            </p:cNvPr>
            <p:cNvSpPr txBox="1"/>
            <p:nvPr/>
          </p:nvSpPr>
          <p:spPr>
            <a:xfrm>
              <a:off x="5427006" y="912249"/>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6 Genes, Summed over 20 Splits</a:t>
              </a:r>
            </a:p>
          </p:txBody>
        </p:sp>
        <p:pic>
          <p:nvPicPr>
            <p:cNvPr id="6152" name="Picture 8">
              <a:extLst>
                <a:ext uri="{FF2B5EF4-FFF2-40B4-BE49-F238E27FC236}">
                  <a16:creationId xmlns:a16="http://schemas.microsoft.com/office/drawing/2014/main" id="{4010D478-E995-D82A-B0D7-13B957DCFE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399" t="3796" b="33149"/>
            <a:stretch>
              <a:fillRect/>
            </a:stretch>
          </p:blipFill>
          <p:spPr bwMode="auto">
            <a:xfrm>
              <a:off x="5183376" y="1165117"/>
              <a:ext cx="2927225" cy="1671592"/>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C2E600ED-7A92-5BBE-1A18-9025D0BA79F7}"/>
                </a:ext>
              </a:extLst>
            </p:cNvPr>
            <p:cNvSpPr txBox="1"/>
            <p:nvPr/>
          </p:nvSpPr>
          <p:spPr>
            <a:xfrm rot="16200000">
              <a:off x="4823069" y="1809431"/>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grpSp>
        <p:nvGrpSpPr>
          <p:cNvPr id="2" name="Group 1">
            <a:extLst>
              <a:ext uri="{FF2B5EF4-FFF2-40B4-BE49-F238E27FC236}">
                <a16:creationId xmlns:a16="http://schemas.microsoft.com/office/drawing/2014/main" id="{EB07B8AF-81A7-52C7-8DFF-BC3503FBCA96}"/>
              </a:ext>
            </a:extLst>
          </p:cNvPr>
          <p:cNvGrpSpPr>
            <a:grpSpLocks noChangeAspect="1"/>
          </p:cNvGrpSpPr>
          <p:nvPr/>
        </p:nvGrpSpPr>
        <p:grpSpPr>
          <a:xfrm>
            <a:off x="7404443" y="4422215"/>
            <a:ext cx="3131819" cy="1933202"/>
            <a:chOff x="4997036" y="4501660"/>
            <a:chExt cx="3131819" cy="1933202"/>
          </a:xfrm>
        </p:grpSpPr>
        <p:sp>
          <p:nvSpPr>
            <p:cNvPr id="28" name="TextBox 27">
              <a:extLst>
                <a:ext uri="{FF2B5EF4-FFF2-40B4-BE49-F238E27FC236}">
                  <a16:creationId xmlns:a16="http://schemas.microsoft.com/office/drawing/2014/main" id="{FE7AF579-B28A-C8EB-23AC-421701C4E5A7}"/>
                </a:ext>
              </a:extLst>
            </p:cNvPr>
            <p:cNvSpPr txBox="1"/>
            <p:nvPr/>
          </p:nvSpPr>
          <p:spPr>
            <a:xfrm>
              <a:off x="5415431" y="4501660"/>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24 Genes, Summed over 20 Splits</a:t>
              </a:r>
            </a:p>
          </p:txBody>
        </p:sp>
        <p:pic>
          <p:nvPicPr>
            <p:cNvPr id="6156" name="Picture 12">
              <a:extLst>
                <a:ext uri="{FF2B5EF4-FFF2-40B4-BE49-F238E27FC236}">
                  <a16:creationId xmlns:a16="http://schemas.microsoft.com/office/drawing/2014/main" id="{4A4833AD-7A4E-6D06-057D-AAF0726A697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753" t="3795" b="33150"/>
            <a:stretch>
              <a:fillRect/>
            </a:stretch>
          </p:blipFill>
          <p:spPr bwMode="auto">
            <a:xfrm>
              <a:off x="5178479" y="4763270"/>
              <a:ext cx="2950376" cy="167159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6375132B-6628-FC82-919D-E25E01022493}"/>
                </a:ext>
              </a:extLst>
            </p:cNvPr>
            <p:cNvSpPr txBox="1"/>
            <p:nvPr/>
          </p:nvSpPr>
          <p:spPr>
            <a:xfrm rot="16200000">
              <a:off x="4824831" y="5418620"/>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grpSp>
        <p:nvGrpSpPr>
          <p:cNvPr id="4" name="Group 3">
            <a:extLst>
              <a:ext uri="{FF2B5EF4-FFF2-40B4-BE49-F238E27FC236}">
                <a16:creationId xmlns:a16="http://schemas.microsoft.com/office/drawing/2014/main" id="{5F875DFD-4AA0-D7C7-8F93-ABAD78471AE9}"/>
              </a:ext>
            </a:extLst>
          </p:cNvPr>
          <p:cNvGrpSpPr>
            <a:grpSpLocks noChangeAspect="1"/>
          </p:cNvGrpSpPr>
          <p:nvPr/>
        </p:nvGrpSpPr>
        <p:grpSpPr>
          <a:xfrm>
            <a:off x="4077118" y="4422215"/>
            <a:ext cx="3113564" cy="1933202"/>
            <a:chOff x="4997037" y="2709339"/>
            <a:chExt cx="3113564" cy="1933202"/>
          </a:xfrm>
        </p:grpSpPr>
        <p:sp>
          <p:nvSpPr>
            <p:cNvPr id="27" name="TextBox 26">
              <a:extLst>
                <a:ext uri="{FF2B5EF4-FFF2-40B4-BE49-F238E27FC236}">
                  <a16:creationId xmlns:a16="http://schemas.microsoft.com/office/drawing/2014/main" id="{CE249190-5959-F2E2-D53D-FCCAAD84EEAA}"/>
                </a:ext>
              </a:extLst>
            </p:cNvPr>
            <p:cNvSpPr txBox="1"/>
            <p:nvPr/>
          </p:nvSpPr>
          <p:spPr>
            <a:xfrm>
              <a:off x="5401739" y="2709339"/>
              <a:ext cx="2494535"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Top 10 Genes, Summed over 20 Splits</a:t>
              </a:r>
            </a:p>
          </p:txBody>
        </p:sp>
        <p:pic>
          <p:nvPicPr>
            <p:cNvPr id="6154" name="Picture 10">
              <a:extLst>
                <a:ext uri="{FF2B5EF4-FFF2-40B4-BE49-F238E27FC236}">
                  <a16:creationId xmlns:a16="http://schemas.microsoft.com/office/drawing/2014/main" id="{6C73B9A3-0814-28DF-F8C4-B546D534F95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635" t="3795" b="33150"/>
            <a:stretch>
              <a:fillRect/>
            </a:stretch>
          </p:blipFill>
          <p:spPr bwMode="auto">
            <a:xfrm>
              <a:off x="5160225" y="2970949"/>
              <a:ext cx="2950376" cy="167159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7EF69527-3F24-E9CF-E931-1A38D491A6F1}"/>
                </a:ext>
              </a:extLst>
            </p:cNvPr>
            <p:cNvSpPr txBox="1"/>
            <p:nvPr/>
          </p:nvSpPr>
          <p:spPr>
            <a:xfrm rot="16200000">
              <a:off x="4824832" y="3587479"/>
              <a:ext cx="590631"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Aptos" panose="02110004020202020204"/>
                  <a:ea typeface="+mn-ea"/>
                  <a:cs typeface="+mn-cs"/>
                </a:rPr>
                <a:t>Count</a:t>
              </a:r>
            </a:p>
          </p:txBody>
        </p:sp>
      </p:grpSp>
      <p:cxnSp>
        <p:nvCxnSpPr>
          <p:cNvPr id="11" name="Straight Arrow Connector 10">
            <a:extLst>
              <a:ext uri="{FF2B5EF4-FFF2-40B4-BE49-F238E27FC236}">
                <a16:creationId xmlns:a16="http://schemas.microsoft.com/office/drawing/2014/main" id="{292046C3-55D9-67FF-FE3D-DE70161CC858}"/>
              </a:ext>
            </a:extLst>
          </p:cNvPr>
          <p:cNvCxnSpPr/>
          <p:nvPr/>
        </p:nvCxnSpPr>
        <p:spPr>
          <a:xfrm>
            <a:off x="8287125" y="3172649"/>
            <a:ext cx="0" cy="6286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3" name="Straight Arrow Connector 12">
            <a:extLst>
              <a:ext uri="{FF2B5EF4-FFF2-40B4-BE49-F238E27FC236}">
                <a16:creationId xmlns:a16="http://schemas.microsoft.com/office/drawing/2014/main" id="{B1E17272-2F89-2E56-2BC9-20A82A79AF61}"/>
              </a:ext>
            </a:extLst>
          </p:cNvPr>
          <p:cNvCxnSpPr/>
          <p:nvPr/>
        </p:nvCxnSpPr>
        <p:spPr>
          <a:xfrm>
            <a:off x="9315825" y="3172649"/>
            <a:ext cx="0" cy="62865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78A7161F-2966-D5E7-8C43-1FA54D2C3773}"/>
              </a:ext>
            </a:extLst>
          </p:cNvPr>
          <p:cNvSpPr txBox="1"/>
          <p:nvPr/>
        </p:nvSpPr>
        <p:spPr>
          <a:xfrm>
            <a:off x="8287123" y="2914981"/>
            <a:ext cx="1028701" cy="276999"/>
          </a:xfrm>
          <a:prstGeom prst="rect">
            <a:avLst/>
          </a:prstGeom>
          <a:noFill/>
        </p:spPr>
        <p:txBody>
          <a:bodyPr wrap="square" rtlCol="0">
            <a:spAutoFit/>
          </a:bodyPr>
          <a:lstStyle/>
          <a:p>
            <a:r>
              <a:rPr lang="en-US" sz="1200" dirty="0"/>
              <a:t>17-26 genes</a:t>
            </a:r>
          </a:p>
        </p:txBody>
      </p:sp>
      <p:sp>
        <p:nvSpPr>
          <p:cNvPr id="17" name="TextBox 16">
            <a:extLst>
              <a:ext uri="{FF2B5EF4-FFF2-40B4-BE49-F238E27FC236}">
                <a16:creationId xmlns:a16="http://schemas.microsoft.com/office/drawing/2014/main" id="{BC43A9BC-F085-D8FC-EBA2-DC576B7DC4D3}"/>
              </a:ext>
            </a:extLst>
          </p:cNvPr>
          <p:cNvSpPr txBox="1"/>
          <p:nvPr/>
        </p:nvSpPr>
        <p:spPr>
          <a:xfrm>
            <a:off x="3301066" y="4800276"/>
            <a:ext cx="571764" cy="276999"/>
          </a:xfrm>
          <a:prstGeom prst="rect">
            <a:avLst/>
          </a:prstGeom>
          <a:noFill/>
        </p:spPr>
        <p:txBody>
          <a:bodyPr wrap="square" rtlCol="0">
            <a:spAutoFit/>
          </a:bodyPr>
          <a:lstStyle/>
          <a:p>
            <a:r>
              <a:rPr lang="en-US" sz="1200" dirty="0"/>
              <a:t>N=25</a:t>
            </a:r>
          </a:p>
        </p:txBody>
      </p:sp>
      <p:sp>
        <p:nvSpPr>
          <p:cNvPr id="19" name="TextBox 18">
            <a:extLst>
              <a:ext uri="{FF2B5EF4-FFF2-40B4-BE49-F238E27FC236}">
                <a16:creationId xmlns:a16="http://schemas.microsoft.com/office/drawing/2014/main" id="{23FEEB96-7450-99BB-A783-74DB1727B27B}"/>
              </a:ext>
            </a:extLst>
          </p:cNvPr>
          <p:cNvSpPr txBox="1"/>
          <p:nvPr/>
        </p:nvSpPr>
        <p:spPr>
          <a:xfrm>
            <a:off x="6530638" y="4785107"/>
            <a:ext cx="571764" cy="276999"/>
          </a:xfrm>
          <a:prstGeom prst="rect">
            <a:avLst/>
          </a:prstGeom>
          <a:noFill/>
        </p:spPr>
        <p:txBody>
          <a:bodyPr wrap="square" rtlCol="0">
            <a:spAutoFit/>
          </a:bodyPr>
          <a:lstStyle/>
          <a:p>
            <a:r>
              <a:rPr lang="en-US" sz="1200" dirty="0"/>
              <a:t>N=35</a:t>
            </a:r>
          </a:p>
        </p:txBody>
      </p:sp>
      <p:sp>
        <p:nvSpPr>
          <p:cNvPr id="21" name="TextBox 20">
            <a:extLst>
              <a:ext uri="{FF2B5EF4-FFF2-40B4-BE49-F238E27FC236}">
                <a16:creationId xmlns:a16="http://schemas.microsoft.com/office/drawing/2014/main" id="{B21CAE3F-4998-02EF-F723-2F4AAD911810}"/>
              </a:ext>
            </a:extLst>
          </p:cNvPr>
          <p:cNvSpPr txBox="1"/>
          <p:nvPr/>
        </p:nvSpPr>
        <p:spPr>
          <a:xfrm>
            <a:off x="9884446" y="4788070"/>
            <a:ext cx="571764" cy="276999"/>
          </a:xfrm>
          <a:prstGeom prst="rect">
            <a:avLst/>
          </a:prstGeom>
          <a:noFill/>
        </p:spPr>
        <p:txBody>
          <a:bodyPr wrap="square" rtlCol="0">
            <a:spAutoFit/>
          </a:bodyPr>
          <a:lstStyle/>
          <a:p>
            <a:r>
              <a:rPr lang="en-US" sz="1200" dirty="0"/>
              <a:t>N=66</a:t>
            </a:r>
          </a:p>
        </p:txBody>
      </p:sp>
    </p:spTree>
    <p:extLst>
      <p:ext uri="{BB962C8B-B14F-4D97-AF65-F5344CB8AC3E}">
        <p14:creationId xmlns:p14="http://schemas.microsoft.com/office/powerpoint/2010/main" val="142248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15" grpId="0"/>
      <p:bldP spid="17" grpId="0"/>
      <p:bldP spid="19" grpId="0"/>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C3378-69A7-F7B8-2588-08D72F8403A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CF25561-2219-32D4-ABC2-0501CC3AC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E5893DB-A04E-0D36-3A50-C16036230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0A1BDB7A-2B51-4D69-8057-FD4B68BE6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595CEC98-F5F9-435D-AC98-1D3C52EF4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7A4E4796-3D12-391E-6F9F-48CCA3C7A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5282B5A0-C67E-D947-36FA-16CCDDD87767}"/>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Manual vs Automatic</a:t>
            </a:r>
          </a:p>
        </p:txBody>
      </p:sp>
      <p:sp>
        <p:nvSpPr>
          <p:cNvPr id="10" name="TextBox 9">
            <a:extLst>
              <a:ext uri="{FF2B5EF4-FFF2-40B4-BE49-F238E27FC236}">
                <a16:creationId xmlns:a16="http://schemas.microsoft.com/office/drawing/2014/main" id="{56F144C1-278A-46FE-918E-394F9E1D2D88}"/>
              </a:ext>
            </a:extLst>
          </p:cNvPr>
          <p:cNvSpPr txBox="1"/>
          <p:nvPr/>
        </p:nvSpPr>
        <p:spPr>
          <a:xfrm>
            <a:off x="6464899" y="2372380"/>
            <a:ext cx="3317232" cy="523220"/>
          </a:xfrm>
          <a:prstGeom prst="rect">
            <a:avLst/>
          </a:prstGeom>
          <a:noFill/>
        </p:spPr>
        <p:txBody>
          <a:bodyPr wrap="square" rtlCol="0">
            <a:spAutoFit/>
          </a:bodyPr>
          <a:lstStyle/>
          <a:p>
            <a:pPr algn="ctr"/>
            <a:r>
              <a:rPr lang="en-US" sz="1400" dirty="0"/>
              <a:t>Manual vs Automatic Feature Selection, Mean over 20 splits</a:t>
            </a:r>
          </a:p>
        </p:txBody>
      </p:sp>
      <p:sp>
        <p:nvSpPr>
          <p:cNvPr id="8" name="TextBox 7">
            <a:extLst>
              <a:ext uri="{FF2B5EF4-FFF2-40B4-BE49-F238E27FC236}">
                <a16:creationId xmlns:a16="http://schemas.microsoft.com/office/drawing/2014/main" id="{92CE2EC9-B089-0A33-8BAB-4E19EBE03A59}"/>
              </a:ext>
            </a:extLst>
          </p:cNvPr>
          <p:cNvSpPr txBox="1"/>
          <p:nvPr/>
        </p:nvSpPr>
        <p:spPr>
          <a:xfrm>
            <a:off x="2384879" y="1633597"/>
            <a:ext cx="2438751" cy="276999"/>
          </a:xfrm>
          <a:prstGeom prst="rect">
            <a:avLst/>
          </a:prstGeom>
          <a:noFill/>
        </p:spPr>
        <p:txBody>
          <a:bodyPr wrap="square" rtlCol="0">
            <a:spAutoFit/>
          </a:bodyPr>
          <a:lstStyle/>
          <a:p>
            <a:pPr algn="ctr"/>
            <a:r>
              <a:rPr lang="en-US" sz="1200" dirty="0"/>
              <a:t>Manual Feature Selection</a:t>
            </a:r>
          </a:p>
        </p:txBody>
      </p:sp>
      <p:sp>
        <p:nvSpPr>
          <p:cNvPr id="9" name="TextBox 8">
            <a:extLst>
              <a:ext uri="{FF2B5EF4-FFF2-40B4-BE49-F238E27FC236}">
                <a16:creationId xmlns:a16="http://schemas.microsoft.com/office/drawing/2014/main" id="{859BDDFD-3EBB-D11B-FB26-EFDDC155C4FD}"/>
              </a:ext>
            </a:extLst>
          </p:cNvPr>
          <p:cNvSpPr txBox="1"/>
          <p:nvPr/>
        </p:nvSpPr>
        <p:spPr>
          <a:xfrm>
            <a:off x="2409687" y="4232540"/>
            <a:ext cx="2389263" cy="276999"/>
          </a:xfrm>
          <a:prstGeom prst="rect">
            <a:avLst/>
          </a:prstGeom>
          <a:noFill/>
        </p:spPr>
        <p:txBody>
          <a:bodyPr wrap="square" rtlCol="0">
            <a:spAutoFit/>
          </a:bodyPr>
          <a:lstStyle/>
          <a:p>
            <a:pPr algn="ctr"/>
            <a:r>
              <a:rPr lang="en-US" sz="1200" dirty="0"/>
              <a:t>Automatic Feature Selection</a:t>
            </a:r>
          </a:p>
        </p:txBody>
      </p:sp>
      <p:sp>
        <p:nvSpPr>
          <p:cNvPr id="48" name="TextBox 47">
            <a:extLst>
              <a:ext uri="{FF2B5EF4-FFF2-40B4-BE49-F238E27FC236}">
                <a16:creationId xmlns:a16="http://schemas.microsoft.com/office/drawing/2014/main" id="{0E50DEE8-61B4-A5C2-DB6E-216658BD7E78}"/>
              </a:ext>
            </a:extLst>
          </p:cNvPr>
          <p:cNvSpPr txBox="1"/>
          <p:nvPr/>
        </p:nvSpPr>
        <p:spPr>
          <a:xfrm>
            <a:off x="6096000" y="5961379"/>
            <a:ext cx="3781549"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Automatic Features Selection offers robust method of handing variability between splits.</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1026" name="Picture 2">
            <a:extLst>
              <a:ext uri="{FF2B5EF4-FFF2-40B4-BE49-F238E27FC236}">
                <a16:creationId xmlns:a16="http://schemas.microsoft.com/office/drawing/2014/main" id="{9C499C8C-A6BC-9A1D-8720-4F8BDAE068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723"/>
          <a:stretch>
            <a:fillRect/>
          </a:stretch>
        </p:blipFill>
        <p:spPr bwMode="auto">
          <a:xfrm>
            <a:off x="1621081" y="1841888"/>
            <a:ext cx="3690867" cy="24041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0CCE103-6CAA-A392-DA06-CCFD3375AE9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966"/>
          <a:stretch>
            <a:fillRect/>
          </a:stretch>
        </p:blipFill>
        <p:spPr bwMode="auto">
          <a:xfrm>
            <a:off x="1621081" y="4433494"/>
            <a:ext cx="3690867" cy="23979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522B70B-5ED0-121B-CB08-AC5A2A934B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4719" y="2895600"/>
            <a:ext cx="4303422" cy="2942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4197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B37AF5-A611-6B3F-C937-E57C988DF15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127C812-5266-B183-1A5F-2EB8562DA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531561F9-5BD0-5245-2BE2-9089F5FEA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CBADAD3A-F1D8-DA63-6581-B4CDDD9AE6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9E2CCB20-6B80-2F2C-B94A-E2C9EF23F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A12B1848-BEF7-03E7-F809-9E3C4C343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63A7EB96-2C27-8817-ADED-2570AFD2C75D}"/>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Feature Selection: Optimal Gene Number</a:t>
            </a:r>
          </a:p>
        </p:txBody>
      </p:sp>
      <p:sp>
        <p:nvSpPr>
          <p:cNvPr id="10" name="TextBox 9">
            <a:extLst>
              <a:ext uri="{FF2B5EF4-FFF2-40B4-BE49-F238E27FC236}">
                <a16:creationId xmlns:a16="http://schemas.microsoft.com/office/drawing/2014/main" id="{0F3A0D66-0586-71B6-8FD3-D9E40585EE16}"/>
              </a:ext>
            </a:extLst>
          </p:cNvPr>
          <p:cNvSpPr txBox="1"/>
          <p:nvPr/>
        </p:nvSpPr>
        <p:spPr>
          <a:xfrm>
            <a:off x="1015005" y="2210455"/>
            <a:ext cx="3317232"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rPr>
              <a:t>Manual vs Automatic Feature Selection, Mean over 20 splits</a:t>
            </a:r>
          </a:p>
        </p:txBody>
      </p:sp>
      <p:grpSp>
        <p:nvGrpSpPr>
          <p:cNvPr id="2" name="Group 1">
            <a:extLst>
              <a:ext uri="{FF2B5EF4-FFF2-40B4-BE49-F238E27FC236}">
                <a16:creationId xmlns:a16="http://schemas.microsoft.com/office/drawing/2014/main" id="{B63D2398-BAF4-C74D-C0B8-8B6F0B5E9453}"/>
              </a:ext>
            </a:extLst>
          </p:cNvPr>
          <p:cNvGrpSpPr>
            <a:grpSpLocks noChangeAspect="1"/>
          </p:cNvGrpSpPr>
          <p:nvPr/>
        </p:nvGrpSpPr>
        <p:grpSpPr>
          <a:xfrm>
            <a:off x="4981536" y="2578135"/>
            <a:ext cx="6614396" cy="3060665"/>
            <a:chOff x="4981536" y="2578135"/>
            <a:chExt cx="6086755" cy="2816511"/>
          </a:xfrm>
        </p:grpSpPr>
        <p:pic>
          <p:nvPicPr>
            <p:cNvPr id="41" name="Picture 12">
              <a:extLst>
                <a:ext uri="{FF2B5EF4-FFF2-40B4-BE49-F238E27FC236}">
                  <a16:creationId xmlns:a16="http://schemas.microsoft.com/office/drawing/2014/main" id="{BFC13CD5-2FBD-D31E-BE96-22987BCA6B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0" b="6136"/>
            <a:stretch>
              <a:fillRect/>
            </a:stretch>
          </p:blipFill>
          <p:spPr bwMode="auto">
            <a:xfrm>
              <a:off x="4981536" y="3039800"/>
              <a:ext cx="2951450" cy="235484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4">
              <a:extLst>
                <a:ext uri="{FF2B5EF4-FFF2-40B4-BE49-F238E27FC236}">
                  <a16:creationId xmlns:a16="http://schemas.microsoft.com/office/drawing/2014/main" id="{08B3BF36-48E7-E15A-1F41-BBF92DA981E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452"/>
            <a:stretch>
              <a:fillRect/>
            </a:stretch>
          </p:blipFill>
          <p:spPr bwMode="auto">
            <a:xfrm>
              <a:off x="8115047" y="3045077"/>
              <a:ext cx="2953244" cy="2226465"/>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43337BDE-DF04-BD2D-9A22-8ED2A23CCE30}"/>
                </a:ext>
              </a:extLst>
            </p:cNvPr>
            <p:cNvSpPr txBox="1"/>
            <p:nvPr/>
          </p:nvSpPr>
          <p:spPr>
            <a:xfrm>
              <a:off x="5332654" y="2762801"/>
              <a:ext cx="260033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MAE By Feature Selection Method</a:t>
              </a:r>
            </a:p>
          </p:txBody>
        </p:sp>
        <p:sp>
          <p:nvSpPr>
            <p:cNvPr id="46" name="TextBox 45">
              <a:extLst>
                <a:ext uri="{FF2B5EF4-FFF2-40B4-BE49-F238E27FC236}">
                  <a16:creationId xmlns:a16="http://schemas.microsoft.com/office/drawing/2014/main" id="{4E1265E8-5E89-53B9-B074-796A3A20EBAC}"/>
                </a:ext>
              </a:extLst>
            </p:cNvPr>
            <p:cNvSpPr txBox="1"/>
            <p:nvPr/>
          </p:nvSpPr>
          <p:spPr>
            <a:xfrm>
              <a:off x="8555818" y="2578135"/>
              <a:ext cx="242412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Number of Genes Selected by </a:t>
              </a:r>
              <a:r>
                <a:rPr kumimoji="0" lang="en-US" sz="1200" b="0" i="0" u="none" strike="noStrike" kern="1200" cap="none" spc="0" normalizeH="0" baseline="0" noProof="0" dirty="0" err="1">
                  <a:ln>
                    <a:noFill/>
                  </a:ln>
                  <a:solidFill>
                    <a:prstClr val="black"/>
                  </a:solidFill>
                  <a:effectLst/>
                  <a:uLnTx/>
                  <a:uFillTx/>
                  <a:latin typeface="Aptos" panose="02110004020202020204"/>
                  <a:ea typeface="+mn-ea"/>
                  <a:cs typeface="+mn-cs"/>
                </a:rPr>
                <a:t>Shap</a:t>
              </a: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 Threshold</a:t>
              </a:r>
            </a:p>
          </p:txBody>
        </p:sp>
      </p:grpSp>
      <p:pic>
        <p:nvPicPr>
          <p:cNvPr id="40" name="Picture 6">
            <a:extLst>
              <a:ext uri="{FF2B5EF4-FFF2-40B4-BE49-F238E27FC236}">
                <a16:creationId xmlns:a16="http://schemas.microsoft.com/office/drawing/2014/main" id="{1ED8A786-FF15-83C0-8506-F89899B39B9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951"/>
          <a:stretch>
            <a:fillRect/>
          </a:stretch>
        </p:blipFill>
        <p:spPr bwMode="auto">
          <a:xfrm>
            <a:off x="302901" y="2733675"/>
            <a:ext cx="4315344" cy="28041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4371B5F-975F-3D78-1D7D-D8D7A20458EC}"/>
              </a:ext>
            </a:extLst>
          </p:cNvPr>
          <p:cNvSpPr txBox="1"/>
          <p:nvPr/>
        </p:nvSpPr>
        <p:spPr>
          <a:xfrm>
            <a:off x="2460573" y="5936312"/>
            <a:ext cx="67384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dirty="0">
                <a:solidFill>
                  <a:prstClr val="black"/>
                </a:solidFill>
                <a:latin typeface="Aptos" panose="02110004020202020204"/>
              </a:rPr>
              <a:t>Automatic Features Selection through selecting up to 22 genes with SHAP values above 0.005 is the most robust method.</a:t>
            </a:r>
            <a:endParaRPr kumimoji="0" lang="en-US" sz="14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261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7324-A07F-46A2-3251-D52AB3D50E66}"/>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241EF95-FE82-6D65-8299-881FEF282E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81355CD7-92E4-3873-B9A6-57CC954ED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2ED5EA1D-FD52-7617-B26F-54DD40C46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94AA8C75-7E50-E333-A123-CB2FA77FEE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2542E3F2-9E30-7548-A14F-79664F72F6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17DC93F5-9909-8D41-EFD1-A0EFC9D27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F2B4891-9ADB-D814-41AD-0E98E2D7172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Final Model</a:t>
            </a:r>
          </a:p>
        </p:txBody>
      </p:sp>
      <p:graphicFrame>
        <p:nvGraphicFramePr>
          <p:cNvPr id="15" name="Content Placeholder 2">
            <a:extLst>
              <a:ext uri="{FF2B5EF4-FFF2-40B4-BE49-F238E27FC236}">
                <a16:creationId xmlns:a16="http://schemas.microsoft.com/office/drawing/2014/main" id="{63BA8FC7-3260-9159-512B-B7AE7E5C5581}"/>
              </a:ext>
            </a:extLst>
          </p:cNvPr>
          <p:cNvGraphicFramePr>
            <a:graphicFrameLocks noGrp="1"/>
          </p:cNvGraphicFramePr>
          <p:nvPr>
            <p:ph idx="1"/>
            <p:extLst>
              <p:ext uri="{D42A27DB-BD31-4B8C-83A1-F6EECF244321}">
                <p14:modId xmlns:p14="http://schemas.microsoft.com/office/powerpoint/2010/main" val="1713560610"/>
              </p:ext>
            </p:extLst>
          </p:nvPr>
        </p:nvGraphicFramePr>
        <p:xfrm>
          <a:off x="4624302" y="1576614"/>
          <a:ext cx="7329573" cy="39478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103806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3FCD60-70EE-F815-520A-B240698C7323}"/>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6DE2CAD8-3D9B-CB72-398C-71A86326B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329A1266-7D15-2E67-5AC4-335686AB9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4DB3B67E-808A-4B03-B8C1-C6FAEF001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A98304CA-E91C-FFA6-7F1C-EF483291A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3B8960E6-1DBD-1F80-EEB7-4A6DF2F2D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40948FEE-39E8-4B71-2BB1-4FF6678A5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82476772-7DF1-F495-B1A4-795B9EE67F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79A1EFCF-F4DA-2890-3602-64EE31289783}"/>
              </a:ext>
            </a:extLst>
          </p:cNvPr>
          <p:cNvSpPr>
            <a:spLocks noGrp="1"/>
          </p:cNvSpPr>
          <p:nvPr>
            <p:ph type="title"/>
          </p:nvPr>
        </p:nvSpPr>
        <p:spPr>
          <a:xfrm>
            <a:off x="3673150" y="2531845"/>
            <a:ext cx="7618964"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Future Work</a:t>
            </a:r>
          </a:p>
        </p:txBody>
      </p:sp>
    </p:spTree>
    <p:extLst>
      <p:ext uri="{BB962C8B-B14F-4D97-AF65-F5344CB8AC3E}">
        <p14:creationId xmlns:p14="http://schemas.microsoft.com/office/powerpoint/2010/main" val="1465895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2D18FB-2D0C-639A-FDDA-067E03B1C81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E5B33FE-CEAE-44FC-873E-650EAAE5C2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BA4D5C11-AC83-7183-9E09-5DFC705ACA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4269A0D4-4051-E4C5-BFDB-5D63C0CC7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EEB89816-00F1-3A53-55E4-AE3E6EB3E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22F91625-D8EC-5E24-CB41-6B34DA6A9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2D9D7C9C-251A-EC6E-C783-E8BC33399B0B}"/>
              </a:ext>
            </a:extLst>
          </p:cNvPr>
          <p:cNvSpPr txBox="1">
            <a:spLocks/>
          </p:cNvSpPr>
          <p:nvPr/>
        </p:nvSpPr>
        <p:spPr>
          <a:xfrm>
            <a:off x="302901" y="321828"/>
            <a:ext cx="7825954" cy="898581"/>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rPr>
              <a:t>Future Work: Pseudorank vs DE Score</a:t>
            </a:r>
          </a:p>
        </p:txBody>
      </p:sp>
      <p:pic>
        <p:nvPicPr>
          <p:cNvPr id="1028" name="Picture 4">
            <a:extLst>
              <a:ext uri="{FF2B5EF4-FFF2-40B4-BE49-F238E27FC236}">
                <a16:creationId xmlns:a16="http://schemas.microsoft.com/office/drawing/2014/main" id="{41F65B11-F851-6DF1-803C-BDD982FD6D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8760" y="1743906"/>
            <a:ext cx="3675624" cy="494663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E05FD8B-69CF-F006-DF1F-450B2E50B5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82750" y="1667087"/>
            <a:ext cx="3201819" cy="2572544"/>
          </a:xfrm>
          <a:prstGeom prst="rect">
            <a:avLst/>
          </a:prstGeom>
          <a:noFill/>
          <a:ln>
            <a:noFill/>
          </a:ln>
        </p:spPr>
      </p:pic>
      <p:pic>
        <p:nvPicPr>
          <p:cNvPr id="7" name="Picture 4">
            <a:extLst>
              <a:ext uri="{FF2B5EF4-FFF2-40B4-BE49-F238E27FC236}">
                <a16:creationId xmlns:a16="http://schemas.microsoft.com/office/drawing/2014/main" id="{461FD1D3-A014-09CD-6912-9C17E280E1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458" y="1774918"/>
            <a:ext cx="3318552" cy="244230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D217435F-CF2E-6311-2E52-D8D96871BC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459" y="4248236"/>
            <a:ext cx="3318551" cy="24423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EAF8DA7-E719-BDC3-E2E4-265E49B6F3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82750" y="4239631"/>
            <a:ext cx="3201819" cy="2578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9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4E595-A1B2-90EB-894D-30EF33E115B4}"/>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43D979D6-1295-0ACA-4152-19C7F41F2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DAD74221-2FAD-6861-3304-41B391AF3D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1DA26E6D-385F-B534-C6AF-1E2DA200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55DC0167-3443-1DDB-4255-7D778C9FD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91AFA78-651A-8D99-EBB5-B1BEEFBF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8D2F65F7-2D0E-79F7-B81D-4AA7C5135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ECA7657-CAE1-2406-4FF1-69AA65AD5540}"/>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Future Work</a:t>
            </a:r>
          </a:p>
        </p:txBody>
      </p:sp>
      <p:graphicFrame>
        <p:nvGraphicFramePr>
          <p:cNvPr id="5" name="Content Placeholder 2">
            <a:extLst>
              <a:ext uri="{FF2B5EF4-FFF2-40B4-BE49-F238E27FC236}">
                <a16:creationId xmlns:a16="http://schemas.microsoft.com/office/drawing/2014/main" id="{1AE0B006-D779-2AD5-D16C-519BBF2C95E3}"/>
              </a:ext>
            </a:extLst>
          </p:cNvPr>
          <p:cNvGraphicFramePr>
            <a:graphicFrameLocks noGrp="1"/>
          </p:cNvGraphicFramePr>
          <p:nvPr>
            <p:ph idx="1"/>
            <p:extLst>
              <p:ext uri="{D42A27DB-BD31-4B8C-83A1-F6EECF244321}">
                <p14:modId xmlns:p14="http://schemas.microsoft.com/office/powerpoint/2010/main" val="393175166"/>
              </p:ext>
            </p:extLst>
          </p:nvPr>
        </p:nvGraphicFramePr>
        <p:xfrm>
          <a:off x="4487451" y="381001"/>
          <a:ext cx="7352123" cy="62388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4874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D4C889-1D1C-14FB-D8EC-EAB8E86863C8}"/>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5BFECC5-417B-85BE-400E-43B2BACE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2" name="Rectangle 31">
            <a:extLst>
              <a:ext uri="{FF2B5EF4-FFF2-40B4-BE49-F238E27FC236}">
                <a16:creationId xmlns:a16="http://schemas.microsoft.com/office/drawing/2014/main" id="{99E813D7-6622-397C-62FB-A5E7177D13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3" name="Rectangle 32">
            <a:extLst>
              <a:ext uri="{FF2B5EF4-FFF2-40B4-BE49-F238E27FC236}">
                <a16:creationId xmlns:a16="http://schemas.microsoft.com/office/drawing/2014/main" id="{5267150A-EB09-A602-967A-BE0B85142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4" name="Rectangle 33">
            <a:extLst>
              <a:ext uri="{FF2B5EF4-FFF2-40B4-BE49-F238E27FC236}">
                <a16:creationId xmlns:a16="http://schemas.microsoft.com/office/drawing/2014/main" id="{A1C22D1A-CB7D-1E02-E1E2-8DA14FEFB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Oval 34">
            <a:extLst>
              <a:ext uri="{FF2B5EF4-FFF2-40B4-BE49-F238E27FC236}">
                <a16:creationId xmlns:a16="http://schemas.microsoft.com/office/drawing/2014/main" id="{DEEB9EFC-B29A-2C34-06E1-35A0DAFBC2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6" name="Rectangle 35">
            <a:extLst>
              <a:ext uri="{FF2B5EF4-FFF2-40B4-BE49-F238E27FC236}">
                <a16:creationId xmlns:a16="http://schemas.microsoft.com/office/drawing/2014/main" id="{BF801AF9-2B7B-989E-01C3-DF3F29B5A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Rectangle 36">
            <a:extLst>
              <a:ext uri="{FF2B5EF4-FFF2-40B4-BE49-F238E27FC236}">
                <a16:creationId xmlns:a16="http://schemas.microsoft.com/office/drawing/2014/main" id="{BC69479E-BA1D-B6D5-574E-200E329CE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C96D9A5C-45D1-F81A-AAD8-E5D62AB34857}"/>
              </a:ext>
            </a:extLst>
          </p:cNvPr>
          <p:cNvSpPr>
            <a:spLocks noGrp="1"/>
          </p:cNvSpPr>
          <p:nvPr>
            <p:ph type="title"/>
          </p:nvPr>
        </p:nvSpPr>
        <p:spPr>
          <a:xfrm>
            <a:off x="3673150" y="2531845"/>
            <a:ext cx="7618964" cy="2732297"/>
          </a:xfrm>
        </p:spPr>
        <p:txBody>
          <a:bodyPr vert="horz" lIns="91440" tIns="45720" rIns="91440" bIns="45720" rtlCol="0" anchor="t">
            <a:normAutofit/>
          </a:bodyPr>
          <a:lstStyle/>
          <a:p>
            <a:r>
              <a:rPr lang="en-US" sz="6600" kern="1200" dirty="0">
                <a:solidFill>
                  <a:srgbClr val="FFFFFF"/>
                </a:solidFill>
                <a:latin typeface="+mj-lt"/>
                <a:ea typeface="+mj-ea"/>
                <a:cs typeface="+mj-cs"/>
              </a:rPr>
              <a:t>Extra Slides</a:t>
            </a:r>
          </a:p>
        </p:txBody>
      </p:sp>
    </p:spTree>
    <p:extLst>
      <p:ext uri="{BB962C8B-B14F-4D97-AF65-F5344CB8AC3E}">
        <p14:creationId xmlns:p14="http://schemas.microsoft.com/office/powerpoint/2010/main" val="35114489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0BB36B-D637-7F9F-D836-D594806ABBB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6F975FD-E24F-A24F-A044-E70E1F99E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7B19C78-6456-252B-5476-1B45775FD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Rectangle 15">
            <a:extLst>
              <a:ext uri="{FF2B5EF4-FFF2-40B4-BE49-F238E27FC236}">
                <a16:creationId xmlns:a16="http://schemas.microsoft.com/office/drawing/2014/main" id="{EE95FF9D-63E3-409E-DC07-4EAF58885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21FFBB5E-A244-54F2-FB1F-D62E677BA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0" name="Rectangle 19">
            <a:extLst>
              <a:ext uri="{FF2B5EF4-FFF2-40B4-BE49-F238E27FC236}">
                <a16:creationId xmlns:a16="http://schemas.microsoft.com/office/drawing/2014/main" id="{43AC0A1F-9FD8-14BE-3CF9-D079C4767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itle 1">
            <a:extLst>
              <a:ext uri="{FF2B5EF4-FFF2-40B4-BE49-F238E27FC236}">
                <a16:creationId xmlns:a16="http://schemas.microsoft.com/office/drawing/2014/main" id="{5F518523-2374-DF97-B418-AC0EC9657C6E}"/>
              </a:ext>
            </a:extLst>
          </p:cNvPr>
          <p:cNvSpPr txBox="1">
            <a:spLocks/>
          </p:cNvSpPr>
          <p:nvPr/>
        </p:nvSpPr>
        <p:spPr>
          <a:xfrm>
            <a:off x="302901" y="321828"/>
            <a:ext cx="7825954" cy="898581"/>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sz="4000" dirty="0">
                <a:solidFill>
                  <a:prstClr val="white"/>
                </a:solidFill>
                <a:latin typeface="Aptos Display" panose="02110004020202020204"/>
              </a:rPr>
              <a:t>Variable Gene Expression Between Donors</a:t>
            </a:r>
            <a:endParaRPr kumimoji="0" lang="en-US" sz="4000" b="0" i="0" u="none" strike="noStrike" kern="1200" cap="none" spc="0" normalizeH="0" baseline="0" noProof="0" dirty="0">
              <a:ln>
                <a:noFill/>
              </a:ln>
              <a:solidFill>
                <a:prstClr val="white"/>
              </a:solidFill>
              <a:effectLst/>
              <a:uLnTx/>
              <a:uFillTx/>
              <a:latin typeface="Aptos Display" panose="02110004020202020204"/>
              <a:ea typeface="+mj-ea"/>
              <a:cs typeface="+mj-cs"/>
            </a:endParaRPr>
          </a:p>
        </p:txBody>
      </p:sp>
      <p:grpSp>
        <p:nvGrpSpPr>
          <p:cNvPr id="4" name="Group 3">
            <a:extLst>
              <a:ext uri="{FF2B5EF4-FFF2-40B4-BE49-F238E27FC236}">
                <a16:creationId xmlns:a16="http://schemas.microsoft.com/office/drawing/2014/main" id="{D69DA0C2-EC33-82C7-D4ED-48AFF597C681}"/>
              </a:ext>
            </a:extLst>
          </p:cNvPr>
          <p:cNvGrpSpPr/>
          <p:nvPr/>
        </p:nvGrpSpPr>
        <p:grpSpPr>
          <a:xfrm>
            <a:off x="302901" y="1847834"/>
            <a:ext cx="11315700" cy="3953042"/>
            <a:chOff x="0" y="786309"/>
            <a:chExt cx="12192000" cy="4633567"/>
          </a:xfrm>
        </p:grpSpPr>
        <p:pic>
          <p:nvPicPr>
            <p:cNvPr id="5122" name="Picture 2">
              <a:extLst>
                <a:ext uri="{FF2B5EF4-FFF2-40B4-BE49-F238E27FC236}">
                  <a16:creationId xmlns:a16="http://schemas.microsoft.com/office/drawing/2014/main" id="{307D3471-1EEF-4E07-093F-8A0F3F79C57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38" b="49977"/>
            <a:stretch>
              <a:fillRect/>
            </a:stretch>
          </p:blipFill>
          <p:spPr bwMode="auto">
            <a:xfrm>
              <a:off x="0" y="1590492"/>
              <a:ext cx="12192000" cy="16296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ACFFAC22-B1FD-0543-C7D4-F6720996AF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4306"/>
            <a:stretch>
              <a:fillRect/>
            </a:stretch>
          </p:blipFill>
          <p:spPr bwMode="auto">
            <a:xfrm>
              <a:off x="0" y="3768159"/>
              <a:ext cx="12192000" cy="165171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127E7CE-990A-3653-0CB3-CF59F4341C95}"/>
                </a:ext>
              </a:extLst>
            </p:cNvPr>
            <p:cNvSpPr txBox="1"/>
            <p:nvPr/>
          </p:nvSpPr>
          <p:spPr>
            <a:xfrm>
              <a:off x="4916129" y="1313493"/>
              <a:ext cx="2359742" cy="276999"/>
            </a:xfrm>
            <a:prstGeom prst="rect">
              <a:avLst/>
            </a:prstGeom>
            <a:noFill/>
          </p:spPr>
          <p:txBody>
            <a:bodyPr wrap="square" rtlCol="0">
              <a:spAutoFit/>
            </a:bodyPr>
            <a:lstStyle/>
            <a:p>
              <a:pPr algn="ctr"/>
              <a:r>
                <a:rPr lang="en-US" sz="1200" dirty="0"/>
                <a:t>Day 0</a:t>
              </a:r>
            </a:p>
          </p:txBody>
        </p:sp>
        <p:sp>
          <p:nvSpPr>
            <p:cNvPr id="7" name="TextBox 6">
              <a:extLst>
                <a:ext uri="{FF2B5EF4-FFF2-40B4-BE49-F238E27FC236}">
                  <a16:creationId xmlns:a16="http://schemas.microsoft.com/office/drawing/2014/main" id="{26C41792-9301-F1CC-579F-1B2B9799582B}"/>
                </a:ext>
              </a:extLst>
            </p:cNvPr>
            <p:cNvSpPr txBox="1"/>
            <p:nvPr/>
          </p:nvSpPr>
          <p:spPr>
            <a:xfrm>
              <a:off x="4916129" y="3537616"/>
              <a:ext cx="2359742" cy="276999"/>
            </a:xfrm>
            <a:prstGeom prst="rect">
              <a:avLst/>
            </a:prstGeom>
            <a:noFill/>
          </p:spPr>
          <p:txBody>
            <a:bodyPr wrap="square" rtlCol="0">
              <a:spAutoFit/>
            </a:bodyPr>
            <a:lstStyle/>
            <a:p>
              <a:pPr algn="ctr"/>
              <a:r>
                <a:rPr lang="en-US" sz="1200" dirty="0"/>
                <a:t>Day 3</a:t>
              </a:r>
            </a:p>
          </p:txBody>
        </p:sp>
        <p:sp>
          <p:nvSpPr>
            <p:cNvPr id="8" name="TextBox 7">
              <a:extLst>
                <a:ext uri="{FF2B5EF4-FFF2-40B4-BE49-F238E27FC236}">
                  <a16:creationId xmlns:a16="http://schemas.microsoft.com/office/drawing/2014/main" id="{E494CACA-A8D1-A000-CE0A-0BBC66821709}"/>
                </a:ext>
              </a:extLst>
            </p:cNvPr>
            <p:cNvSpPr txBox="1"/>
            <p:nvPr/>
          </p:nvSpPr>
          <p:spPr>
            <a:xfrm>
              <a:off x="3795321" y="786309"/>
              <a:ext cx="4636684" cy="396837"/>
            </a:xfrm>
            <a:prstGeom prst="rect">
              <a:avLst/>
            </a:prstGeom>
            <a:noFill/>
          </p:spPr>
          <p:txBody>
            <a:bodyPr wrap="square" rtlCol="0">
              <a:spAutoFit/>
            </a:bodyPr>
            <a:lstStyle/>
            <a:p>
              <a:pPr algn="ctr"/>
              <a:r>
                <a:rPr lang="en-US" sz="1600" u="sng" dirty="0"/>
                <a:t>Differential Gene Expression Between Donors</a:t>
              </a:r>
            </a:p>
          </p:txBody>
        </p:sp>
      </p:grpSp>
    </p:spTree>
    <p:extLst>
      <p:ext uri="{BB962C8B-B14F-4D97-AF65-F5344CB8AC3E}">
        <p14:creationId xmlns:p14="http://schemas.microsoft.com/office/powerpoint/2010/main" val="155887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6858</TotalTime>
  <Words>2648</Words>
  <Application>Microsoft Office PowerPoint</Application>
  <PresentationFormat>Widescreen</PresentationFormat>
  <Paragraphs>326</Paragraphs>
  <Slides>30</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iPSC Donor Selection  by Modelling Differentiation Efficiency</vt:lpstr>
      <vt:lpstr>PowerPoint Presentation</vt:lpstr>
      <vt:lpstr>PowerPoint Presentation</vt:lpstr>
      <vt:lpstr>PowerPoint Presentation</vt:lpstr>
      <vt:lpstr>PowerPoint Presentation</vt:lpstr>
      <vt:lpstr>Project Pipeline</vt:lpstr>
      <vt:lpstr>Data Wrangling: Data Cleaning</vt:lpstr>
      <vt:lpstr>Exploratory Data Analysis</vt:lpstr>
      <vt:lpstr>PowerPoint Presentation</vt:lpstr>
      <vt:lpstr>PowerPoint Presentation</vt:lpstr>
      <vt:lpstr>PowerPoint Presentation</vt:lpstr>
      <vt:lpstr>Target Design   aka   Donor Ranking</vt:lpstr>
      <vt:lpstr>PowerPoint Presentation</vt:lpstr>
      <vt:lpstr>PowerPoint Presentation</vt:lpstr>
      <vt:lpstr>Data Preprocessing</vt:lpstr>
      <vt:lpstr>Model Building</vt:lpstr>
      <vt:lpstr>Dimension Reduction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Model</vt:lpstr>
      <vt:lpstr>Future Work</vt:lpstr>
      <vt:lpstr>PowerPoint Presentation</vt:lpstr>
      <vt:lpstr>Future Work</vt:lpstr>
      <vt:lpstr>Extra Slides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Devon Svoboda</dc:creator>
  <cp:lastModifiedBy>Devon Svoboda</cp:lastModifiedBy>
  <cp:revision>2</cp:revision>
  <dcterms:created xsi:type="dcterms:W3CDTF">2026-03-18T23:36:49Z</dcterms:created>
  <dcterms:modified xsi:type="dcterms:W3CDTF">2026-04-06T21:20:34Z</dcterms:modified>
</cp:coreProperties>
</file>